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Normal model (trained on clean data)</c:v>
                </c:pt>
              </c:strCache>
            </c:strRef>
          </c:tx>
          <c:spPr>
            <a:solidFill>
              <a:srgbClr val="D9692A"/>
            </a:solidFill>
            <a:effectLst/>
          </c:spPr>
          <c:invertIfNegative val="0"/>
          <c:dLbls>
            <c:numFmt formatCode="0.0&quot;%&quot;" sourceLinked="0"/>
            <c:txPr>
              <a:bodyPr/>
              <a:lstStyle/>
              <a:p>
                <a:pPr>
                  <a:defRPr b="0" i="0" strike="noStrike" sz="122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Clean network</c:v>
                  </c:pt>
                  <c:pt idx="1">
                    <c:v>Moderate noise</c:v>
                  </c:pt>
                  <c:pt idx="2">
                    <c:v>Heavy noise</c:v>
                  </c:pt>
                </c:lvl>
              </c:multiLvlStrCache>
            </c:multiLvlStrRef>
          </c:cat>
          <c:val>
            <c:numRef>
              <c:f>Sheet1!$B$2:$B$4</c:f>
              <c:numCache>
                <c:formatCode>General</c:formatCode>
                <c:ptCount val="3"/>
                <c:pt idx="0">
                  <c:v>98.7</c:v>
                </c:pt>
                <c:pt idx="1">
                  <c:v>77.1</c:v>
                </c:pt>
                <c:pt idx="2">
                  <c:v>64.9</c:v>
                </c:pt>
              </c:numCache>
            </c:numRef>
          </c:val>
        </c:ser>
        <c:ser>
          <c:idx val="1"/>
          <c:order val="1"/>
          <c:tx>
            <c:strRef>
              <c:f>Sheet1!$C$1</c:f>
              <c:strCache>
                <c:ptCount val="1"/>
                <c:pt idx="0">
                  <c:v>SecurIQ model (noise-aware)</c:v>
                </c:pt>
              </c:strCache>
            </c:strRef>
          </c:tx>
          <c:spPr>
            <a:solidFill>
              <a:srgbClr val="1565C0"/>
            </a:solidFill>
            <a:effectLst/>
          </c:spPr>
          <c:invertIfNegative val="0"/>
          <c:dLbls>
            <c:numFmt formatCode="0.0&quot;%&quot;" sourceLinked="0"/>
            <c:txPr>
              <a:bodyPr/>
              <a:lstStyle/>
              <a:p>
                <a:pPr>
                  <a:defRPr b="0" i="0" strike="noStrike" sz="122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Clean network</c:v>
                  </c:pt>
                  <c:pt idx="1">
                    <c:v>Moderate noise</c:v>
                  </c:pt>
                  <c:pt idx="2">
                    <c:v>Heavy noise</c:v>
                  </c:pt>
                </c:lvl>
              </c:multiLvlStrCache>
            </c:multiLvlStrRef>
          </c:cat>
          <c:val>
            <c:numRef>
              <c:f>Sheet1!$C$2:$C$4</c:f>
              <c:numCache>
                <c:formatCode>General</c:formatCode>
                <c:ptCount val="3"/>
                <c:pt idx="0">
                  <c:v>97.5</c:v>
                </c:pt>
                <c:pt idx="1">
                  <c:v>95.7</c:v>
                </c:pt>
                <c:pt idx="2">
                  <c:v>90.1</c:v>
                </c:pt>
              </c:numCache>
            </c:numRef>
          </c:val>
        </c:ser>
        <c:dLbls>
          <c:numFmt formatCode="0.0&quot;%&quot;" sourceLinked="0"/>
          <c:txPr>
            <a:bodyPr/>
            <a:lstStyle/>
            <a:p>
              <a:pPr>
                <a:defRPr b="0" i="0" strike="noStrike" sz="1220" u="none">
                  <a:solidFill>
                    <a:srgbClr val="333333"/>
                  </a:solidFill>
                  <a:latin typeface="Calibri"/>
                </a:defRPr>
              </a:pPr>
            </a:p>
          </c:txPr>
          <c:showLegendKey val="0"/>
          <c:showVal val="1"/>
          <c:showCatName val="0"/>
          <c:showSerName val="0"/>
          <c:showPercent val="0"/>
          <c:showBubbleSize val="0"/>
          <c:showLeaderLines val="0"/>
        </c:dLbls>
        <c:gapWidth val="70"/>
        <c:overlap val="-8"/>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5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80" b="0" i="0" u="none" strike="noStrike">
                <a:solidFill>
                  <a:srgbClr val="6B7280"/>
                </a:solidFill>
                <a:latin typeface="Arial"/>
              </a:defRPr>
            </a:pPr>
            <a:endParaRPr lang="en-US"/>
          </a:p>
        </c:txPr>
        <c:crossAx val="2094734554"/>
        <c:crosses val="autoZero"/>
        <c:crossBetween val="between"/>
        <c:majorUnit val="25"/>
      </c:valAx>
      <c:spPr>
        <a:noFill/>
        <a:ln>
          <a:noFill/>
        </a:ln>
        <a:effectLst/>
      </c:spPr>
    </c:plotArea>
    <c:legend>
      <c:legendPos val="t"/>
      <c:overlay val="0"/>
      <c:txPr>
        <a:bodyPr/>
        <a:lstStyle/>
        <a:p>
          <a:pPr>
            <a:defRPr sz="1220">
              <a:solidFill>
                <a:srgbClr val="3333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Cache me if u can. Our problem statement is SIH26160 from NTRO: an AI-powered IPsec VPN protocol analyzer and security assessment framework. Our idea is called SecurIQ.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SecurIQ looks at captured VPN traffic and tells how the VPN is set up and how safe it is, without needing the keys. IKE is plain text, so we read it directly. ESP is encrypted, so we use packet sizes and timings, and an ML model finds the traffic type inside. Wireshark can read IKE but needs the SA keys to open ESP, ike-scan has to send packets to the gateway, and nDPI only labels the flow as IPsec.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1 is our full architecture: users work in the React dashboard, the FastAPI backend takes uploads or live mirrored packets, the analysis engine builds evidence, the ML classifier returns the traffic type, and the security engine scores it and makes reports. Diagram 2 shows how IKE (plain text) and ESP (encrypted) are handled separately and merged into one evidence profile. On the right are the reasons behind our main design choices and the tools we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already have a working prototype: these four screenshots are from our own dashboard running on a weak IKEv1/3DES test capture. It scored 39.5/100 with every finding explained, and a 37,988-packet capture is analysed in about half a second. The main risks are on the bottom left, with our fix for each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users are NTRO analysts, CERT-In and SOC teams and network admins. The biggest benefits: we catch weak crypto and identity leaks early, we save hours of manual Wireshark work, and it is an offline Indian tool. It also fits SDG 9, SDG 16, Atmanirbhar Bharat and Digital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our own test lab, found and fixed 11 protocol mistakes in our first version, and stress-tested the model. On noisy traffic a normal model drops to 64.9%, ours stays at 90.1%. Our main references are the IPsec RFCs, NIST SP 800-77 and three ML papers, and we compared against Wireshark, ike-scan and nDPI.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slideLayout" Target="../slideLayouts/slideLayout1.xml"/><Relationship Id="rId2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2.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slideLayout" Target="../slideLayouts/slideLayout1.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hyperlink" Target="https://www.rfc-editor.org/rfc/rfc7296" TargetMode="External"/><Relationship Id="rId6" Type="http://schemas.openxmlformats.org/officeDocument/2006/relationships/hyperlink" Target="https://www.rfc-editor.org/rfc/rfc4303" TargetMode="External"/><Relationship Id="rId7" Type="http://schemas.openxmlformats.org/officeDocument/2006/relationships/hyperlink" Target="https://www.rfc-editor.org/rfc/rfc9395" TargetMode="External"/><Relationship Id="rId8" Type="http://schemas.openxmlformats.org/officeDocument/2006/relationships/hyperlink" Target="https://csrc.nist.gov/pubs/sp/800/77/r1/final" TargetMode="External"/><Relationship Id="rId9" Type="http://schemas.openxmlformats.org/officeDocument/2006/relationships/hyperlink" Target="https://www.unb.ca/cic/datasets/vpn.html" TargetMode="External"/><Relationship Id="rId10" Type="http://schemas.openxmlformats.org/officeDocument/2006/relationships/hyperlink" Target="https://doi.org/10.1007/s10994-006-6226-1" TargetMode="External"/><Relationship Id="rId11" Type="http://schemas.openxmlformats.org/officeDocument/2006/relationships/hyperlink" Target="https://arxiv.org/abs/1706.04599" TargetMode="External"/><Relationship Id="rId12" Type="http://schemas.openxmlformats.org/officeDocument/2006/relationships/hyperlink" Target="https://www.wireshark.org" TargetMode="External"/><Relationship Id="rId13" Type="http://schemas.openxmlformats.org/officeDocument/2006/relationships/hyperlink" Target="https://github.com/royhills/ike-scan" TargetMode="External"/><Relationship Id="rId14" Type="http://schemas.openxmlformats.org/officeDocument/2006/relationships/hyperlink" Target="https://github.com/ntop/nDPI" TargetMode="External"/><Relationship Id="rId15" Type="http://schemas.openxmlformats.org/officeDocument/2006/relationships/hyperlink" Target="https://attack.mitre.org" TargetMode="External"/><Relationship Id="rId16" Type="http://schemas.openxmlformats.org/officeDocument/2006/relationships/hyperlink" Target="https://www.strongswan.org" TargetMode="External"/><Relationship Id="rId4" Type="http://schemas.openxmlformats.org/officeDocument/2006/relationships/chart" Target="/ppt/charts/chart1.xml"/><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17" Type="http://schemas.openxmlformats.org/officeDocument/2006/relationships/slideLayout" Target="../slideLayouts/slideLayout1.xml"/><Relationship Id="rId18"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hex.png">    </p:cNvPr>
          <p:cNvPicPr>
            <a:picLocks noChangeAspect="1"/>
          </p:cNvPicPr>
          <p:nvPr/>
        </p:nvPicPr>
        <p:blipFill>
          <a:blip r:embed="rId1">
            <a:alphaModFix amt="16000"/>
          </a:blip>
          <a:stretch>
            <a:fillRect/>
          </a:stretch>
        </p:blipFill>
        <p:spPr>
          <a:xfrm>
            <a:off x="10058400" y="1714500"/>
            <a:ext cx="7315200" cy="8138160"/>
          </a:xfrm>
          <a:prstGeom prst="rect">
            <a:avLst/>
          </a:prstGeom>
        </p:spPr>
      </p:pic>
      <p:pic>
        <p:nvPicPr>
          <p:cNvPr id="3" name="Image 1" descr="/tmp/claude-0/-home-claude/93d9ffac-b36b-5188-b616-7fa3cd4c3901/scratchpad/assets/brain.png">    </p:cNvPr>
          <p:cNvPicPr>
            <a:picLocks noChangeAspect="1"/>
          </p:cNvPicPr>
          <p:nvPr/>
        </p:nvPicPr>
        <p:blipFill>
          <a:blip r:embed="rId2"/>
          <a:stretch>
            <a:fillRect/>
          </a:stretch>
        </p:blipFill>
        <p:spPr>
          <a:xfrm>
            <a:off x="11772900" y="2994660"/>
            <a:ext cx="4114800" cy="5429250"/>
          </a:xfrm>
          <a:prstGeom prst="rect">
            <a:avLst/>
          </a:prstGeom>
        </p:spPr>
      </p:pic>
      <p:pic>
        <p:nvPicPr>
          <p:cNvPr id="4" name="Image 2" descr="/tmp/claude-0/-home-claude/93d9ffac-b36b-5188-b616-7fa3cd4c3901/scratchpad/assets/sih2026.png">    </p:cNvPr>
          <p:cNvPicPr>
            <a:picLocks noChangeAspect="1"/>
          </p:cNvPicPr>
          <p:nvPr/>
        </p:nvPicPr>
        <p:blipFill>
          <a:blip r:embed="rId3"/>
          <a:stretch>
            <a:fillRect/>
          </a:stretch>
        </p:blipFill>
        <p:spPr>
          <a:xfrm>
            <a:off x="14447520" y="274320"/>
            <a:ext cx="3429000" cy="1623060"/>
          </a:xfrm>
          <a:prstGeom prst="rect">
            <a:avLst/>
          </a:prstGeom>
        </p:spPr>
      </p:pic>
      <p:sp>
        <p:nvSpPr>
          <p:cNvPr id="5" name="Text 0"/>
          <p:cNvSpPr txBox="1"/>
          <p:nvPr/>
        </p:nvSpPr>
        <p:spPr>
          <a:xfrm>
            <a:off x="800100" y="457200"/>
            <a:ext cx="13258800" cy="914400"/>
          </a:xfrm>
          <a:prstGeom prst="rect">
            <a:avLst/>
          </a:prstGeom>
          <a:noFill/>
          <a:ln/>
        </p:spPr>
        <p:txBody>
          <a:bodyPr wrap="square" lIns="0" tIns="0" rIns="0" bIns="0" rtlCol="0" anchor="ctr"/>
          <a:lstStyle/>
          <a:p>
            <a:pPr algn="l" indent="0" marL="0">
              <a:buNone/>
            </a:pPr>
            <a:r>
              <a:rPr lang="en-US" sz="5580" b="1" dirty="0">
                <a:solidFill>
                  <a:srgbClr val="1B3A6B"/>
                </a:solidFill>
                <a:latin typeface="Cambria" pitchFamily="34" charset="0"/>
                <a:ea typeface="Cambria" pitchFamily="34" charset="-122"/>
                <a:cs typeface="Cambria" pitchFamily="34" charset="-120"/>
              </a:rPr>
              <a:t>SMART INDIA HACKATHON 2026</a:t>
            </a:r>
            <a:endParaRPr lang="en-US" sz="5580" dirty="0"/>
          </a:p>
        </p:txBody>
      </p:sp>
      <p:sp>
        <p:nvSpPr>
          <p:cNvPr id="6" name="Text 1"/>
          <p:cNvSpPr txBox="1"/>
          <p:nvPr/>
        </p:nvSpPr>
        <p:spPr>
          <a:xfrm>
            <a:off x="800100" y="1394460"/>
            <a:ext cx="5715000" cy="388620"/>
          </a:xfrm>
          <a:prstGeom prst="rect">
            <a:avLst/>
          </a:prstGeom>
          <a:noFill/>
          <a:ln/>
        </p:spPr>
        <p:txBody>
          <a:bodyPr wrap="square" lIns="0" tIns="0" rIns="0" bIns="0" rtlCol="0" anchor="t"/>
          <a:lstStyle/>
          <a:p>
            <a:pPr algn="l" indent="0" marL="0">
              <a:buNone/>
            </a:pPr>
            <a:r>
              <a:rPr lang="en-US" sz="2160" b="1" spc="600" kern="0" dirty="0">
                <a:solidFill>
                  <a:srgbClr val="5B6B82"/>
                </a:solidFill>
                <a:latin typeface="Cambria" pitchFamily="34" charset="0"/>
                <a:ea typeface="Cambria" pitchFamily="34" charset="-122"/>
                <a:cs typeface="Cambria" pitchFamily="34" charset="-120"/>
              </a:rPr>
              <a:t>TITLE PAGE</a:t>
            </a:r>
            <a:endParaRPr lang="en-US" sz="2160" dirty="0"/>
          </a:p>
        </p:txBody>
      </p:sp>
      <p:sp>
        <p:nvSpPr>
          <p:cNvPr id="7" name="Text 2"/>
          <p:cNvSpPr txBox="1"/>
          <p:nvPr/>
        </p:nvSpPr>
        <p:spPr>
          <a:xfrm>
            <a:off x="800100" y="2697480"/>
            <a:ext cx="10058400" cy="6858000"/>
          </a:xfrm>
          <a:prstGeom prst="rect">
            <a:avLst/>
          </a:prstGeom>
          <a:noFill/>
          <a:ln/>
        </p:spPr>
        <p:txBody>
          <a:bodyPr wrap="square" lIns="0" tIns="0" rIns="0" bIns="0" rtlCol="0" anchor="t"/>
          <a:lstStyle/>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Problem Statement ID – </a:t>
            </a:r>
            <a:pPr algn="l" marL="342900" indent="-342900">
              <a:lnSpc>
                <a:spcPct val="105000"/>
              </a:lnSpc>
              <a:spcAft>
                <a:spcPts val="1600"/>
              </a:spcAft>
              <a:buSzPct val="100000"/>
              <a:buChar char="•"/>
            </a:pPr>
            <a:r>
              <a:rPr lang="en-US" sz="2790" dirty="0">
                <a:solidFill>
                  <a:srgbClr val="1F2937"/>
                </a:solidFill>
                <a:latin typeface="Calibri" pitchFamily="34" charset="0"/>
                <a:ea typeface="Calibri" pitchFamily="34" charset="-122"/>
                <a:cs typeface="Calibri" pitchFamily="34" charset="-120"/>
              </a:rPr>
              <a:t>SIH26160</a:t>
            </a:r>
            <a:endParaRPr lang="en-US" sz="2790" dirty="0"/>
          </a:p>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Problem Statement Title – </a:t>
            </a:r>
            <a:pPr algn="l" marL="342900" indent="-342900">
              <a:lnSpc>
                <a:spcPct val="105000"/>
              </a:lnSpc>
              <a:spcAft>
                <a:spcPts val="1600"/>
              </a:spcAft>
              <a:buSzPct val="100000"/>
              <a:buChar char="•"/>
            </a:pPr>
            <a:r>
              <a:rPr lang="en-US" sz="2790" dirty="0">
                <a:solidFill>
                  <a:srgbClr val="1F2937"/>
                </a:solidFill>
                <a:latin typeface="Calibri" pitchFamily="34" charset="0"/>
                <a:ea typeface="Calibri" pitchFamily="34" charset="-122"/>
                <a:cs typeface="Calibri" pitchFamily="34" charset="-120"/>
              </a:rPr>
              <a:t>AI-Powered IPsec VPN Protocol Analyzer and Security Assessment Framework</a:t>
            </a:r>
            <a:endParaRPr lang="en-US" sz="2790" dirty="0"/>
          </a:p>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Theme – </a:t>
            </a:r>
            <a:pPr algn="l" marL="342900" indent="-342900">
              <a:lnSpc>
                <a:spcPct val="105000"/>
              </a:lnSpc>
              <a:spcAft>
                <a:spcPts val="1600"/>
              </a:spcAft>
              <a:buSzPct val="100000"/>
              <a:buChar char="•"/>
            </a:pPr>
            <a:r>
              <a:rPr lang="en-US" sz="2790" dirty="0">
                <a:solidFill>
                  <a:srgbClr val="1F2937"/>
                </a:solidFill>
                <a:latin typeface="Calibri" pitchFamily="34" charset="0"/>
                <a:ea typeface="Calibri" pitchFamily="34" charset="-122"/>
                <a:cs typeface="Calibri" pitchFamily="34" charset="-120"/>
              </a:rPr>
              <a:t>Blockchain &amp; Cybersecurity</a:t>
            </a:r>
            <a:endParaRPr lang="en-US" sz="2790" dirty="0"/>
          </a:p>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PS Category – </a:t>
            </a:r>
            <a:pPr algn="l" marL="342900" indent="-342900">
              <a:lnSpc>
                <a:spcPct val="105000"/>
              </a:lnSpc>
              <a:spcAft>
                <a:spcPts val="1600"/>
              </a:spcAft>
              <a:buSzPct val="100000"/>
              <a:buChar char="•"/>
            </a:pPr>
            <a:r>
              <a:rPr lang="en-US" sz="2790" dirty="0">
                <a:solidFill>
                  <a:srgbClr val="1F2937"/>
                </a:solidFill>
                <a:latin typeface="Calibri" pitchFamily="34" charset="0"/>
                <a:ea typeface="Calibri" pitchFamily="34" charset="-122"/>
                <a:cs typeface="Calibri" pitchFamily="34" charset="-120"/>
              </a:rPr>
              <a:t>Software</a:t>
            </a:r>
            <a:endParaRPr lang="en-US" sz="2790" dirty="0"/>
          </a:p>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Team ID – </a:t>
            </a:r>
            <a:pPr algn="l" marL="342900" indent="-342900">
              <a:lnSpc>
                <a:spcPct val="105000"/>
              </a:lnSpc>
              <a:spcAft>
                <a:spcPts val="1600"/>
              </a:spcAft>
              <a:buSzPct val="100000"/>
              <a:buChar char="•"/>
            </a:pPr>
            <a:r>
              <a:rPr lang="en-US" sz="2790" dirty="0">
                <a:solidFill>
                  <a:srgbClr val="8A94A6"/>
                </a:solidFill>
                <a:latin typeface="Calibri" pitchFamily="34" charset="0"/>
                <a:ea typeface="Calibri" pitchFamily="34" charset="-122"/>
                <a:cs typeface="Calibri" pitchFamily="34" charset="-120"/>
              </a:rPr>
              <a:t>[TEAM ID]</a:t>
            </a:r>
            <a:endParaRPr lang="en-US" sz="2790" dirty="0"/>
          </a:p>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Team Name – </a:t>
            </a:r>
            <a:pPr algn="l" marL="342900" indent="-342900">
              <a:lnSpc>
                <a:spcPct val="105000"/>
              </a:lnSpc>
              <a:spcAft>
                <a:spcPts val="1600"/>
              </a:spcAft>
              <a:buSzPct val="100000"/>
              <a:buChar char="•"/>
            </a:pPr>
            <a:r>
              <a:rPr lang="en-US" sz="2790" dirty="0">
                <a:solidFill>
                  <a:srgbClr val="1F2937"/>
                </a:solidFill>
                <a:latin typeface="Calibri" pitchFamily="34" charset="0"/>
                <a:ea typeface="Calibri" pitchFamily="34" charset="-122"/>
                <a:cs typeface="Calibri" pitchFamily="34" charset="-120"/>
              </a:rPr>
              <a:t>Cache me if u can</a:t>
            </a:r>
            <a:endParaRPr lang="en-US" sz="27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team.jpg">    </p:cNvPr>
          <p:cNvPicPr>
            <a:picLocks noChangeAspect="1"/>
          </p:cNvPicPr>
          <p:nvPr/>
        </p:nvPicPr>
        <p:blipFill>
          <a:blip r:embed="rId1"/>
          <a:stretch>
            <a:fillRect/>
          </a:stretch>
        </p:blipFill>
        <p:spPr>
          <a:xfrm>
            <a:off x="205740" y="91440"/>
            <a:ext cx="982980" cy="982980"/>
          </a:xfrm>
          <a:prstGeom prst="rect">
            <a:avLst/>
          </a:prstGeom>
        </p:spPr>
      </p:pic>
      <p:pic>
        <p:nvPicPr>
          <p:cNvPr id="3" name="Image 1" descr="/tmp/claude-0/-home-claude/93d9ffac-b36b-5188-b616-7fa3cd4c3901/scratchpad/assets/sih2026.png">    </p:cNvPr>
          <p:cNvPicPr>
            <a:picLocks noChangeAspect="1"/>
          </p:cNvPicPr>
          <p:nvPr/>
        </p:nvPicPr>
        <p:blipFill>
          <a:blip r:embed="rId2"/>
          <a:stretch>
            <a:fillRect/>
          </a:stretch>
        </p:blipFill>
        <p:spPr>
          <a:xfrm>
            <a:off x="15841980" y="68580"/>
            <a:ext cx="2240280" cy="1051560"/>
          </a:xfrm>
          <a:prstGeom prst="rect">
            <a:avLst/>
          </a:prstGeom>
        </p:spPr>
      </p:pic>
      <p:sp>
        <p:nvSpPr>
          <p:cNvPr id="4" name="Text 0"/>
          <p:cNvSpPr txBox="1"/>
          <p:nvPr/>
        </p:nvSpPr>
        <p:spPr>
          <a:xfrm>
            <a:off x="3429000" y="45720"/>
            <a:ext cx="11430000" cy="662940"/>
          </a:xfrm>
          <a:prstGeom prst="rect">
            <a:avLst/>
          </a:prstGeom>
          <a:noFill/>
          <a:ln/>
        </p:spPr>
        <p:txBody>
          <a:bodyPr wrap="square" lIns="0" tIns="0" rIns="0" bIns="0" rtlCol="0" anchor="ctr"/>
          <a:lstStyle/>
          <a:p>
            <a:pPr algn="ctr" indent="0" marL="0">
              <a:buNone/>
            </a:pPr>
            <a:r>
              <a:rPr lang="en-US" sz="4500" b="1" spc="200" kern="0" dirty="0">
                <a:solidFill>
                  <a:srgbClr val="1F2937"/>
                </a:solidFill>
                <a:latin typeface="Cambria" pitchFamily="34" charset="0"/>
                <a:ea typeface="Cambria" pitchFamily="34" charset="-122"/>
                <a:cs typeface="Cambria" pitchFamily="34" charset="-120"/>
              </a:rPr>
              <a:t>SecurIQ</a:t>
            </a:r>
            <a:endParaRPr lang="en-US" sz="4500" dirty="0"/>
          </a:p>
        </p:txBody>
      </p:sp>
      <p:sp>
        <p:nvSpPr>
          <p:cNvPr id="5" name="Text 1"/>
          <p:cNvSpPr txBox="1"/>
          <p:nvPr/>
        </p:nvSpPr>
        <p:spPr>
          <a:xfrm>
            <a:off x="2628900" y="685800"/>
            <a:ext cx="13030200" cy="365760"/>
          </a:xfrm>
          <a:prstGeom prst="rect">
            <a:avLst/>
          </a:prstGeom>
          <a:noFill/>
          <a:ln/>
        </p:spPr>
        <p:txBody>
          <a:bodyPr wrap="square" lIns="0" tIns="0" rIns="0" bIns="0" rtlCol="0" anchor="ctr"/>
          <a:lstStyle/>
          <a:p>
            <a:pPr algn="ctr" indent="0" marL="0">
              <a:buNone/>
            </a:pPr>
            <a:r>
              <a:rPr lang="en-US" sz="1620" b="1" i="1" dirty="0">
                <a:solidFill>
                  <a:srgbClr val="C62828"/>
                </a:solidFill>
                <a:latin typeface="Cambria" pitchFamily="34" charset="0"/>
                <a:ea typeface="Cambria" pitchFamily="34" charset="-122"/>
                <a:cs typeface="Cambria" pitchFamily="34" charset="-120"/>
              </a:rPr>
              <a:t>The problem: </a:t>
            </a:r>
            <a:pPr algn="ctr" indent="0" marL="0">
              <a:buNone/>
            </a:pPr>
            <a:r>
              <a:rPr lang="en-US" sz="1620" i="1" dirty="0">
                <a:solidFill>
                  <a:srgbClr val="33415C"/>
                </a:solidFill>
                <a:latin typeface="Cambria" pitchFamily="34" charset="0"/>
                <a:ea typeface="Cambria" pitchFamily="34" charset="-122"/>
                <a:cs typeface="Cambria" pitchFamily="34" charset="-120"/>
              </a:rPr>
              <a:t>analysts get VPN captures they cannot decrypt, so IKE is checked by hand and the encrypted ESP part stays a black box.</a:t>
            </a:r>
            <a:endParaRPr lang="en-US" sz="1620" dirty="0"/>
          </a:p>
        </p:txBody>
      </p:sp>
      <p:sp>
        <p:nvSpPr>
          <p:cNvPr id="6" name="Shape 2"/>
          <p:cNvSpPr/>
          <p:nvPr/>
        </p:nvSpPr>
        <p:spPr>
          <a:xfrm>
            <a:off x="228600" y="1234440"/>
            <a:ext cx="8206740" cy="571500"/>
          </a:xfrm>
          <a:prstGeom prst="roundRect">
            <a:avLst>
              <a:gd name="adj" fmla="val 16000"/>
            </a:avLst>
          </a:prstGeom>
          <a:solidFill>
            <a:srgbClr val="1B3A6B"/>
          </a:solidFill>
          <a:ln/>
        </p:spPr>
      </p:sp>
      <p:pic>
        <p:nvPicPr>
          <p:cNvPr id="7" name="Image 2" descr="preencoded.png">    </p:cNvPr>
          <p:cNvPicPr>
            <a:picLocks noChangeAspect="1"/>
          </p:cNvPicPr>
          <p:nvPr/>
        </p:nvPicPr>
        <p:blipFill>
          <a:blip r:embed="rId3"/>
          <a:stretch>
            <a:fillRect/>
          </a:stretch>
        </p:blipFill>
        <p:spPr>
          <a:xfrm>
            <a:off x="411480" y="1360170"/>
            <a:ext cx="320040" cy="320040"/>
          </a:xfrm>
          <a:prstGeom prst="rect">
            <a:avLst/>
          </a:prstGeom>
        </p:spPr>
      </p:pic>
      <p:sp>
        <p:nvSpPr>
          <p:cNvPr id="8" name="Text 3"/>
          <p:cNvSpPr txBox="1"/>
          <p:nvPr/>
        </p:nvSpPr>
        <p:spPr>
          <a:xfrm>
            <a:off x="868680" y="1234440"/>
            <a:ext cx="7406640" cy="571500"/>
          </a:xfrm>
          <a:prstGeom prst="rect">
            <a:avLst/>
          </a:prstGeom>
          <a:noFill/>
          <a:ln/>
        </p:spPr>
        <p:txBody>
          <a:bodyPr wrap="square" lIns="0" tIns="0" rIns="0" bIns="0" rtlCol="0" anchor="ctr"/>
          <a:lstStyle/>
          <a:p>
            <a:pPr algn="l" indent="0" marL="0">
              <a:buNone/>
            </a:pPr>
            <a:r>
              <a:rPr lang="en-US" sz="2340" b="1" dirty="0">
                <a:solidFill>
                  <a:srgbClr val="FFFFFF"/>
                </a:solidFill>
                <a:latin typeface="Cambria" pitchFamily="34" charset="0"/>
                <a:ea typeface="Cambria" pitchFamily="34" charset="-122"/>
                <a:cs typeface="Cambria" pitchFamily="34" charset="-120"/>
              </a:rPr>
              <a:t>Proposed Solution / Approach</a:t>
            </a:r>
            <a:endParaRPr lang="en-US" sz="2340" dirty="0"/>
          </a:p>
        </p:txBody>
      </p:sp>
      <p:sp>
        <p:nvSpPr>
          <p:cNvPr id="9" name="Shape 4"/>
          <p:cNvSpPr/>
          <p:nvPr/>
        </p:nvSpPr>
        <p:spPr>
          <a:xfrm>
            <a:off x="228600" y="1920240"/>
            <a:ext cx="8206740" cy="7818120"/>
          </a:xfrm>
          <a:prstGeom prst="roundRect">
            <a:avLst>
              <a:gd name="adj" fmla="val 1462"/>
            </a:avLst>
          </a:prstGeom>
          <a:solidFill>
            <a:srgbClr val="F5F7FB"/>
          </a:solidFill>
          <a:ln w="23813">
            <a:solidFill>
              <a:srgbClr val="9FB0C8"/>
            </a:solidFill>
            <a:prstDash val="solid"/>
          </a:ln>
        </p:spPr>
      </p:sp>
      <p:sp>
        <p:nvSpPr>
          <p:cNvPr id="10" name="Text 5"/>
          <p:cNvSpPr txBox="1"/>
          <p:nvPr/>
        </p:nvSpPr>
        <p:spPr>
          <a:xfrm>
            <a:off x="457200" y="2080260"/>
            <a:ext cx="7772400" cy="4617720"/>
          </a:xfrm>
          <a:prstGeom prst="rect">
            <a:avLst/>
          </a:prstGeom>
          <a:noFill/>
          <a:ln/>
        </p:spPr>
        <p:txBody>
          <a:bodyPr wrap="square" lIns="0" tIns="0" rIns="0" bIns="0" rtlCol="0" anchor="t"/>
          <a:lstStyle/>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Protocol identification: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we read the IKE handshake (it is sent in plain text) to get the IKE version, algorithms, DH group and vendor. Each value comes with a confidence score.</a:t>
            </a:r>
            <a:endParaRPr lang="en-US" sz="1670" dirty="0"/>
          </a:p>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Works without keys: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ESP packets are encrypted, so we study their sizes. The padding pattern gives the cipher family, and message sizes show if PFS is on.</a:t>
            </a:r>
            <a:endParaRPr lang="en-US" sz="1670" dirty="0"/>
          </a:p>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Traffic type inside the tunnel: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our ML model looks at packet sizes and timings in 10-second windows and tells if it is web, video, VoIP, file transfer, email, chat or ping.</a:t>
            </a:r>
            <a:endParaRPr lang="en-US" sz="1670" dirty="0"/>
          </a:p>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Security score: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8 checks based on RFC, NIST and CNSA rules, and every problem is placed on a 5×5 threat matrix.</a:t>
            </a:r>
            <a:endParaRPr lang="en-US" sz="1670" dirty="0"/>
          </a:p>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Live alerts and reports: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alerts reach the dashboard in about 3 seconds. Reports come as HTML, PDF or JSON with the packet proof.</a:t>
            </a:r>
            <a:endParaRPr lang="en-US" sz="1670" dirty="0"/>
          </a:p>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Decision support: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a what-if simulator shows how a fix changes the score, plus golden-policy checks and config drift between captures.</a:t>
            </a:r>
            <a:endParaRPr lang="en-US" sz="1670" dirty="0"/>
          </a:p>
        </p:txBody>
      </p:sp>
      <p:sp>
        <p:nvSpPr>
          <p:cNvPr id="11" name="Text 6"/>
          <p:cNvSpPr txBox="1"/>
          <p:nvPr/>
        </p:nvSpPr>
        <p:spPr>
          <a:xfrm>
            <a:off x="411480" y="6789420"/>
            <a:ext cx="4114800" cy="342900"/>
          </a:xfrm>
          <a:prstGeom prst="rect">
            <a:avLst/>
          </a:prstGeom>
          <a:noFill/>
          <a:ln/>
        </p:spPr>
        <p:txBody>
          <a:bodyPr wrap="square" lIns="0" tIns="0" rIns="0" bIns="0" rtlCol="0" anchor="ctr"/>
          <a:lstStyle/>
          <a:p>
            <a:pPr algn="l" indent="0" marL="0">
              <a:buNone/>
            </a:pPr>
            <a:r>
              <a:rPr lang="en-US" sz="1620" b="1" u="sng" dirty="0">
                <a:solidFill>
                  <a:srgbClr val="1B3A6B"/>
                </a:solidFill>
                <a:latin typeface="Cambria" pitchFamily="34" charset="0"/>
                <a:ea typeface="Cambria" pitchFamily="34" charset="-122"/>
                <a:cs typeface="Cambria" pitchFamily="34" charset="-120"/>
              </a:rPr>
              <a:t>How we compare with existing tools</a:t>
            </a:r>
            <a:endParaRPr lang="en-US" sz="1620" dirty="0"/>
          </a:p>
        </p:txBody>
      </p:sp>
      <p:sp>
        <p:nvSpPr>
          <p:cNvPr id="12" name="Shape 7"/>
          <p:cNvSpPr/>
          <p:nvPr/>
        </p:nvSpPr>
        <p:spPr>
          <a:xfrm>
            <a:off x="7006590" y="7223760"/>
            <a:ext cx="1245870" cy="2080260"/>
          </a:xfrm>
          <a:prstGeom prst="rect">
            <a:avLst/>
          </a:prstGeom>
          <a:solidFill>
            <a:srgbClr val="E8F0F9"/>
          </a:solidFill>
          <a:ln/>
        </p:spPr>
      </p:sp>
      <p:sp>
        <p:nvSpPr>
          <p:cNvPr id="13" name="Text 8"/>
          <p:cNvSpPr txBox="1"/>
          <p:nvPr/>
        </p:nvSpPr>
        <p:spPr>
          <a:xfrm>
            <a:off x="3268980" y="7223760"/>
            <a:ext cx="1245870" cy="342900"/>
          </a:xfrm>
          <a:prstGeom prst="rect">
            <a:avLst/>
          </a:prstGeom>
          <a:noFill/>
          <a:ln/>
        </p:spPr>
        <p:txBody>
          <a:bodyPr wrap="square" lIns="0" tIns="0" rIns="0" bIns="0" rtlCol="0" anchor="ctr"/>
          <a:lstStyle/>
          <a:p>
            <a:pPr algn="ctr" indent="0" marL="0">
              <a:buNone/>
            </a:pPr>
            <a:r>
              <a:rPr lang="en-US" sz="1310" b="1" dirty="0">
                <a:solidFill>
                  <a:srgbClr val="1F2937"/>
                </a:solidFill>
                <a:latin typeface="Calibri" pitchFamily="34" charset="0"/>
                <a:ea typeface="Calibri" pitchFamily="34" charset="-122"/>
                <a:cs typeface="Calibri" pitchFamily="34" charset="-120"/>
              </a:rPr>
              <a:t>Wireshark</a:t>
            </a:r>
            <a:endParaRPr lang="en-US" sz="1310" dirty="0"/>
          </a:p>
        </p:txBody>
      </p:sp>
      <p:sp>
        <p:nvSpPr>
          <p:cNvPr id="14" name="Text 9"/>
          <p:cNvSpPr txBox="1"/>
          <p:nvPr/>
        </p:nvSpPr>
        <p:spPr>
          <a:xfrm>
            <a:off x="4514850" y="7223760"/>
            <a:ext cx="1245870" cy="342900"/>
          </a:xfrm>
          <a:prstGeom prst="rect">
            <a:avLst/>
          </a:prstGeom>
          <a:noFill/>
          <a:ln/>
        </p:spPr>
        <p:txBody>
          <a:bodyPr wrap="square" lIns="0" tIns="0" rIns="0" bIns="0" rtlCol="0" anchor="ctr"/>
          <a:lstStyle/>
          <a:p>
            <a:pPr algn="ctr" indent="0" marL="0">
              <a:buNone/>
            </a:pPr>
            <a:r>
              <a:rPr lang="en-US" sz="1310" b="1" dirty="0">
                <a:solidFill>
                  <a:srgbClr val="1F2937"/>
                </a:solidFill>
                <a:latin typeface="Calibri" pitchFamily="34" charset="0"/>
                <a:ea typeface="Calibri" pitchFamily="34" charset="-122"/>
                <a:cs typeface="Calibri" pitchFamily="34" charset="-120"/>
              </a:rPr>
              <a:t>ike-scan</a:t>
            </a:r>
            <a:endParaRPr lang="en-US" sz="1310" dirty="0"/>
          </a:p>
        </p:txBody>
      </p:sp>
      <p:sp>
        <p:nvSpPr>
          <p:cNvPr id="15" name="Text 10"/>
          <p:cNvSpPr txBox="1"/>
          <p:nvPr/>
        </p:nvSpPr>
        <p:spPr>
          <a:xfrm>
            <a:off x="5760720" y="7223760"/>
            <a:ext cx="1245870" cy="342900"/>
          </a:xfrm>
          <a:prstGeom prst="rect">
            <a:avLst/>
          </a:prstGeom>
          <a:noFill/>
          <a:ln/>
        </p:spPr>
        <p:txBody>
          <a:bodyPr wrap="square" lIns="0" tIns="0" rIns="0" bIns="0" rtlCol="0" anchor="ctr"/>
          <a:lstStyle/>
          <a:p>
            <a:pPr algn="ctr" indent="0" marL="0">
              <a:buNone/>
            </a:pPr>
            <a:r>
              <a:rPr lang="en-US" sz="1310" b="1" dirty="0">
                <a:solidFill>
                  <a:srgbClr val="1F2937"/>
                </a:solidFill>
                <a:latin typeface="Calibri" pitchFamily="34" charset="0"/>
                <a:ea typeface="Calibri" pitchFamily="34" charset="-122"/>
                <a:cs typeface="Calibri" pitchFamily="34" charset="-120"/>
              </a:rPr>
              <a:t>nDPI</a:t>
            </a:r>
            <a:endParaRPr lang="en-US" sz="1310" dirty="0"/>
          </a:p>
        </p:txBody>
      </p:sp>
      <p:sp>
        <p:nvSpPr>
          <p:cNvPr id="16" name="Shape 11"/>
          <p:cNvSpPr/>
          <p:nvPr/>
        </p:nvSpPr>
        <p:spPr>
          <a:xfrm>
            <a:off x="7006590" y="7223760"/>
            <a:ext cx="1245870" cy="342900"/>
          </a:xfrm>
          <a:prstGeom prst="rect">
            <a:avLst/>
          </a:prstGeom>
          <a:solidFill>
            <a:srgbClr val="1B3A6B"/>
          </a:solidFill>
          <a:ln/>
        </p:spPr>
      </p:sp>
      <p:sp>
        <p:nvSpPr>
          <p:cNvPr id="17" name="Text 12"/>
          <p:cNvSpPr txBox="1"/>
          <p:nvPr/>
        </p:nvSpPr>
        <p:spPr>
          <a:xfrm>
            <a:off x="7006590" y="7223760"/>
            <a:ext cx="1245870" cy="342900"/>
          </a:xfrm>
          <a:prstGeom prst="rect">
            <a:avLst/>
          </a:prstGeom>
          <a:noFill/>
          <a:ln/>
        </p:spPr>
        <p:txBody>
          <a:bodyPr wrap="square" lIns="0" tIns="0" rIns="0" bIns="0" rtlCol="0" anchor="ctr"/>
          <a:lstStyle/>
          <a:p>
            <a:pPr algn="ctr" indent="0" marL="0">
              <a:buNone/>
            </a:pPr>
            <a:r>
              <a:rPr lang="en-US" sz="1310" b="1" dirty="0">
                <a:solidFill>
                  <a:srgbClr val="FFFFFF"/>
                </a:solidFill>
                <a:latin typeface="Calibri" pitchFamily="34" charset="0"/>
                <a:ea typeface="Calibri" pitchFamily="34" charset="-122"/>
                <a:cs typeface="Calibri" pitchFamily="34" charset="-120"/>
              </a:rPr>
              <a:t>SecurIQ</a:t>
            </a:r>
            <a:endParaRPr lang="en-US" sz="1310" dirty="0"/>
          </a:p>
        </p:txBody>
      </p:sp>
      <p:sp>
        <p:nvSpPr>
          <p:cNvPr id="18" name="Shape 13"/>
          <p:cNvSpPr/>
          <p:nvPr/>
        </p:nvSpPr>
        <p:spPr>
          <a:xfrm>
            <a:off x="411480" y="7566660"/>
            <a:ext cx="7840980" cy="11430"/>
          </a:xfrm>
          <a:custGeom>
            <a:avLst/>
            <a:gdLst/>
            <a:ahLst/>
            <a:cxnLst/>
            <a:rect l="l" t="t" r="r" b="b"/>
            <a:pathLst>
              <a:path w="7840980" h="11430">
                <a:moveTo>
                  <a:pt x="0" y="0"/>
                </a:moveTo>
                <a:lnTo>
                  <a:pt x="7840980" y="0"/>
                </a:lnTo>
              </a:path>
            </a:pathLst>
          </a:custGeom>
          <a:solidFill>
            <a:srgbClr val="FFFFFF">
              <a:alpha val="0"/>
            </a:srgbClr>
          </a:solidFill>
          <a:ln w="15875">
            <a:solidFill>
              <a:srgbClr val="2B2B2B"/>
            </a:solidFill>
            <a:prstDash val="solid"/>
          </a:ln>
        </p:spPr>
      </p:sp>
      <p:sp>
        <p:nvSpPr>
          <p:cNvPr id="19" name="Text 14"/>
          <p:cNvSpPr txBox="1"/>
          <p:nvPr/>
        </p:nvSpPr>
        <p:spPr>
          <a:xfrm>
            <a:off x="457200" y="7566660"/>
            <a:ext cx="2857500" cy="434340"/>
          </a:xfrm>
          <a:prstGeom prst="rect">
            <a:avLst/>
          </a:prstGeom>
          <a:noFill/>
          <a:ln/>
        </p:spPr>
        <p:txBody>
          <a:bodyPr wrap="square" lIns="0" tIns="0" rIns="0" bIns="0"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Works without keys</a:t>
            </a:r>
            <a:endParaRPr lang="en-US" sz="1400" dirty="0"/>
          </a:p>
        </p:txBody>
      </p:sp>
      <p:pic>
        <p:nvPicPr>
          <p:cNvPr id="20" name="Image 3" descr="preencoded.png">    </p:cNvPr>
          <p:cNvPicPr>
            <a:picLocks noChangeAspect="1"/>
          </p:cNvPicPr>
          <p:nvPr/>
        </p:nvPicPr>
        <p:blipFill>
          <a:blip r:embed="rId4"/>
          <a:stretch>
            <a:fillRect/>
          </a:stretch>
        </p:blipFill>
        <p:spPr>
          <a:xfrm>
            <a:off x="3766185" y="7680960"/>
            <a:ext cx="251460" cy="251460"/>
          </a:xfrm>
          <a:prstGeom prst="rect">
            <a:avLst/>
          </a:prstGeom>
        </p:spPr>
      </p:pic>
      <p:pic>
        <p:nvPicPr>
          <p:cNvPr id="21" name="Image 4" descr="preencoded.png">    </p:cNvPr>
          <p:cNvPicPr>
            <a:picLocks noChangeAspect="1"/>
          </p:cNvPicPr>
          <p:nvPr/>
        </p:nvPicPr>
        <p:blipFill>
          <a:blip r:embed="rId5"/>
          <a:stretch>
            <a:fillRect/>
          </a:stretch>
        </p:blipFill>
        <p:spPr>
          <a:xfrm>
            <a:off x="5012055" y="7680960"/>
            <a:ext cx="251460" cy="251460"/>
          </a:xfrm>
          <a:prstGeom prst="rect">
            <a:avLst/>
          </a:prstGeom>
        </p:spPr>
      </p:pic>
      <p:pic>
        <p:nvPicPr>
          <p:cNvPr id="22" name="Image 5" descr="preencoded.png">    </p:cNvPr>
          <p:cNvPicPr>
            <a:picLocks noChangeAspect="1"/>
          </p:cNvPicPr>
          <p:nvPr/>
        </p:nvPicPr>
        <p:blipFill>
          <a:blip r:embed="rId6"/>
          <a:stretch>
            <a:fillRect/>
          </a:stretch>
        </p:blipFill>
        <p:spPr>
          <a:xfrm>
            <a:off x="6257925" y="7680960"/>
            <a:ext cx="251460" cy="251460"/>
          </a:xfrm>
          <a:prstGeom prst="rect">
            <a:avLst/>
          </a:prstGeom>
        </p:spPr>
      </p:pic>
      <p:pic>
        <p:nvPicPr>
          <p:cNvPr id="23" name="Image 6" descr="preencoded.png">    </p:cNvPr>
          <p:cNvPicPr>
            <a:picLocks noChangeAspect="1"/>
          </p:cNvPicPr>
          <p:nvPr/>
        </p:nvPicPr>
        <p:blipFill>
          <a:blip r:embed="rId7"/>
          <a:stretch>
            <a:fillRect/>
          </a:stretch>
        </p:blipFill>
        <p:spPr>
          <a:xfrm>
            <a:off x="7503795" y="7680960"/>
            <a:ext cx="251460" cy="251460"/>
          </a:xfrm>
          <a:prstGeom prst="rect">
            <a:avLst/>
          </a:prstGeom>
        </p:spPr>
      </p:pic>
      <p:sp>
        <p:nvSpPr>
          <p:cNvPr id="24" name="Shape 15"/>
          <p:cNvSpPr/>
          <p:nvPr/>
        </p:nvSpPr>
        <p:spPr>
          <a:xfrm>
            <a:off x="411480" y="8001000"/>
            <a:ext cx="7840980" cy="11430"/>
          </a:xfrm>
          <a:custGeom>
            <a:avLst/>
            <a:gdLst/>
            <a:ahLst/>
            <a:cxnLst/>
            <a:rect l="l" t="t" r="r" b="b"/>
            <a:pathLst>
              <a:path w="7840980" h="11430">
                <a:moveTo>
                  <a:pt x="0" y="0"/>
                </a:moveTo>
                <a:lnTo>
                  <a:pt x="7840980" y="0"/>
                </a:lnTo>
              </a:path>
            </a:pathLst>
          </a:custGeom>
          <a:solidFill>
            <a:srgbClr val="FFFFFF">
              <a:alpha val="0"/>
            </a:srgbClr>
          </a:solidFill>
          <a:ln w="15875">
            <a:solidFill>
              <a:srgbClr val="CBD5E1"/>
            </a:solidFill>
            <a:prstDash val="solid"/>
          </a:ln>
        </p:spPr>
      </p:sp>
      <p:sp>
        <p:nvSpPr>
          <p:cNvPr id="25" name="Text 16"/>
          <p:cNvSpPr txBox="1"/>
          <p:nvPr/>
        </p:nvSpPr>
        <p:spPr>
          <a:xfrm>
            <a:off x="457200" y="8001000"/>
            <a:ext cx="2857500" cy="434340"/>
          </a:xfrm>
          <a:prstGeom prst="rect">
            <a:avLst/>
          </a:prstGeom>
          <a:noFill/>
          <a:ln/>
        </p:spPr>
        <p:txBody>
          <a:bodyPr wrap="square" lIns="0" tIns="0" rIns="0" bIns="0"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Passive (sends no packets)</a:t>
            </a:r>
            <a:endParaRPr lang="en-US" sz="1400" dirty="0"/>
          </a:p>
        </p:txBody>
      </p:sp>
      <p:pic>
        <p:nvPicPr>
          <p:cNvPr id="26" name="Image 7" descr="preencoded.png">    </p:cNvPr>
          <p:cNvPicPr>
            <a:picLocks noChangeAspect="1"/>
          </p:cNvPicPr>
          <p:nvPr/>
        </p:nvPicPr>
        <p:blipFill>
          <a:blip r:embed="rId8"/>
          <a:stretch>
            <a:fillRect/>
          </a:stretch>
        </p:blipFill>
        <p:spPr>
          <a:xfrm>
            <a:off x="3766185" y="8115300"/>
            <a:ext cx="251460" cy="251460"/>
          </a:xfrm>
          <a:prstGeom prst="rect">
            <a:avLst/>
          </a:prstGeom>
        </p:spPr>
      </p:pic>
      <p:pic>
        <p:nvPicPr>
          <p:cNvPr id="27" name="Image 8" descr="preencoded.png">    </p:cNvPr>
          <p:cNvPicPr>
            <a:picLocks noChangeAspect="1"/>
          </p:cNvPicPr>
          <p:nvPr/>
        </p:nvPicPr>
        <p:blipFill>
          <a:blip r:embed="rId9"/>
          <a:stretch>
            <a:fillRect/>
          </a:stretch>
        </p:blipFill>
        <p:spPr>
          <a:xfrm>
            <a:off x="5012055" y="8115300"/>
            <a:ext cx="251460" cy="251460"/>
          </a:xfrm>
          <a:prstGeom prst="rect">
            <a:avLst/>
          </a:prstGeom>
        </p:spPr>
      </p:pic>
      <p:pic>
        <p:nvPicPr>
          <p:cNvPr id="28" name="Image 9" descr="preencoded.png">    </p:cNvPr>
          <p:cNvPicPr>
            <a:picLocks noChangeAspect="1"/>
          </p:cNvPicPr>
          <p:nvPr/>
        </p:nvPicPr>
        <p:blipFill>
          <a:blip r:embed="rId10"/>
          <a:stretch>
            <a:fillRect/>
          </a:stretch>
        </p:blipFill>
        <p:spPr>
          <a:xfrm>
            <a:off x="6257925" y="8115300"/>
            <a:ext cx="251460" cy="251460"/>
          </a:xfrm>
          <a:prstGeom prst="rect">
            <a:avLst/>
          </a:prstGeom>
        </p:spPr>
      </p:pic>
      <p:pic>
        <p:nvPicPr>
          <p:cNvPr id="29" name="Image 10" descr="preencoded.png">    </p:cNvPr>
          <p:cNvPicPr>
            <a:picLocks noChangeAspect="1"/>
          </p:cNvPicPr>
          <p:nvPr/>
        </p:nvPicPr>
        <p:blipFill>
          <a:blip r:embed="rId11"/>
          <a:stretch>
            <a:fillRect/>
          </a:stretch>
        </p:blipFill>
        <p:spPr>
          <a:xfrm>
            <a:off x="7503795" y="8115300"/>
            <a:ext cx="251460" cy="251460"/>
          </a:xfrm>
          <a:prstGeom prst="rect">
            <a:avLst/>
          </a:prstGeom>
        </p:spPr>
      </p:pic>
      <p:sp>
        <p:nvSpPr>
          <p:cNvPr id="30" name="Shape 17"/>
          <p:cNvSpPr/>
          <p:nvPr/>
        </p:nvSpPr>
        <p:spPr>
          <a:xfrm>
            <a:off x="411480" y="8435340"/>
            <a:ext cx="7840980" cy="11430"/>
          </a:xfrm>
          <a:custGeom>
            <a:avLst/>
            <a:gdLst/>
            <a:ahLst/>
            <a:cxnLst/>
            <a:rect l="l" t="t" r="r" b="b"/>
            <a:pathLst>
              <a:path w="7840980" h="11430">
                <a:moveTo>
                  <a:pt x="0" y="0"/>
                </a:moveTo>
                <a:lnTo>
                  <a:pt x="7840980" y="0"/>
                </a:lnTo>
              </a:path>
            </a:pathLst>
          </a:custGeom>
          <a:solidFill>
            <a:srgbClr val="FFFFFF">
              <a:alpha val="0"/>
            </a:srgbClr>
          </a:solidFill>
          <a:ln w="15875">
            <a:solidFill>
              <a:srgbClr val="CBD5E1"/>
            </a:solidFill>
            <a:prstDash val="solid"/>
          </a:ln>
        </p:spPr>
      </p:sp>
      <p:sp>
        <p:nvSpPr>
          <p:cNvPr id="31" name="Text 18"/>
          <p:cNvSpPr txBox="1"/>
          <p:nvPr/>
        </p:nvSpPr>
        <p:spPr>
          <a:xfrm>
            <a:off x="457200" y="8435340"/>
            <a:ext cx="2857500" cy="434340"/>
          </a:xfrm>
          <a:prstGeom prst="rect">
            <a:avLst/>
          </a:prstGeom>
          <a:noFill/>
          <a:ln/>
        </p:spPr>
        <p:txBody>
          <a:bodyPr wrap="square" lIns="0" tIns="0" rIns="0" bIns="0"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Finds traffic type inside ESP</a:t>
            </a:r>
            <a:endParaRPr lang="en-US" sz="1400" dirty="0"/>
          </a:p>
        </p:txBody>
      </p:sp>
      <p:pic>
        <p:nvPicPr>
          <p:cNvPr id="32" name="Image 11" descr="preencoded.png">    </p:cNvPr>
          <p:cNvPicPr>
            <a:picLocks noChangeAspect="1"/>
          </p:cNvPicPr>
          <p:nvPr/>
        </p:nvPicPr>
        <p:blipFill>
          <a:blip r:embed="rId12"/>
          <a:stretch>
            <a:fillRect/>
          </a:stretch>
        </p:blipFill>
        <p:spPr>
          <a:xfrm>
            <a:off x="3766185" y="8549640"/>
            <a:ext cx="251460" cy="251460"/>
          </a:xfrm>
          <a:prstGeom prst="rect">
            <a:avLst/>
          </a:prstGeom>
        </p:spPr>
      </p:pic>
      <p:pic>
        <p:nvPicPr>
          <p:cNvPr id="33" name="Image 12" descr="preencoded.png">    </p:cNvPr>
          <p:cNvPicPr>
            <a:picLocks noChangeAspect="1"/>
          </p:cNvPicPr>
          <p:nvPr/>
        </p:nvPicPr>
        <p:blipFill>
          <a:blip r:embed="rId13"/>
          <a:stretch>
            <a:fillRect/>
          </a:stretch>
        </p:blipFill>
        <p:spPr>
          <a:xfrm>
            <a:off x="5012055" y="8549640"/>
            <a:ext cx="251460" cy="251460"/>
          </a:xfrm>
          <a:prstGeom prst="rect">
            <a:avLst/>
          </a:prstGeom>
        </p:spPr>
      </p:pic>
      <p:pic>
        <p:nvPicPr>
          <p:cNvPr id="34" name="Image 13" descr="preencoded.png">    </p:cNvPr>
          <p:cNvPicPr>
            <a:picLocks noChangeAspect="1"/>
          </p:cNvPicPr>
          <p:nvPr/>
        </p:nvPicPr>
        <p:blipFill>
          <a:blip r:embed="rId14"/>
          <a:stretch>
            <a:fillRect/>
          </a:stretch>
        </p:blipFill>
        <p:spPr>
          <a:xfrm>
            <a:off x="6257925" y="8549640"/>
            <a:ext cx="251460" cy="251460"/>
          </a:xfrm>
          <a:prstGeom prst="rect">
            <a:avLst/>
          </a:prstGeom>
        </p:spPr>
      </p:pic>
      <p:pic>
        <p:nvPicPr>
          <p:cNvPr id="35" name="Image 14" descr="preencoded.png">    </p:cNvPr>
          <p:cNvPicPr>
            <a:picLocks noChangeAspect="1"/>
          </p:cNvPicPr>
          <p:nvPr/>
        </p:nvPicPr>
        <p:blipFill>
          <a:blip r:embed="rId15"/>
          <a:stretch>
            <a:fillRect/>
          </a:stretch>
        </p:blipFill>
        <p:spPr>
          <a:xfrm>
            <a:off x="7503795" y="8549640"/>
            <a:ext cx="251460" cy="251460"/>
          </a:xfrm>
          <a:prstGeom prst="rect">
            <a:avLst/>
          </a:prstGeom>
        </p:spPr>
      </p:pic>
      <p:sp>
        <p:nvSpPr>
          <p:cNvPr id="36" name="Shape 19"/>
          <p:cNvSpPr/>
          <p:nvPr/>
        </p:nvSpPr>
        <p:spPr>
          <a:xfrm>
            <a:off x="411480" y="8869680"/>
            <a:ext cx="7840980" cy="11430"/>
          </a:xfrm>
          <a:custGeom>
            <a:avLst/>
            <a:gdLst/>
            <a:ahLst/>
            <a:cxnLst/>
            <a:rect l="l" t="t" r="r" b="b"/>
            <a:pathLst>
              <a:path w="7840980" h="11430">
                <a:moveTo>
                  <a:pt x="0" y="0"/>
                </a:moveTo>
                <a:lnTo>
                  <a:pt x="7840980" y="0"/>
                </a:lnTo>
              </a:path>
            </a:pathLst>
          </a:custGeom>
          <a:solidFill>
            <a:srgbClr val="FFFFFF">
              <a:alpha val="0"/>
            </a:srgbClr>
          </a:solidFill>
          <a:ln w="15875">
            <a:solidFill>
              <a:srgbClr val="CBD5E1"/>
            </a:solidFill>
            <a:prstDash val="solid"/>
          </a:ln>
        </p:spPr>
      </p:sp>
      <p:sp>
        <p:nvSpPr>
          <p:cNvPr id="37" name="Text 20"/>
          <p:cNvSpPr txBox="1"/>
          <p:nvPr/>
        </p:nvSpPr>
        <p:spPr>
          <a:xfrm>
            <a:off x="457200" y="8869680"/>
            <a:ext cx="2857500" cy="434340"/>
          </a:xfrm>
          <a:prstGeom prst="rect">
            <a:avLst/>
          </a:prstGeom>
          <a:noFill/>
          <a:ln/>
        </p:spPr>
        <p:txBody>
          <a:bodyPr wrap="square" lIns="0" tIns="0" rIns="0" bIns="0"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Gives a security score</a:t>
            </a:r>
            <a:endParaRPr lang="en-US" sz="1400" dirty="0"/>
          </a:p>
        </p:txBody>
      </p:sp>
      <p:pic>
        <p:nvPicPr>
          <p:cNvPr id="38" name="Image 15" descr="preencoded.png">    </p:cNvPr>
          <p:cNvPicPr>
            <a:picLocks noChangeAspect="1"/>
          </p:cNvPicPr>
          <p:nvPr/>
        </p:nvPicPr>
        <p:blipFill>
          <a:blip r:embed="rId16"/>
          <a:stretch>
            <a:fillRect/>
          </a:stretch>
        </p:blipFill>
        <p:spPr>
          <a:xfrm>
            <a:off x="3766185" y="8983980"/>
            <a:ext cx="251460" cy="251460"/>
          </a:xfrm>
          <a:prstGeom prst="rect">
            <a:avLst/>
          </a:prstGeom>
        </p:spPr>
      </p:pic>
      <p:pic>
        <p:nvPicPr>
          <p:cNvPr id="39" name="Image 16" descr="preencoded.png">    </p:cNvPr>
          <p:cNvPicPr>
            <a:picLocks noChangeAspect="1"/>
          </p:cNvPicPr>
          <p:nvPr/>
        </p:nvPicPr>
        <p:blipFill>
          <a:blip r:embed="rId17"/>
          <a:stretch>
            <a:fillRect/>
          </a:stretch>
        </p:blipFill>
        <p:spPr>
          <a:xfrm>
            <a:off x="5012055" y="8983980"/>
            <a:ext cx="251460" cy="251460"/>
          </a:xfrm>
          <a:prstGeom prst="rect">
            <a:avLst/>
          </a:prstGeom>
        </p:spPr>
      </p:pic>
      <p:pic>
        <p:nvPicPr>
          <p:cNvPr id="40" name="Image 17" descr="preencoded.png">    </p:cNvPr>
          <p:cNvPicPr>
            <a:picLocks noChangeAspect="1"/>
          </p:cNvPicPr>
          <p:nvPr/>
        </p:nvPicPr>
        <p:blipFill>
          <a:blip r:embed="rId18"/>
          <a:stretch>
            <a:fillRect/>
          </a:stretch>
        </p:blipFill>
        <p:spPr>
          <a:xfrm>
            <a:off x="6257925" y="8983980"/>
            <a:ext cx="251460" cy="251460"/>
          </a:xfrm>
          <a:prstGeom prst="rect">
            <a:avLst/>
          </a:prstGeom>
        </p:spPr>
      </p:pic>
      <p:pic>
        <p:nvPicPr>
          <p:cNvPr id="41" name="Image 18" descr="preencoded.png">    </p:cNvPr>
          <p:cNvPicPr>
            <a:picLocks noChangeAspect="1"/>
          </p:cNvPicPr>
          <p:nvPr/>
        </p:nvPicPr>
        <p:blipFill>
          <a:blip r:embed="rId19"/>
          <a:stretch>
            <a:fillRect/>
          </a:stretch>
        </p:blipFill>
        <p:spPr>
          <a:xfrm>
            <a:off x="7503795" y="8983980"/>
            <a:ext cx="251460" cy="251460"/>
          </a:xfrm>
          <a:prstGeom prst="rect">
            <a:avLst/>
          </a:prstGeom>
        </p:spPr>
      </p:pic>
      <p:sp>
        <p:nvSpPr>
          <p:cNvPr id="42" name="Text 21"/>
          <p:cNvSpPr txBox="1"/>
          <p:nvPr/>
        </p:nvSpPr>
        <p:spPr>
          <a:xfrm>
            <a:off x="411480" y="9395460"/>
            <a:ext cx="7840980" cy="205740"/>
          </a:xfrm>
          <a:prstGeom prst="rect">
            <a:avLst/>
          </a:prstGeom>
          <a:noFill/>
          <a:ln/>
        </p:spPr>
        <p:txBody>
          <a:bodyPr wrap="square" lIns="0" tIns="0" rIns="0" bIns="0" rtlCol="0" anchor="ctr"/>
          <a:lstStyle/>
          <a:p>
            <a:pPr algn="l" indent="0" marL="0">
              <a:buNone/>
            </a:pPr>
            <a:r>
              <a:rPr lang="en-US" sz="1130" b="1" dirty="0">
                <a:solidFill>
                  <a:srgbClr val="2E7D32"/>
                </a:solidFill>
                <a:latin typeface="Calibri" pitchFamily="34" charset="0"/>
                <a:ea typeface="Calibri" pitchFamily="34" charset="-122"/>
                <a:cs typeface="Calibri" pitchFamily="34" charset="-120"/>
              </a:rPr>
              <a:t>✓ yes   </a:t>
            </a:r>
            <a:pPr algn="l" indent="0" marL="0">
              <a:buNone/>
            </a:pPr>
            <a:r>
              <a:rPr lang="en-US" sz="1130" b="1" dirty="0">
                <a:solidFill>
                  <a:srgbClr val="B4531A"/>
                </a:solidFill>
                <a:latin typeface="Calibri" pitchFamily="34" charset="0"/>
                <a:ea typeface="Calibri" pitchFamily="34" charset="-122"/>
                <a:cs typeface="Calibri" pitchFamily="34" charset="-120"/>
              </a:rPr>
              <a:t>– partly (Wireshark needs keys to open ESP)   </a:t>
            </a:r>
            <a:pPr algn="l" indent="0" marL="0">
              <a:buNone/>
            </a:pPr>
            <a:r>
              <a:rPr lang="en-US" sz="1130" b="1" dirty="0">
                <a:solidFill>
                  <a:srgbClr val="C62828"/>
                </a:solidFill>
                <a:latin typeface="Calibri" pitchFamily="34" charset="0"/>
                <a:ea typeface="Calibri" pitchFamily="34" charset="-122"/>
                <a:cs typeface="Calibri" pitchFamily="34" charset="-120"/>
              </a:rPr>
              <a:t>✗ no</a:t>
            </a:r>
            <a:endParaRPr lang="en-US" sz="1130" dirty="0"/>
          </a:p>
        </p:txBody>
      </p:sp>
      <p:sp>
        <p:nvSpPr>
          <p:cNvPr id="43" name="Shape 22"/>
          <p:cNvSpPr/>
          <p:nvPr/>
        </p:nvSpPr>
        <p:spPr>
          <a:xfrm>
            <a:off x="8629650" y="1234440"/>
            <a:ext cx="9429750" cy="4937760"/>
          </a:xfrm>
          <a:prstGeom prst="roundRect">
            <a:avLst>
              <a:gd name="adj" fmla="val 2778"/>
            </a:avLst>
          </a:prstGeom>
          <a:solidFill>
            <a:srgbClr val="FFFFFF">
              <a:alpha val="0"/>
            </a:srgbClr>
          </a:solidFill>
          <a:ln w="31750">
            <a:solidFill>
              <a:srgbClr val="2B2B2B"/>
            </a:solidFill>
            <a:prstDash val="solid"/>
          </a:ln>
        </p:spPr>
      </p:sp>
      <p:sp>
        <p:nvSpPr>
          <p:cNvPr id="44" name="Text 23"/>
          <p:cNvSpPr txBox="1"/>
          <p:nvPr/>
        </p:nvSpPr>
        <p:spPr>
          <a:xfrm>
            <a:off x="8629650" y="1280160"/>
            <a:ext cx="9429750" cy="342900"/>
          </a:xfrm>
          <a:prstGeom prst="rect">
            <a:avLst/>
          </a:prstGeom>
          <a:noFill/>
          <a:ln/>
        </p:spPr>
        <p:txBody>
          <a:bodyPr wrap="square" lIns="0" tIns="0" rIns="0" bIns="0" rtlCol="0" anchor="ctr"/>
          <a:lstStyle/>
          <a:p>
            <a:pPr algn="ctr" indent="0" marL="0">
              <a:buNone/>
            </a:pPr>
            <a:r>
              <a:rPr lang="en-US" sz="1710" b="1" dirty="0">
                <a:solidFill>
                  <a:srgbClr val="1F2937"/>
                </a:solidFill>
                <a:latin typeface="Cambria" pitchFamily="34" charset="0"/>
                <a:ea typeface="Cambria" pitchFamily="34" charset="-122"/>
                <a:cs typeface="Cambria" pitchFamily="34" charset="-120"/>
              </a:rPr>
              <a:t>SecurIQ end-to-end workflow</a:t>
            </a:r>
            <a:endParaRPr lang="en-US" sz="1710" dirty="0"/>
          </a:p>
        </p:txBody>
      </p:sp>
      <p:sp>
        <p:nvSpPr>
          <p:cNvPr id="45" name="Shape 24"/>
          <p:cNvSpPr/>
          <p:nvPr/>
        </p:nvSpPr>
        <p:spPr>
          <a:xfrm>
            <a:off x="9649206" y="2212391"/>
            <a:ext cx="11430" cy="214998"/>
          </a:xfrm>
          <a:custGeom>
            <a:avLst/>
            <a:gdLst/>
            <a:ahLst/>
            <a:cxnLst/>
            <a:rect l="l" t="t" r="r" b="b"/>
            <a:pathLst>
              <a:path w="11430" h="214998">
                <a:moveTo>
                  <a:pt x="0" y="0"/>
                </a:moveTo>
                <a:lnTo>
                  <a:pt x="0" y="214998"/>
                </a:lnTo>
              </a:path>
            </a:pathLst>
          </a:custGeom>
          <a:solidFill>
            <a:srgbClr val="FFFFFF">
              <a:alpha val="0"/>
            </a:srgbClr>
          </a:solidFill>
          <a:ln w="17463">
            <a:solidFill>
              <a:srgbClr val="2B2B2B"/>
            </a:solidFill>
            <a:prstDash val="solid"/>
            <a:tailEnd type="triangle"/>
          </a:ln>
        </p:spPr>
      </p:sp>
      <p:sp>
        <p:nvSpPr>
          <p:cNvPr id="46" name="Shape 25"/>
          <p:cNvSpPr/>
          <p:nvPr/>
        </p:nvSpPr>
        <p:spPr>
          <a:xfrm>
            <a:off x="9649206" y="2902649"/>
            <a:ext cx="11430" cy="203683"/>
          </a:xfrm>
          <a:custGeom>
            <a:avLst/>
            <a:gdLst/>
            <a:ahLst/>
            <a:cxnLst/>
            <a:rect l="l" t="t" r="r" b="b"/>
            <a:pathLst>
              <a:path w="11430" h="203683">
                <a:moveTo>
                  <a:pt x="0" y="0"/>
                </a:moveTo>
                <a:lnTo>
                  <a:pt x="0" y="203683"/>
                </a:lnTo>
              </a:path>
            </a:pathLst>
          </a:custGeom>
          <a:solidFill>
            <a:srgbClr val="FFFFFF">
              <a:alpha val="0"/>
            </a:srgbClr>
          </a:solidFill>
          <a:ln w="17463">
            <a:solidFill>
              <a:srgbClr val="2B2B2B"/>
            </a:solidFill>
            <a:prstDash val="solid"/>
            <a:tailEnd type="triangle"/>
          </a:ln>
        </p:spPr>
      </p:sp>
      <p:sp>
        <p:nvSpPr>
          <p:cNvPr id="47" name="Shape 26"/>
          <p:cNvSpPr/>
          <p:nvPr/>
        </p:nvSpPr>
        <p:spPr>
          <a:xfrm>
            <a:off x="9649206" y="3581591"/>
            <a:ext cx="11430" cy="203683"/>
          </a:xfrm>
          <a:custGeom>
            <a:avLst/>
            <a:gdLst/>
            <a:ahLst/>
            <a:cxnLst/>
            <a:rect l="l" t="t" r="r" b="b"/>
            <a:pathLst>
              <a:path w="11430" h="203683">
                <a:moveTo>
                  <a:pt x="0" y="0"/>
                </a:moveTo>
                <a:lnTo>
                  <a:pt x="0" y="203683"/>
                </a:lnTo>
              </a:path>
            </a:pathLst>
          </a:custGeom>
          <a:solidFill>
            <a:srgbClr val="FFFFFF">
              <a:alpha val="0"/>
            </a:srgbClr>
          </a:solidFill>
          <a:ln w="17463">
            <a:solidFill>
              <a:srgbClr val="2B2B2B"/>
            </a:solidFill>
            <a:prstDash val="solid"/>
            <a:tailEnd type="triangle"/>
          </a:ln>
        </p:spPr>
      </p:sp>
      <p:sp>
        <p:nvSpPr>
          <p:cNvPr id="48" name="Shape 27"/>
          <p:cNvSpPr/>
          <p:nvPr/>
        </p:nvSpPr>
        <p:spPr>
          <a:xfrm>
            <a:off x="9649206" y="4260533"/>
            <a:ext cx="11430" cy="203683"/>
          </a:xfrm>
          <a:custGeom>
            <a:avLst/>
            <a:gdLst/>
            <a:ahLst/>
            <a:cxnLst/>
            <a:rect l="l" t="t" r="r" b="b"/>
            <a:pathLst>
              <a:path w="11430" h="203683">
                <a:moveTo>
                  <a:pt x="0" y="0"/>
                </a:moveTo>
                <a:lnTo>
                  <a:pt x="0" y="203683"/>
                </a:lnTo>
              </a:path>
            </a:pathLst>
          </a:custGeom>
          <a:solidFill>
            <a:srgbClr val="FFFFFF">
              <a:alpha val="0"/>
            </a:srgbClr>
          </a:solidFill>
          <a:ln w="17463">
            <a:solidFill>
              <a:srgbClr val="2B2B2B"/>
            </a:solidFill>
            <a:prstDash val="solid"/>
            <a:tailEnd type="triangle"/>
          </a:ln>
        </p:spPr>
      </p:sp>
      <p:sp>
        <p:nvSpPr>
          <p:cNvPr id="49" name="Shape 28"/>
          <p:cNvSpPr/>
          <p:nvPr/>
        </p:nvSpPr>
        <p:spPr>
          <a:xfrm>
            <a:off x="10441305" y="4713161"/>
            <a:ext cx="373418" cy="11430"/>
          </a:xfrm>
          <a:custGeom>
            <a:avLst/>
            <a:gdLst/>
            <a:ahLst/>
            <a:cxnLst/>
            <a:rect l="l" t="t" r="r" b="b"/>
            <a:pathLst>
              <a:path w="373418" h="11430">
                <a:moveTo>
                  <a:pt x="0" y="0"/>
                </a:moveTo>
                <a:lnTo>
                  <a:pt x="373418" y="0"/>
                </a:lnTo>
              </a:path>
            </a:pathLst>
          </a:custGeom>
          <a:solidFill>
            <a:srgbClr val="FFFFFF">
              <a:alpha val="0"/>
            </a:srgbClr>
          </a:solidFill>
          <a:ln w="17463">
            <a:solidFill>
              <a:srgbClr val="2B2B2B"/>
            </a:solidFill>
            <a:prstDash val="solid"/>
            <a:tailEnd type="triangle"/>
          </a:ln>
        </p:spPr>
      </p:sp>
      <p:sp>
        <p:nvSpPr>
          <p:cNvPr id="50" name="Shape 29"/>
          <p:cNvSpPr/>
          <p:nvPr/>
        </p:nvSpPr>
        <p:spPr>
          <a:xfrm>
            <a:off x="11686032" y="4283164"/>
            <a:ext cx="11430" cy="203683"/>
          </a:xfrm>
          <a:custGeom>
            <a:avLst/>
            <a:gdLst/>
            <a:ahLst/>
            <a:cxnLst/>
            <a:rect l="l" t="t" r="r" b="b"/>
            <a:pathLst>
              <a:path w="11430" h="203683">
                <a:moveTo>
                  <a:pt x="0" y="203683"/>
                </a:moveTo>
                <a:lnTo>
                  <a:pt x="0" y="0"/>
                </a:lnTo>
              </a:path>
            </a:pathLst>
          </a:custGeom>
          <a:solidFill>
            <a:srgbClr val="FFFFFF">
              <a:alpha val="0"/>
            </a:srgbClr>
          </a:solidFill>
          <a:ln w="17463">
            <a:solidFill>
              <a:srgbClr val="2B2B2B"/>
            </a:solidFill>
            <a:prstDash val="solid"/>
            <a:tailEnd type="triangle"/>
          </a:ln>
        </p:spPr>
      </p:sp>
      <p:sp>
        <p:nvSpPr>
          <p:cNvPr id="51" name="Shape 30"/>
          <p:cNvSpPr/>
          <p:nvPr/>
        </p:nvSpPr>
        <p:spPr>
          <a:xfrm>
            <a:off x="11686032" y="3604222"/>
            <a:ext cx="11430" cy="203683"/>
          </a:xfrm>
          <a:custGeom>
            <a:avLst/>
            <a:gdLst/>
            <a:ahLst/>
            <a:cxnLst/>
            <a:rect l="l" t="t" r="r" b="b"/>
            <a:pathLst>
              <a:path w="11430" h="203683">
                <a:moveTo>
                  <a:pt x="0" y="203683"/>
                </a:moveTo>
                <a:lnTo>
                  <a:pt x="0" y="0"/>
                </a:lnTo>
              </a:path>
            </a:pathLst>
          </a:custGeom>
          <a:solidFill>
            <a:srgbClr val="FFFFFF">
              <a:alpha val="0"/>
            </a:srgbClr>
          </a:solidFill>
          <a:ln w="17463">
            <a:solidFill>
              <a:srgbClr val="2B2B2B"/>
            </a:solidFill>
            <a:prstDash val="solid"/>
            <a:tailEnd type="triangle"/>
          </a:ln>
        </p:spPr>
      </p:sp>
      <p:sp>
        <p:nvSpPr>
          <p:cNvPr id="52" name="Shape 31"/>
          <p:cNvSpPr/>
          <p:nvPr/>
        </p:nvSpPr>
        <p:spPr>
          <a:xfrm>
            <a:off x="10441305" y="3434486"/>
            <a:ext cx="373418" cy="599732"/>
          </a:xfrm>
          <a:custGeom>
            <a:avLst/>
            <a:gdLst/>
            <a:ahLst/>
            <a:cxnLst/>
            <a:rect l="l" t="t" r="r" b="b"/>
            <a:pathLst>
              <a:path w="373418" h="599732">
                <a:moveTo>
                  <a:pt x="0" y="599732"/>
                </a:moveTo>
                <a:lnTo>
                  <a:pt x="192367" y="599732"/>
                </a:lnTo>
                <a:lnTo>
                  <a:pt x="192367" y="0"/>
                </a:lnTo>
                <a:lnTo>
                  <a:pt x="373418" y="0"/>
                </a:lnTo>
              </a:path>
            </a:pathLst>
          </a:custGeom>
          <a:solidFill>
            <a:srgbClr val="FFFFFF">
              <a:alpha val="0"/>
            </a:srgbClr>
          </a:solidFill>
          <a:ln w="17463">
            <a:solidFill>
              <a:srgbClr val="2B2B2B"/>
            </a:solidFill>
            <a:prstDash val="solid"/>
            <a:tailEnd type="triangle"/>
          </a:ln>
        </p:spPr>
      </p:sp>
      <p:sp>
        <p:nvSpPr>
          <p:cNvPr id="53" name="Shape 32"/>
          <p:cNvSpPr/>
          <p:nvPr/>
        </p:nvSpPr>
        <p:spPr>
          <a:xfrm>
            <a:off x="12534710" y="3355277"/>
            <a:ext cx="124473" cy="11430"/>
          </a:xfrm>
          <a:custGeom>
            <a:avLst/>
            <a:gdLst/>
            <a:ahLst/>
            <a:cxnLst/>
            <a:rect l="l" t="t" r="r" b="b"/>
            <a:pathLst>
              <a:path w="124473" h="11430">
                <a:moveTo>
                  <a:pt x="0" y="0"/>
                </a:moveTo>
                <a:lnTo>
                  <a:pt x="124473" y="0"/>
                </a:lnTo>
              </a:path>
            </a:pathLst>
          </a:custGeom>
          <a:solidFill>
            <a:srgbClr val="FFFFFF">
              <a:alpha val="0"/>
            </a:srgbClr>
          </a:solidFill>
          <a:ln w="17463">
            <a:solidFill>
              <a:srgbClr val="2B2B2B"/>
            </a:solidFill>
            <a:prstDash val="solid"/>
            <a:tailEnd type="triangle"/>
          </a:ln>
        </p:spPr>
      </p:sp>
      <p:sp>
        <p:nvSpPr>
          <p:cNvPr id="54" name="Shape 33"/>
          <p:cNvSpPr/>
          <p:nvPr/>
        </p:nvSpPr>
        <p:spPr>
          <a:xfrm>
            <a:off x="14084960" y="3355277"/>
            <a:ext cx="294208" cy="11430"/>
          </a:xfrm>
          <a:custGeom>
            <a:avLst/>
            <a:gdLst/>
            <a:ahLst/>
            <a:cxnLst/>
            <a:rect l="l" t="t" r="r" b="b"/>
            <a:pathLst>
              <a:path w="294208" h="11430">
                <a:moveTo>
                  <a:pt x="0" y="0"/>
                </a:moveTo>
                <a:lnTo>
                  <a:pt x="294208" y="0"/>
                </a:lnTo>
              </a:path>
            </a:pathLst>
          </a:custGeom>
          <a:solidFill>
            <a:srgbClr val="FFFFFF">
              <a:alpha val="0"/>
            </a:srgbClr>
          </a:solidFill>
          <a:ln w="17463">
            <a:solidFill>
              <a:srgbClr val="2B2B2B"/>
            </a:solidFill>
            <a:prstDash val="solid"/>
            <a:tailEnd type="triangle"/>
          </a:ln>
        </p:spPr>
      </p:sp>
      <p:sp>
        <p:nvSpPr>
          <p:cNvPr id="55" name="Shape 34"/>
          <p:cNvSpPr/>
          <p:nvPr/>
        </p:nvSpPr>
        <p:spPr>
          <a:xfrm>
            <a:off x="13383387" y="2280285"/>
            <a:ext cx="11430" cy="599732"/>
          </a:xfrm>
          <a:custGeom>
            <a:avLst/>
            <a:gdLst/>
            <a:ahLst/>
            <a:cxnLst/>
            <a:rect l="l" t="t" r="r" b="b"/>
            <a:pathLst>
              <a:path w="11430" h="599732">
                <a:moveTo>
                  <a:pt x="0" y="599732"/>
                </a:moveTo>
                <a:lnTo>
                  <a:pt x="0" y="0"/>
                </a:lnTo>
              </a:path>
            </a:pathLst>
          </a:custGeom>
          <a:solidFill>
            <a:srgbClr val="FFFFFF">
              <a:alpha val="0"/>
            </a:srgbClr>
          </a:solidFill>
          <a:ln w="17463">
            <a:solidFill>
              <a:srgbClr val="2B2B2B"/>
            </a:solidFill>
            <a:prstDash val="solid"/>
            <a:tailEnd type="triangle"/>
          </a:ln>
        </p:spPr>
      </p:sp>
      <p:sp>
        <p:nvSpPr>
          <p:cNvPr id="56" name="Shape 35"/>
          <p:cNvSpPr/>
          <p:nvPr/>
        </p:nvSpPr>
        <p:spPr>
          <a:xfrm>
            <a:off x="14062329" y="2053971"/>
            <a:ext cx="1188149" cy="1052360"/>
          </a:xfrm>
          <a:custGeom>
            <a:avLst/>
            <a:gdLst/>
            <a:ahLst/>
            <a:cxnLst/>
            <a:rect l="l" t="t" r="r" b="b"/>
            <a:pathLst>
              <a:path w="1188149" h="1052360">
                <a:moveTo>
                  <a:pt x="0" y="0"/>
                </a:moveTo>
                <a:lnTo>
                  <a:pt x="1188149" y="0"/>
                </a:lnTo>
                <a:lnTo>
                  <a:pt x="1188149" y="1052360"/>
                </a:lnTo>
              </a:path>
            </a:pathLst>
          </a:custGeom>
          <a:solidFill>
            <a:srgbClr val="FFFFFF">
              <a:alpha val="0"/>
            </a:srgbClr>
          </a:solidFill>
          <a:ln w="17463">
            <a:solidFill>
              <a:srgbClr val="2B2B2B"/>
            </a:solidFill>
            <a:prstDash val="solid"/>
            <a:tailEnd type="triangle"/>
          </a:ln>
        </p:spPr>
      </p:sp>
      <p:sp>
        <p:nvSpPr>
          <p:cNvPr id="57" name="Shape 36"/>
          <p:cNvSpPr/>
          <p:nvPr/>
        </p:nvSpPr>
        <p:spPr>
          <a:xfrm>
            <a:off x="15250478" y="3581591"/>
            <a:ext cx="11430" cy="203683"/>
          </a:xfrm>
          <a:custGeom>
            <a:avLst/>
            <a:gdLst/>
            <a:ahLst/>
            <a:cxnLst/>
            <a:rect l="l" t="t" r="r" b="b"/>
            <a:pathLst>
              <a:path w="11430" h="203683">
                <a:moveTo>
                  <a:pt x="0" y="0"/>
                </a:moveTo>
                <a:lnTo>
                  <a:pt x="0" y="203683"/>
                </a:lnTo>
              </a:path>
            </a:pathLst>
          </a:custGeom>
          <a:solidFill>
            <a:srgbClr val="FFFFFF">
              <a:alpha val="0"/>
            </a:srgbClr>
          </a:solidFill>
          <a:ln w="17463">
            <a:solidFill>
              <a:srgbClr val="2B2B2B"/>
            </a:solidFill>
            <a:prstDash val="solid"/>
            <a:tailEnd type="triangle"/>
          </a:ln>
        </p:spPr>
      </p:sp>
      <p:sp>
        <p:nvSpPr>
          <p:cNvPr id="58" name="Shape 37"/>
          <p:cNvSpPr/>
          <p:nvPr/>
        </p:nvSpPr>
        <p:spPr>
          <a:xfrm>
            <a:off x="16099155" y="4034219"/>
            <a:ext cx="339471" cy="11430"/>
          </a:xfrm>
          <a:custGeom>
            <a:avLst/>
            <a:gdLst/>
            <a:ahLst/>
            <a:cxnLst/>
            <a:rect l="l" t="t" r="r" b="b"/>
            <a:pathLst>
              <a:path w="339471" h="11430">
                <a:moveTo>
                  <a:pt x="0" y="0"/>
                </a:moveTo>
                <a:lnTo>
                  <a:pt x="339471" y="0"/>
                </a:lnTo>
              </a:path>
            </a:pathLst>
          </a:custGeom>
          <a:solidFill>
            <a:srgbClr val="FFFFFF">
              <a:alpha val="0"/>
            </a:srgbClr>
          </a:solidFill>
          <a:ln w="17463">
            <a:solidFill>
              <a:srgbClr val="2B2B2B"/>
            </a:solidFill>
            <a:prstDash val="solid"/>
            <a:tailEnd type="triangle"/>
          </a:ln>
        </p:spPr>
      </p:sp>
      <p:sp>
        <p:nvSpPr>
          <p:cNvPr id="59" name="Shape 38"/>
          <p:cNvSpPr/>
          <p:nvPr/>
        </p:nvSpPr>
        <p:spPr>
          <a:xfrm>
            <a:off x="17083621" y="2925280"/>
            <a:ext cx="11430" cy="656311"/>
          </a:xfrm>
          <a:custGeom>
            <a:avLst/>
            <a:gdLst/>
            <a:ahLst/>
            <a:cxnLst/>
            <a:rect l="l" t="t" r="r" b="b"/>
            <a:pathLst>
              <a:path w="11430" h="656311">
                <a:moveTo>
                  <a:pt x="0" y="656311"/>
                </a:moveTo>
                <a:lnTo>
                  <a:pt x="0" y="0"/>
                </a:lnTo>
              </a:path>
            </a:pathLst>
          </a:custGeom>
          <a:solidFill>
            <a:srgbClr val="FFFFFF">
              <a:alpha val="0"/>
            </a:srgbClr>
          </a:solidFill>
          <a:ln w="17463">
            <a:solidFill>
              <a:srgbClr val="2B2B2B"/>
            </a:solidFill>
            <a:prstDash val="solid"/>
            <a:tailEnd type="triangle"/>
          </a:ln>
        </p:spPr>
      </p:sp>
      <p:sp>
        <p:nvSpPr>
          <p:cNvPr id="60" name="Shape 39"/>
          <p:cNvSpPr/>
          <p:nvPr/>
        </p:nvSpPr>
        <p:spPr>
          <a:xfrm>
            <a:off x="17083621" y="4486847"/>
            <a:ext cx="11430" cy="712889"/>
          </a:xfrm>
          <a:custGeom>
            <a:avLst/>
            <a:gdLst/>
            <a:ahLst/>
            <a:cxnLst/>
            <a:rect l="l" t="t" r="r" b="b"/>
            <a:pathLst>
              <a:path w="11430" h="712889">
                <a:moveTo>
                  <a:pt x="0" y="0"/>
                </a:moveTo>
                <a:lnTo>
                  <a:pt x="0" y="712889"/>
                </a:lnTo>
              </a:path>
            </a:pathLst>
          </a:custGeom>
          <a:solidFill>
            <a:srgbClr val="FFFFFF">
              <a:alpha val="0"/>
            </a:srgbClr>
          </a:solidFill>
          <a:ln w="17463">
            <a:solidFill>
              <a:srgbClr val="2B2B2B"/>
            </a:solidFill>
            <a:prstDash val="solid"/>
            <a:tailEnd type="triangle"/>
          </a:ln>
        </p:spPr>
      </p:sp>
      <p:sp>
        <p:nvSpPr>
          <p:cNvPr id="61" name="Shape 40"/>
          <p:cNvSpPr/>
          <p:nvPr/>
        </p:nvSpPr>
        <p:spPr>
          <a:xfrm>
            <a:off x="15782315" y="5448681"/>
            <a:ext cx="656311" cy="11430"/>
          </a:xfrm>
          <a:custGeom>
            <a:avLst/>
            <a:gdLst/>
            <a:ahLst/>
            <a:cxnLst/>
            <a:rect l="l" t="t" r="r" b="b"/>
            <a:pathLst>
              <a:path w="656311" h="11430">
                <a:moveTo>
                  <a:pt x="656311" y="0"/>
                </a:moveTo>
                <a:lnTo>
                  <a:pt x="0" y="0"/>
                </a:lnTo>
              </a:path>
            </a:pathLst>
          </a:custGeom>
          <a:solidFill>
            <a:srgbClr val="FFFFFF">
              <a:alpha val="0"/>
            </a:srgbClr>
          </a:solidFill>
          <a:ln w="17463">
            <a:solidFill>
              <a:srgbClr val="2B2B2B"/>
            </a:solidFill>
            <a:prstDash val="solid"/>
            <a:tailEnd type="triangle"/>
          </a:ln>
        </p:spPr>
      </p:sp>
      <p:sp>
        <p:nvSpPr>
          <p:cNvPr id="62" name="Shape 41"/>
          <p:cNvSpPr/>
          <p:nvPr/>
        </p:nvSpPr>
        <p:spPr>
          <a:xfrm>
            <a:off x="9140000" y="1895551"/>
            <a:ext cx="1018413" cy="316840"/>
          </a:xfrm>
          <a:prstGeom prst="roundRect">
            <a:avLst>
              <a:gd name="adj" fmla="val 50505"/>
            </a:avLst>
          </a:prstGeom>
          <a:solidFill>
            <a:srgbClr val="F8CBDA"/>
          </a:solidFill>
          <a:ln w="15875">
            <a:solidFill>
              <a:srgbClr val="C0507A"/>
            </a:solidFill>
            <a:prstDash val="solid"/>
          </a:ln>
        </p:spPr>
      </p:sp>
      <p:sp>
        <p:nvSpPr>
          <p:cNvPr id="63" name="Text 42"/>
          <p:cNvSpPr txBox="1"/>
          <p:nvPr/>
        </p:nvSpPr>
        <p:spPr>
          <a:xfrm>
            <a:off x="9162860" y="1895551"/>
            <a:ext cx="972693" cy="316840"/>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Start</a:t>
            </a:r>
            <a:endParaRPr lang="en-US" sz="1620" dirty="0"/>
          </a:p>
        </p:txBody>
      </p:sp>
      <p:sp>
        <p:nvSpPr>
          <p:cNvPr id="64" name="Shape 43"/>
          <p:cNvSpPr/>
          <p:nvPr/>
        </p:nvSpPr>
        <p:spPr>
          <a:xfrm>
            <a:off x="8857107" y="2450021"/>
            <a:ext cx="1584198" cy="452628"/>
          </a:xfrm>
          <a:prstGeom prst="roundRect">
            <a:avLst>
              <a:gd name="adj" fmla="val 10101"/>
            </a:avLst>
          </a:prstGeom>
          <a:solidFill>
            <a:srgbClr val="FFE699"/>
          </a:solidFill>
          <a:ln w="15875">
            <a:solidFill>
              <a:srgbClr val="BF9000"/>
            </a:solidFill>
            <a:prstDash val="solid"/>
          </a:ln>
        </p:spPr>
      </p:sp>
      <p:sp>
        <p:nvSpPr>
          <p:cNvPr id="65" name="Text 44"/>
          <p:cNvSpPr txBox="1"/>
          <p:nvPr/>
        </p:nvSpPr>
        <p:spPr>
          <a:xfrm>
            <a:off x="8879967" y="2450021"/>
            <a:ext cx="1538478"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Capture traffic</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PCAP file or live tap</a:t>
            </a:r>
            <a:endParaRPr lang="en-US" sz="1620" dirty="0"/>
          </a:p>
        </p:txBody>
      </p:sp>
      <p:sp>
        <p:nvSpPr>
          <p:cNvPr id="66" name="Shape 45"/>
          <p:cNvSpPr/>
          <p:nvPr/>
        </p:nvSpPr>
        <p:spPr>
          <a:xfrm>
            <a:off x="8857107" y="3128963"/>
            <a:ext cx="1584198" cy="452628"/>
          </a:xfrm>
          <a:prstGeom prst="roundRect">
            <a:avLst>
              <a:gd name="adj" fmla="val 10101"/>
            </a:avLst>
          </a:prstGeom>
          <a:solidFill>
            <a:srgbClr val="FFE699"/>
          </a:solidFill>
          <a:ln w="15875">
            <a:solidFill>
              <a:srgbClr val="BF9000"/>
            </a:solidFill>
            <a:prstDash val="solid"/>
          </a:ln>
        </p:spPr>
      </p:sp>
      <p:sp>
        <p:nvSpPr>
          <p:cNvPr id="67" name="Text 46"/>
          <p:cNvSpPr txBox="1"/>
          <p:nvPr/>
        </p:nvSpPr>
        <p:spPr>
          <a:xfrm>
            <a:off x="8879967" y="3128963"/>
            <a:ext cx="1538478"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Check &amp; decode</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file type, size, headers</a:t>
            </a:r>
            <a:endParaRPr lang="en-US" sz="1620" dirty="0"/>
          </a:p>
        </p:txBody>
      </p:sp>
      <p:sp>
        <p:nvSpPr>
          <p:cNvPr id="68" name="Shape 47"/>
          <p:cNvSpPr/>
          <p:nvPr/>
        </p:nvSpPr>
        <p:spPr>
          <a:xfrm>
            <a:off x="8857107" y="3807904"/>
            <a:ext cx="1584198" cy="452628"/>
          </a:xfrm>
          <a:prstGeom prst="roundRect">
            <a:avLst>
              <a:gd name="adj" fmla="val 10101"/>
            </a:avLst>
          </a:prstGeom>
          <a:solidFill>
            <a:srgbClr val="FFE699"/>
          </a:solidFill>
          <a:ln w="15875">
            <a:solidFill>
              <a:srgbClr val="BF9000"/>
            </a:solidFill>
            <a:prstDash val="solid"/>
          </a:ln>
        </p:spPr>
      </p:sp>
      <p:sp>
        <p:nvSpPr>
          <p:cNvPr id="69" name="Text 48"/>
          <p:cNvSpPr txBox="1"/>
          <p:nvPr/>
        </p:nvSpPr>
        <p:spPr>
          <a:xfrm>
            <a:off x="8879967" y="3807904"/>
            <a:ext cx="1538478"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Read IKE handshake</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algorithms, DH, vendor</a:t>
            </a:r>
            <a:endParaRPr lang="en-US" sz="1620" dirty="0"/>
          </a:p>
        </p:txBody>
      </p:sp>
      <p:sp>
        <p:nvSpPr>
          <p:cNvPr id="70" name="Shape 49"/>
          <p:cNvSpPr/>
          <p:nvPr/>
        </p:nvSpPr>
        <p:spPr>
          <a:xfrm>
            <a:off x="8857107" y="4486847"/>
            <a:ext cx="1584198" cy="452628"/>
          </a:xfrm>
          <a:prstGeom prst="roundRect">
            <a:avLst>
              <a:gd name="adj" fmla="val 10101"/>
            </a:avLst>
          </a:prstGeom>
          <a:solidFill>
            <a:srgbClr val="FFE699"/>
          </a:solidFill>
          <a:ln w="15875">
            <a:solidFill>
              <a:srgbClr val="BF9000"/>
            </a:solidFill>
            <a:prstDash val="solid"/>
          </a:ln>
        </p:spPr>
      </p:sp>
      <p:sp>
        <p:nvSpPr>
          <p:cNvPr id="71" name="Text 50"/>
          <p:cNvSpPr txBox="1"/>
          <p:nvPr/>
        </p:nvSpPr>
        <p:spPr>
          <a:xfrm>
            <a:off x="8879967" y="4486847"/>
            <a:ext cx="1538478"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Group ESP flows</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pair SAs, 10 s windows</a:t>
            </a:r>
            <a:endParaRPr lang="en-US" sz="1620" dirty="0"/>
          </a:p>
        </p:txBody>
      </p:sp>
      <p:sp>
        <p:nvSpPr>
          <p:cNvPr id="72" name="Shape 51"/>
          <p:cNvSpPr/>
          <p:nvPr/>
        </p:nvSpPr>
        <p:spPr>
          <a:xfrm>
            <a:off x="10837355" y="4486847"/>
            <a:ext cx="1697355" cy="452628"/>
          </a:xfrm>
          <a:prstGeom prst="roundRect">
            <a:avLst>
              <a:gd name="adj" fmla="val 10101"/>
            </a:avLst>
          </a:prstGeom>
          <a:solidFill>
            <a:srgbClr val="FFE699"/>
          </a:solidFill>
          <a:ln w="15875">
            <a:solidFill>
              <a:srgbClr val="BF9000"/>
            </a:solidFill>
            <a:prstDash val="solid"/>
          </a:ln>
        </p:spPr>
      </p:sp>
      <p:sp>
        <p:nvSpPr>
          <p:cNvPr id="73" name="Text 52"/>
          <p:cNvSpPr txBox="1"/>
          <p:nvPr/>
        </p:nvSpPr>
        <p:spPr>
          <a:xfrm>
            <a:off x="10860215" y="4486847"/>
            <a:ext cx="1651635"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Study ESP sizes</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cipher family, ICV, PFS</a:t>
            </a:r>
            <a:endParaRPr lang="en-US" sz="1620" dirty="0"/>
          </a:p>
        </p:txBody>
      </p:sp>
      <p:sp>
        <p:nvSpPr>
          <p:cNvPr id="74" name="Shape 53"/>
          <p:cNvSpPr/>
          <p:nvPr/>
        </p:nvSpPr>
        <p:spPr>
          <a:xfrm>
            <a:off x="10837355" y="3807904"/>
            <a:ext cx="1697355" cy="452628"/>
          </a:xfrm>
          <a:prstGeom prst="roundRect">
            <a:avLst>
              <a:gd name="adj" fmla="val 10101"/>
            </a:avLst>
          </a:prstGeom>
          <a:solidFill>
            <a:srgbClr val="FFE699"/>
          </a:solidFill>
          <a:ln w="15875">
            <a:solidFill>
              <a:srgbClr val="BF9000"/>
            </a:solidFill>
            <a:prstDash val="solid"/>
          </a:ln>
        </p:spPr>
      </p:sp>
      <p:sp>
        <p:nvSpPr>
          <p:cNvPr id="75" name="Text 54"/>
          <p:cNvSpPr txBox="1"/>
          <p:nvPr/>
        </p:nvSpPr>
        <p:spPr>
          <a:xfrm>
            <a:off x="10860215" y="3807904"/>
            <a:ext cx="1651635"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ML model</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traffic type inside</a:t>
            </a:r>
            <a:endParaRPr lang="en-US" sz="1620" dirty="0"/>
          </a:p>
        </p:txBody>
      </p:sp>
      <p:sp>
        <p:nvSpPr>
          <p:cNvPr id="76" name="Shape 55"/>
          <p:cNvSpPr/>
          <p:nvPr/>
        </p:nvSpPr>
        <p:spPr>
          <a:xfrm>
            <a:off x="10837355" y="3128963"/>
            <a:ext cx="1697355" cy="452628"/>
          </a:xfrm>
          <a:prstGeom prst="roundRect">
            <a:avLst>
              <a:gd name="adj" fmla="val 10101"/>
            </a:avLst>
          </a:prstGeom>
          <a:solidFill>
            <a:srgbClr val="FFE699"/>
          </a:solidFill>
          <a:ln w="15875">
            <a:solidFill>
              <a:srgbClr val="BF9000"/>
            </a:solidFill>
            <a:prstDash val="solid"/>
          </a:ln>
        </p:spPr>
      </p:sp>
      <p:sp>
        <p:nvSpPr>
          <p:cNvPr id="77" name="Text 56"/>
          <p:cNvSpPr txBox="1"/>
          <p:nvPr/>
        </p:nvSpPr>
        <p:spPr>
          <a:xfrm>
            <a:off x="10860215" y="3128963"/>
            <a:ext cx="1651635"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Collect evidence</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mode, auth, lifetime</a:t>
            </a:r>
            <a:endParaRPr lang="en-US" sz="1620" dirty="0"/>
          </a:p>
        </p:txBody>
      </p:sp>
      <p:sp>
        <p:nvSpPr>
          <p:cNvPr id="78" name="Shape 57"/>
          <p:cNvSpPr/>
          <p:nvPr/>
        </p:nvSpPr>
        <p:spPr>
          <a:xfrm>
            <a:off x="12704445" y="1850288"/>
            <a:ext cx="1357884" cy="407365"/>
          </a:xfrm>
          <a:prstGeom prst="roundRect">
            <a:avLst>
              <a:gd name="adj" fmla="val 11223"/>
            </a:avLst>
          </a:prstGeom>
          <a:solidFill>
            <a:srgbClr val="E4DFEC"/>
          </a:solidFill>
          <a:ln w="15875">
            <a:solidFill>
              <a:srgbClr val="7F6A9B"/>
            </a:solidFill>
            <a:prstDash val="solid"/>
          </a:ln>
        </p:spPr>
      </p:sp>
      <p:sp>
        <p:nvSpPr>
          <p:cNvPr id="79" name="Text 58"/>
          <p:cNvSpPr txBox="1"/>
          <p:nvPr/>
        </p:nvSpPr>
        <p:spPr>
          <a:xfrm>
            <a:off x="12727305" y="1850288"/>
            <a:ext cx="1312164" cy="407365"/>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Mark as “not observable”</a:t>
            </a:r>
            <a:endParaRPr lang="en-US" sz="1620" dirty="0"/>
          </a:p>
        </p:txBody>
      </p:sp>
      <p:sp>
        <p:nvSpPr>
          <p:cNvPr id="80" name="Shape 59"/>
          <p:cNvSpPr/>
          <p:nvPr/>
        </p:nvSpPr>
        <p:spPr>
          <a:xfrm>
            <a:off x="14401800" y="3128963"/>
            <a:ext cx="1697355" cy="452628"/>
          </a:xfrm>
          <a:prstGeom prst="roundRect">
            <a:avLst>
              <a:gd name="adj" fmla="val 10101"/>
            </a:avLst>
          </a:prstGeom>
          <a:solidFill>
            <a:srgbClr val="FFE699"/>
          </a:solidFill>
          <a:ln w="15875">
            <a:solidFill>
              <a:srgbClr val="BF9000"/>
            </a:solidFill>
            <a:prstDash val="solid"/>
          </a:ln>
        </p:spPr>
      </p:sp>
      <p:sp>
        <p:nvSpPr>
          <p:cNvPr id="81" name="Text 60"/>
          <p:cNvSpPr txBox="1"/>
          <p:nvPr/>
        </p:nvSpPr>
        <p:spPr>
          <a:xfrm>
            <a:off x="14424660" y="3128963"/>
            <a:ext cx="1651635"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Save value</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with confidence + proof</a:t>
            </a:r>
            <a:endParaRPr lang="en-US" sz="1620" dirty="0"/>
          </a:p>
        </p:txBody>
      </p:sp>
      <p:sp>
        <p:nvSpPr>
          <p:cNvPr id="82" name="Shape 61"/>
          <p:cNvSpPr/>
          <p:nvPr/>
        </p:nvSpPr>
        <p:spPr>
          <a:xfrm>
            <a:off x="14401800" y="3807904"/>
            <a:ext cx="1697355" cy="452628"/>
          </a:xfrm>
          <a:prstGeom prst="roundRect">
            <a:avLst>
              <a:gd name="adj" fmla="val 10101"/>
            </a:avLst>
          </a:prstGeom>
          <a:solidFill>
            <a:srgbClr val="FFE699"/>
          </a:solidFill>
          <a:ln w="15875">
            <a:solidFill>
              <a:srgbClr val="BF9000"/>
            </a:solidFill>
            <a:prstDash val="solid"/>
          </a:ln>
        </p:spPr>
      </p:sp>
      <p:sp>
        <p:nvSpPr>
          <p:cNvPr id="83" name="Text 62"/>
          <p:cNvSpPr txBox="1"/>
          <p:nvPr/>
        </p:nvSpPr>
        <p:spPr>
          <a:xfrm>
            <a:off x="14424660" y="3807904"/>
            <a:ext cx="1651635"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Score &amp; threats</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8 checks, 5×5 matrix</a:t>
            </a:r>
            <a:endParaRPr lang="en-US" sz="1620" dirty="0"/>
          </a:p>
        </p:txBody>
      </p:sp>
      <p:sp>
        <p:nvSpPr>
          <p:cNvPr id="84" name="Shape 63"/>
          <p:cNvSpPr/>
          <p:nvPr/>
        </p:nvSpPr>
        <p:spPr>
          <a:xfrm>
            <a:off x="16438626" y="2450021"/>
            <a:ext cx="1301306" cy="452628"/>
          </a:xfrm>
          <a:prstGeom prst="roundRect">
            <a:avLst>
              <a:gd name="adj" fmla="val 10101"/>
            </a:avLst>
          </a:prstGeom>
          <a:solidFill>
            <a:srgbClr val="F4B7B2"/>
          </a:solidFill>
          <a:ln w="15875">
            <a:solidFill>
              <a:srgbClr val="C00000"/>
            </a:solidFill>
            <a:prstDash val="solid"/>
          </a:ln>
        </p:spPr>
      </p:sp>
      <p:sp>
        <p:nvSpPr>
          <p:cNvPr id="85" name="Text 64"/>
          <p:cNvSpPr txBox="1"/>
          <p:nvPr/>
        </p:nvSpPr>
        <p:spPr>
          <a:xfrm>
            <a:off x="16461486" y="2450021"/>
            <a:ext cx="1255586"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Live alert</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dashboard, ~3 s</a:t>
            </a:r>
            <a:endParaRPr lang="en-US" sz="1620" dirty="0"/>
          </a:p>
        </p:txBody>
      </p:sp>
      <p:sp>
        <p:nvSpPr>
          <p:cNvPr id="86" name="Shape 65"/>
          <p:cNvSpPr/>
          <p:nvPr/>
        </p:nvSpPr>
        <p:spPr>
          <a:xfrm>
            <a:off x="16438626" y="5222367"/>
            <a:ext cx="1301306" cy="452628"/>
          </a:xfrm>
          <a:prstGeom prst="roundRect">
            <a:avLst>
              <a:gd name="adj" fmla="val 10101"/>
            </a:avLst>
          </a:prstGeom>
          <a:solidFill>
            <a:srgbClr val="FFE699"/>
          </a:solidFill>
          <a:ln w="15875">
            <a:solidFill>
              <a:srgbClr val="BF9000"/>
            </a:solidFill>
            <a:prstDash val="solid"/>
          </a:ln>
        </p:spPr>
      </p:sp>
      <p:sp>
        <p:nvSpPr>
          <p:cNvPr id="87" name="Text 66"/>
          <p:cNvSpPr txBox="1"/>
          <p:nvPr/>
        </p:nvSpPr>
        <p:spPr>
          <a:xfrm>
            <a:off x="16461486" y="5222367"/>
            <a:ext cx="1255586"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Reports</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HTML / PDF / JSON</a:t>
            </a:r>
            <a:endParaRPr lang="en-US" sz="1620" dirty="0"/>
          </a:p>
        </p:txBody>
      </p:sp>
      <p:sp>
        <p:nvSpPr>
          <p:cNvPr id="88" name="Shape 67"/>
          <p:cNvSpPr/>
          <p:nvPr/>
        </p:nvSpPr>
        <p:spPr>
          <a:xfrm>
            <a:off x="14741271" y="5290261"/>
            <a:ext cx="1018413" cy="316840"/>
          </a:xfrm>
          <a:prstGeom prst="roundRect">
            <a:avLst>
              <a:gd name="adj" fmla="val 50505"/>
            </a:avLst>
          </a:prstGeom>
          <a:solidFill>
            <a:srgbClr val="F8CBDA"/>
          </a:solidFill>
          <a:ln w="15875">
            <a:solidFill>
              <a:srgbClr val="C0507A"/>
            </a:solidFill>
            <a:prstDash val="solid"/>
          </a:ln>
        </p:spPr>
      </p:sp>
      <p:sp>
        <p:nvSpPr>
          <p:cNvPr id="89" name="Text 68"/>
          <p:cNvSpPr txBox="1"/>
          <p:nvPr/>
        </p:nvSpPr>
        <p:spPr>
          <a:xfrm>
            <a:off x="14764131" y="5290261"/>
            <a:ext cx="972693" cy="316840"/>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End</a:t>
            </a:r>
            <a:endParaRPr lang="en-US" sz="1620" dirty="0"/>
          </a:p>
        </p:txBody>
      </p:sp>
      <p:sp>
        <p:nvSpPr>
          <p:cNvPr id="90" name="Shape 69"/>
          <p:cNvSpPr/>
          <p:nvPr/>
        </p:nvSpPr>
        <p:spPr>
          <a:xfrm>
            <a:off x="12681814" y="2880017"/>
            <a:ext cx="1403147" cy="950519"/>
          </a:xfrm>
          <a:prstGeom prst="diamond">
            <a:avLst/>
          </a:prstGeom>
          <a:solidFill>
            <a:srgbClr val="2F5597"/>
          </a:solidFill>
          <a:ln w="15875">
            <a:solidFill>
              <a:srgbClr val="1F3864"/>
            </a:solidFill>
            <a:prstDash val="solid"/>
          </a:ln>
        </p:spPr>
      </p:sp>
      <p:sp>
        <p:nvSpPr>
          <p:cNvPr id="91" name="Text 70"/>
          <p:cNvSpPr txBox="1"/>
          <p:nvPr/>
        </p:nvSpPr>
        <p:spPr>
          <a:xfrm>
            <a:off x="12681814" y="2880017"/>
            <a:ext cx="1403147" cy="950519"/>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Confident</a:t>
            </a:r>
            <a:endParaRPr lang="en-US" sz="1080" dirty="0"/>
          </a:p>
          <a:p>
            <a:pPr algn="ctr" indent="0" marL="0">
              <a:buNone/>
            </a:pPr>
            <a:r>
              <a:rPr lang="en-US" sz="1080" b="1" dirty="0">
                <a:solidFill>
                  <a:srgbClr val="FFFFFF"/>
                </a:solidFill>
                <a:latin typeface="Calibri" pitchFamily="34" charset="0"/>
                <a:ea typeface="Calibri" pitchFamily="34" charset="-122"/>
                <a:cs typeface="Calibri" pitchFamily="34" charset="-120"/>
              </a:rPr>
              <a:t>enough?</a:t>
            </a:r>
            <a:endParaRPr lang="en-US" sz="1080" dirty="0"/>
          </a:p>
        </p:txBody>
      </p:sp>
      <p:sp>
        <p:nvSpPr>
          <p:cNvPr id="92" name="Shape 71"/>
          <p:cNvSpPr/>
          <p:nvPr/>
        </p:nvSpPr>
        <p:spPr>
          <a:xfrm>
            <a:off x="16461257" y="3581591"/>
            <a:ext cx="1244727" cy="905256"/>
          </a:xfrm>
          <a:prstGeom prst="diamond">
            <a:avLst/>
          </a:prstGeom>
          <a:solidFill>
            <a:srgbClr val="2F5597"/>
          </a:solidFill>
          <a:ln w="15875">
            <a:solidFill>
              <a:srgbClr val="1F3864"/>
            </a:solidFill>
            <a:prstDash val="solid"/>
          </a:ln>
        </p:spPr>
      </p:sp>
      <p:sp>
        <p:nvSpPr>
          <p:cNvPr id="93" name="Text 72"/>
          <p:cNvSpPr txBox="1"/>
          <p:nvPr/>
        </p:nvSpPr>
        <p:spPr>
          <a:xfrm>
            <a:off x="16461257" y="3581591"/>
            <a:ext cx="1244727" cy="905256"/>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Critical or</a:t>
            </a:r>
            <a:endParaRPr lang="en-US" sz="1080" dirty="0"/>
          </a:p>
          <a:p>
            <a:pPr algn="ctr" indent="0" marL="0">
              <a:buNone/>
            </a:pPr>
            <a:r>
              <a:rPr lang="en-US" sz="1080" b="1" dirty="0">
                <a:solidFill>
                  <a:srgbClr val="FFFFFF"/>
                </a:solidFill>
                <a:latin typeface="Calibri" pitchFamily="34" charset="0"/>
                <a:ea typeface="Calibri" pitchFamily="34" charset="-122"/>
                <a:cs typeface="Calibri" pitchFamily="34" charset="-120"/>
              </a:rPr>
              <a:t>high?</a:t>
            </a:r>
            <a:endParaRPr lang="en-US" sz="1080" dirty="0"/>
          </a:p>
        </p:txBody>
      </p:sp>
      <p:sp>
        <p:nvSpPr>
          <p:cNvPr id="94" name="Text 73"/>
          <p:cNvSpPr txBox="1"/>
          <p:nvPr/>
        </p:nvSpPr>
        <p:spPr>
          <a:xfrm>
            <a:off x="14107592" y="3162910"/>
            <a:ext cx="342900" cy="160020"/>
          </a:xfrm>
          <a:prstGeom prst="rect">
            <a:avLst/>
          </a:prstGeom>
          <a:noFill/>
          <a:ln/>
        </p:spPr>
        <p:txBody>
          <a:bodyPr wrap="square" lIns="0" tIns="0" rIns="0" bIns="0" rtlCol="0" anchor="t"/>
          <a:lstStyle/>
          <a:p>
            <a:pPr algn="l" indent="0" marL="0">
              <a:buNone/>
            </a:pPr>
            <a:r>
              <a:rPr lang="en-US" sz="1080" b="1" dirty="0">
                <a:solidFill>
                  <a:srgbClr val="1F2937"/>
                </a:solidFill>
                <a:latin typeface="Calibri" pitchFamily="34" charset="0"/>
                <a:ea typeface="Calibri" pitchFamily="34" charset="-122"/>
                <a:cs typeface="Calibri" pitchFamily="34" charset="-120"/>
              </a:rPr>
              <a:t>Yes</a:t>
            </a:r>
            <a:endParaRPr lang="en-US" sz="1080" dirty="0"/>
          </a:p>
        </p:txBody>
      </p:sp>
      <p:sp>
        <p:nvSpPr>
          <p:cNvPr id="95" name="Text 74"/>
          <p:cNvSpPr txBox="1"/>
          <p:nvPr/>
        </p:nvSpPr>
        <p:spPr>
          <a:xfrm>
            <a:off x="13439966" y="2506599"/>
            <a:ext cx="342900" cy="160020"/>
          </a:xfrm>
          <a:prstGeom prst="rect">
            <a:avLst/>
          </a:prstGeom>
          <a:noFill/>
          <a:ln/>
        </p:spPr>
        <p:txBody>
          <a:bodyPr wrap="square" lIns="0" tIns="0" rIns="0" bIns="0" rtlCol="0" anchor="t"/>
          <a:lstStyle/>
          <a:p>
            <a:pPr algn="l" indent="0" marL="0">
              <a:buNone/>
            </a:pPr>
            <a:r>
              <a:rPr lang="en-US" sz="1080" b="1" dirty="0">
                <a:solidFill>
                  <a:srgbClr val="1F2937"/>
                </a:solidFill>
                <a:latin typeface="Calibri" pitchFamily="34" charset="0"/>
                <a:ea typeface="Calibri" pitchFamily="34" charset="-122"/>
                <a:cs typeface="Calibri" pitchFamily="34" charset="-120"/>
              </a:rPr>
              <a:t>No</a:t>
            </a:r>
            <a:endParaRPr lang="en-US" sz="1080" dirty="0"/>
          </a:p>
        </p:txBody>
      </p:sp>
      <p:sp>
        <p:nvSpPr>
          <p:cNvPr id="96" name="Text 75"/>
          <p:cNvSpPr txBox="1"/>
          <p:nvPr/>
        </p:nvSpPr>
        <p:spPr>
          <a:xfrm>
            <a:off x="17151515" y="3185541"/>
            <a:ext cx="342900" cy="160020"/>
          </a:xfrm>
          <a:prstGeom prst="rect">
            <a:avLst/>
          </a:prstGeom>
          <a:noFill/>
          <a:ln/>
        </p:spPr>
        <p:txBody>
          <a:bodyPr wrap="square" lIns="0" tIns="0" rIns="0" bIns="0" rtlCol="0" anchor="t"/>
          <a:lstStyle/>
          <a:p>
            <a:pPr algn="l" indent="0" marL="0">
              <a:buNone/>
            </a:pPr>
            <a:r>
              <a:rPr lang="en-US" sz="1080" b="1" dirty="0">
                <a:solidFill>
                  <a:srgbClr val="1F2937"/>
                </a:solidFill>
                <a:latin typeface="Calibri" pitchFamily="34" charset="0"/>
                <a:ea typeface="Calibri" pitchFamily="34" charset="-122"/>
                <a:cs typeface="Calibri" pitchFamily="34" charset="-120"/>
              </a:rPr>
              <a:t>Yes</a:t>
            </a:r>
            <a:endParaRPr lang="en-US" sz="1080" dirty="0"/>
          </a:p>
        </p:txBody>
      </p:sp>
      <p:sp>
        <p:nvSpPr>
          <p:cNvPr id="97" name="Text 76"/>
          <p:cNvSpPr txBox="1"/>
          <p:nvPr/>
        </p:nvSpPr>
        <p:spPr>
          <a:xfrm>
            <a:off x="17151515" y="4769739"/>
            <a:ext cx="342900" cy="160020"/>
          </a:xfrm>
          <a:prstGeom prst="rect">
            <a:avLst/>
          </a:prstGeom>
          <a:noFill/>
          <a:ln/>
        </p:spPr>
        <p:txBody>
          <a:bodyPr wrap="square" lIns="0" tIns="0" rIns="0" bIns="0" rtlCol="0" anchor="t"/>
          <a:lstStyle/>
          <a:p>
            <a:pPr algn="l" indent="0" marL="0">
              <a:buNone/>
            </a:pPr>
            <a:r>
              <a:rPr lang="en-US" sz="1080" b="1" dirty="0">
                <a:solidFill>
                  <a:srgbClr val="1F2937"/>
                </a:solidFill>
                <a:latin typeface="Calibri" pitchFamily="34" charset="0"/>
                <a:ea typeface="Calibri" pitchFamily="34" charset="-122"/>
                <a:cs typeface="Calibri" pitchFamily="34" charset="-120"/>
              </a:rPr>
              <a:t>No</a:t>
            </a:r>
            <a:endParaRPr lang="en-US" sz="1080" dirty="0"/>
          </a:p>
        </p:txBody>
      </p:sp>
      <p:sp>
        <p:nvSpPr>
          <p:cNvPr id="98" name="Text 77"/>
          <p:cNvSpPr txBox="1"/>
          <p:nvPr/>
        </p:nvSpPr>
        <p:spPr>
          <a:xfrm>
            <a:off x="8857107" y="5312893"/>
            <a:ext cx="4800600" cy="205740"/>
          </a:xfrm>
          <a:prstGeom prst="rect">
            <a:avLst/>
          </a:prstGeom>
          <a:noFill/>
          <a:ln/>
        </p:spPr>
        <p:txBody>
          <a:bodyPr wrap="square" lIns="0" tIns="0" rIns="0" bIns="0" rtlCol="0" anchor="t"/>
          <a:lstStyle/>
          <a:p>
            <a:pPr algn="l" indent="0" marL="0">
              <a:buNone/>
            </a:pPr>
            <a:r>
              <a:rPr lang="en-US" sz="1130" i="1" dirty="0">
                <a:solidFill>
                  <a:srgbClr val="4A5568"/>
                </a:solidFill>
                <a:latin typeface="Calibri" pitchFamily="34" charset="0"/>
                <a:ea typeface="Calibri" pitchFamily="34" charset="-122"/>
                <a:cs typeface="Calibri" pitchFamily="34" charset="-120"/>
              </a:rPr>
              <a:t>Same flow for an uploaded file and a live stream</a:t>
            </a:r>
            <a:endParaRPr lang="en-US" sz="1130" dirty="0"/>
          </a:p>
        </p:txBody>
      </p:sp>
      <p:sp>
        <p:nvSpPr>
          <p:cNvPr id="99" name="Text 78"/>
          <p:cNvSpPr txBox="1"/>
          <p:nvPr/>
        </p:nvSpPr>
        <p:spPr>
          <a:xfrm>
            <a:off x="8629650" y="6309360"/>
            <a:ext cx="9429750" cy="388620"/>
          </a:xfrm>
          <a:prstGeom prst="rect">
            <a:avLst/>
          </a:prstGeom>
          <a:noFill/>
          <a:ln/>
        </p:spPr>
        <p:txBody>
          <a:bodyPr wrap="square" lIns="0" tIns="0" rIns="0" bIns="0" rtlCol="0" anchor="ctr"/>
          <a:lstStyle/>
          <a:p>
            <a:pPr algn="ctr" indent="0" marL="0">
              <a:buNone/>
            </a:pPr>
            <a:r>
              <a:rPr lang="en-US" sz="1980" b="1" dirty="0">
                <a:solidFill>
                  <a:srgbClr val="1F2937"/>
                </a:solidFill>
                <a:latin typeface="Cambria" pitchFamily="34" charset="0"/>
                <a:ea typeface="Cambria" pitchFamily="34" charset="-122"/>
                <a:cs typeface="Cambria" pitchFamily="34" charset="-120"/>
              </a:rPr>
              <a:t>Innovation and Uniqueness</a:t>
            </a:r>
            <a:endParaRPr lang="en-US" sz="1980" dirty="0"/>
          </a:p>
        </p:txBody>
      </p:sp>
      <p:sp>
        <p:nvSpPr>
          <p:cNvPr id="100" name="Shape 79"/>
          <p:cNvSpPr/>
          <p:nvPr/>
        </p:nvSpPr>
        <p:spPr>
          <a:xfrm>
            <a:off x="13338810" y="6812280"/>
            <a:ext cx="11430" cy="2880360"/>
          </a:xfrm>
          <a:custGeom>
            <a:avLst/>
            <a:gdLst/>
            <a:ahLst/>
            <a:cxnLst/>
            <a:rect l="l" t="t" r="r" b="b"/>
            <a:pathLst>
              <a:path w="11430" h="2880360">
                <a:moveTo>
                  <a:pt x="0" y="0"/>
                </a:moveTo>
                <a:lnTo>
                  <a:pt x="0" y="2880360"/>
                </a:lnTo>
              </a:path>
            </a:pathLst>
          </a:custGeom>
          <a:solidFill>
            <a:srgbClr val="FFFFFF">
              <a:alpha val="0"/>
            </a:srgbClr>
          </a:solidFill>
          <a:ln w="23813">
            <a:solidFill>
              <a:srgbClr val="2B2B2B"/>
            </a:solidFill>
            <a:prstDash val="solid"/>
          </a:ln>
        </p:spPr>
      </p:sp>
      <p:sp>
        <p:nvSpPr>
          <p:cNvPr id="101" name="Shape 80"/>
          <p:cNvSpPr/>
          <p:nvPr/>
        </p:nvSpPr>
        <p:spPr>
          <a:xfrm>
            <a:off x="8743950" y="8252460"/>
            <a:ext cx="9201150" cy="11430"/>
          </a:xfrm>
          <a:custGeom>
            <a:avLst/>
            <a:gdLst/>
            <a:ahLst/>
            <a:cxnLst/>
            <a:rect l="l" t="t" r="r" b="b"/>
            <a:pathLst>
              <a:path w="9201150" h="11430">
                <a:moveTo>
                  <a:pt x="0" y="0"/>
                </a:moveTo>
                <a:lnTo>
                  <a:pt x="9201150" y="0"/>
                </a:lnTo>
              </a:path>
            </a:pathLst>
          </a:custGeom>
          <a:solidFill>
            <a:srgbClr val="FFFFFF">
              <a:alpha val="0"/>
            </a:srgbClr>
          </a:solidFill>
          <a:ln w="23813">
            <a:solidFill>
              <a:srgbClr val="2B2B2B"/>
            </a:solidFill>
            <a:prstDash val="solid"/>
          </a:ln>
        </p:spPr>
      </p:sp>
      <p:pic>
        <p:nvPicPr>
          <p:cNvPr id="102" name="Image 19" descr="/tmp/claude-0/-home-claude/93d9ffac-b36b-5188-b616-7fa3cd4c3901/scratchpad/x/ppt/media/image7.png">    </p:cNvPr>
          <p:cNvPicPr>
            <a:picLocks noChangeAspect="1"/>
          </p:cNvPicPr>
          <p:nvPr/>
        </p:nvPicPr>
        <p:blipFill>
          <a:blip r:embed="rId20"/>
          <a:srcRect l="0" r="0" t="0" b="0"/>
          <a:stretch/>
        </p:blipFill>
        <p:spPr>
          <a:xfrm>
            <a:off x="8743950" y="6949440"/>
            <a:ext cx="640080" cy="640080"/>
          </a:xfrm>
          <a:prstGeom prst="rect">
            <a:avLst/>
          </a:prstGeom>
        </p:spPr>
      </p:pic>
      <p:sp>
        <p:nvSpPr>
          <p:cNvPr id="103" name="Text 81"/>
          <p:cNvSpPr txBox="1"/>
          <p:nvPr/>
        </p:nvSpPr>
        <p:spPr>
          <a:xfrm>
            <a:off x="9521190" y="6858000"/>
            <a:ext cx="3680460" cy="320040"/>
          </a:xfrm>
          <a:prstGeom prst="rect">
            <a:avLst/>
          </a:prstGeom>
          <a:noFill/>
          <a:ln/>
        </p:spPr>
        <p:txBody>
          <a:bodyPr wrap="square" lIns="0" tIns="0" rIns="0" bIns="0" rtlCol="0" anchor="ctr"/>
          <a:lstStyle/>
          <a:p>
            <a:pPr algn="l" indent="0" marL="0">
              <a:buNone/>
            </a:pPr>
            <a:r>
              <a:rPr lang="en-US" sz="1670" b="1" u="sng" dirty="0">
                <a:solidFill>
                  <a:srgbClr val="B4531A"/>
                </a:solidFill>
                <a:latin typeface="Calibri" pitchFamily="34" charset="0"/>
                <a:ea typeface="Calibri" pitchFamily="34" charset="-122"/>
                <a:cs typeface="Calibri" pitchFamily="34" charset="-120"/>
              </a:rPr>
              <a:t>No keys needed</a:t>
            </a:r>
            <a:endParaRPr lang="en-US" sz="1670" dirty="0"/>
          </a:p>
        </p:txBody>
      </p:sp>
      <p:sp>
        <p:nvSpPr>
          <p:cNvPr id="104" name="Text 82"/>
          <p:cNvSpPr txBox="1"/>
          <p:nvPr/>
        </p:nvSpPr>
        <p:spPr>
          <a:xfrm>
            <a:off x="9521190" y="7200900"/>
            <a:ext cx="3680460" cy="914400"/>
          </a:xfrm>
          <a:prstGeom prst="rect">
            <a:avLst/>
          </a:prstGeom>
          <a:noFill/>
          <a:ln/>
        </p:spPr>
        <p:txBody>
          <a:bodyPr wrap="square" lIns="0" tIns="0" rIns="0" bIns="0" rtlCol="0" anchor="t"/>
          <a:lstStyle/>
          <a:p>
            <a:pPr algn="l" indent="0" marL="0">
              <a:lnSpc>
                <a:spcPct val="102000"/>
              </a:lnSpc>
              <a:buNone/>
            </a:pPr>
            <a:r>
              <a:rPr lang="en-US" sz="1400" b="1" dirty="0">
                <a:solidFill>
                  <a:srgbClr val="1F2937"/>
                </a:solidFill>
                <a:latin typeface="Calibri" pitchFamily="34" charset="0"/>
                <a:ea typeface="Calibri" pitchFamily="34" charset="-122"/>
                <a:cs typeface="Calibri" pitchFamily="34" charset="-120"/>
              </a:rPr>
              <a:t>We only read captured packets. Nothing is decrypted and the VPN is not touched.</a:t>
            </a:r>
            <a:endParaRPr lang="en-US" sz="1400" dirty="0"/>
          </a:p>
        </p:txBody>
      </p:sp>
      <p:pic>
        <p:nvPicPr>
          <p:cNvPr id="105" name="Image 20" descr="/tmp/claude-0/-home-claude/93d9ffac-b36b-5188-b616-7fa3cd4c3901/scratchpad/x/ppt/media/image9.png">    </p:cNvPr>
          <p:cNvPicPr>
            <a:picLocks noChangeAspect="1"/>
          </p:cNvPicPr>
          <p:nvPr/>
        </p:nvPicPr>
        <p:blipFill>
          <a:blip r:embed="rId21"/>
          <a:srcRect l="0" r="0" t="0" b="0"/>
          <a:stretch/>
        </p:blipFill>
        <p:spPr>
          <a:xfrm>
            <a:off x="13487400" y="6949440"/>
            <a:ext cx="640080" cy="640080"/>
          </a:xfrm>
          <a:prstGeom prst="rect">
            <a:avLst/>
          </a:prstGeom>
        </p:spPr>
      </p:pic>
      <p:sp>
        <p:nvSpPr>
          <p:cNvPr id="106" name="Text 83"/>
          <p:cNvSpPr txBox="1"/>
          <p:nvPr/>
        </p:nvSpPr>
        <p:spPr>
          <a:xfrm>
            <a:off x="14264640" y="6858000"/>
            <a:ext cx="3680460" cy="320040"/>
          </a:xfrm>
          <a:prstGeom prst="rect">
            <a:avLst/>
          </a:prstGeom>
          <a:noFill/>
          <a:ln/>
        </p:spPr>
        <p:txBody>
          <a:bodyPr wrap="square" lIns="0" tIns="0" rIns="0" bIns="0" rtlCol="0" anchor="ctr"/>
          <a:lstStyle/>
          <a:p>
            <a:pPr algn="l" indent="0" marL="0">
              <a:buNone/>
            </a:pPr>
            <a:r>
              <a:rPr lang="en-US" sz="1670" b="1" u="sng" dirty="0">
                <a:solidFill>
                  <a:srgbClr val="B4531A"/>
                </a:solidFill>
                <a:latin typeface="Calibri" pitchFamily="34" charset="0"/>
                <a:ea typeface="Calibri" pitchFamily="34" charset="-122"/>
                <a:cs typeface="Calibri" pitchFamily="34" charset="-120"/>
              </a:rPr>
              <a:t>Honest confidence</a:t>
            </a:r>
            <a:endParaRPr lang="en-US" sz="1670" dirty="0"/>
          </a:p>
        </p:txBody>
      </p:sp>
      <p:sp>
        <p:nvSpPr>
          <p:cNvPr id="107" name="Text 84"/>
          <p:cNvSpPr txBox="1"/>
          <p:nvPr/>
        </p:nvSpPr>
        <p:spPr>
          <a:xfrm>
            <a:off x="14264640" y="7200900"/>
            <a:ext cx="3680460" cy="914400"/>
          </a:xfrm>
          <a:prstGeom prst="rect">
            <a:avLst/>
          </a:prstGeom>
          <a:noFill/>
          <a:ln/>
        </p:spPr>
        <p:txBody>
          <a:bodyPr wrap="square" lIns="0" tIns="0" rIns="0" bIns="0" rtlCol="0" anchor="t"/>
          <a:lstStyle/>
          <a:p>
            <a:pPr algn="l" indent="0" marL="0">
              <a:lnSpc>
                <a:spcPct val="102000"/>
              </a:lnSpc>
              <a:buNone/>
            </a:pPr>
            <a:r>
              <a:rPr lang="en-US" sz="1400" b="1" dirty="0">
                <a:solidFill>
                  <a:srgbClr val="1F2937"/>
                </a:solidFill>
                <a:latin typeface="Calibri" pitchFamily="34" charset="0"/>
                <a:ea typeface="Calibri" pitchFamily="34" charset="-122"/>
                <a:cs typeface="Calibri" pitchFamily="34" charset="-120"/>
              </a:rPr>
              <a:t>Every value shows its packet proof, or is marked “not observable”.</a:t>
            </a:r>
            <a:endParaRPr lang="en-US" sz="1400" dirty="0"/>
          </a:p>
        </p:txBody>
      </p:sp>
      <p:pic>
        <p:nvPicPr>
          <p:cNvPr id="108" name="Image 21" descr="/tmp/claude-0/-home-claude/93d9ffac-b36b-5188-b616-7fa3cd4c3901/scratchpad/x/ppt/media/image10.png">    </p:cNvPr>
          <p:cNvPicPr>
            <a:picLocks noChangeAspect="1"/>
          </p:cNvPicPr>
          <p:nvPr/>
        </p:nvPicPr>
        <p:blipFill>
          <a:blip r:embed="rId22"/>
          <a:srcRect l="0" r="0" t="0" b="0"/>
          <a:stretch/>
        </p:blipFill>
        <p:spPr>
          <a:xfrm>
            <a:off x="8743950" y="8435340"/>
            <a:ext cx="640080" cy="640080"/>
          </a:xfrm>
          <a:prstGeom prst="rect">
            <a:avLst/>
          </a:prstGeom>
        </p:spPr>
      </p:pic>
      <p:sp>
        <p:nvSpPr>
          <p:cNvPr id="109" name="Text 85"/>
          <p:cNvSpPr txBox="1"/>
          <p:nvPr/>
        </p:nvSpPr>
        <p:spPr>
          <a:xfrm>
            <a:off x="9521190" y="8343900"/>
            <a:ext cx="3680460" cy="320040"/>
          </a:xfrm>
          <a:prstGeom prst="rect">
            <a:avLst/>
          </a:prstGeom>
          <a:noFill/>
          <a:ln/>
        </p:spPr>
        <p:txBody>
          <a:bodyPr wrap="square" lIns="0" tIns="0" rIns="0" bIns="0" rtlCol="0" anchor="ctr"/>
          <a:lstStyle/>
          <a:p>
            <a:pPr algn="l" indent="0" marL="0">
              <a:buNone/>
            </a:pPr>
            <a:r>
              <a:rPr lang="en-US" sz="1670" b="1" u="sng" dirty="0">
                <a:solidFill>
                  <a:srgbClr val="B4531A"/>
                </a:solidFill>
                <a:latin typeface="Calibri" pitchFamily="34" charset="0"/>
                <a:ea typeface="Calibri" pitchFamily="34" charset="-122"/>
                <a:cs typeface="Calibri" pitchFamily="34" charset="-120"/>
              </a:rPr>
              <a:t>Works on noisy networks</a:t>
            </a:r>
            <a:endParaRPr lang="en-US" sz="1670" dirty="0"/>
          </a:p>
        </p:txBody>
      </p:sp>
      <p:sp>
        <p:nvSpPr>
          <p:cNvPr id="110" name="Text 86"/>
          <p:cNvSpPr txBox="1"/>
          <p:nvPr/>
        </p:nvSpPr>
        <p:spPr>
          <a:xfrm>
            <a:off x="9521190" y="8686800"/>
            <a:ext cx="3680460" cy="914400"/>
          </a:xfrm>
          <a:prstGeom prst="rect">
            <a:avLst/>
          </a:prstGeom>
          <a:noFill/>
          <a:ln/>
        </p:spPr>
        <p:txBody>
          <a:bodyPr wrap="square" lIns="0" tIns="0" rIns="0" bIns="0" rtlCol="0" anchor="t"/>
          <a:lstStyle/>
          <a:p>
            <a:pPr algn="l" indent="0" marL="0">
              <a:lnSpc>
                <a:spcPct val="102000"/>
              </a:lnSpc>
              <a:buNone/>
            </a:pPr>
            <a:r>
              <a:rPr lang="en-US" sz="1400" b="1" dirty="0">
                <a:solidFill>
                  <a:srgbClr val="1F2937"/>
                </a:solidFill>
                <a:latin typeface="Calibri" pitchFamily="34" charset="0"/>
                <a:ea typeface="Calibri" pitchFamily="34" charset="-122"/>
                <a:cs typeface="Calibri" pitchFamily="34" charset="-120"/>
              </a:rPr>
              <a:t>Trained with jitter and loss: 90.1% vs 64.9% for a normal model.</a:t>
            </a:r>
            <a:endParaRPr lang="en-US" sz="1400" dirty="0"/>
          </a:p>
        </p:txBody>
      </p:sp>
      <p:pic>
        <p:nvPicPr>
          <p:cNvPr id="111" name="Image 22" descr="/tmp/claude-0/-home-claude/93d9ffac-b36b-5188-b616-7fa3cd4c3901/scratchpad/x/ppt/media/image8.png">    </p:cNvPr>
          <p:cNvPicPr>
            <a:picLocks noChangeAspect="1"/>
          </p:cNvPicPr>
          <p:nvPr/>
        </p:nvPicPr>
        <p:blipFill>
          <a:blip r:embed="rId23"/>
          <a:srcRect l="0" r="0" t="0" b="0"/>
          <a:stretch/>
        </p:blipFill>
        <p:spPr>
          <a:xfrm>
            <a:off x="13487400" y="8435340"/>
            <a:ext cx="640080" cy="640080"/>
          </a:xfrm>
          <a:prstGeom prst="rect">
            <a:avLst/>
          </a:prstGeom>
        </p:spPr>
      </p:pic>
      <p:sp>
        <p:nvSpPr>
          <p:cNvPr id="112" name="Text 87"/>
          <p:cNvSpPr txBox="1"/>
          <p:nvPr/>
        </p:nvSpPr>
        <p:spPr>
          <a:xfrm>
            <a:off x="14264640" y="8343900"/>
            <a:ext cx="3680460" cy="320040"/>
          </a:xfrm>
          <a:prstGeom prst="rect">
            <a:avLst/>
          </a:prstGeom>
          <a:noFill/>
          <a:ln/>
        </p:spPr>
        <p:txBody>
          <a:bodyPr wrap="square" lIns="0" tIns="0" rIns="0" bIns="0" rtlCol="0" anchor="ctr"/>
          <a:lstStyle/>
          <a:p>
            <a:pPr algn="l" indent="0" marL="0">
              <a:buNone/>
            </a:pPr>
            <a:r>
              <a:rPr lang="en-US" sz="1670" b="1" u="sng" dirty="0">
                <a:solidFill>
                  <a:srgbClr val="B4531A"/>
                </a:solidFill>
                <a:latin typeface="Calibri" pitchFamily="34" charset="0"/>
                <a:ea typeface="Calibri" pitchFamily="34" charset="-122"/>
                <a:cs typeface="Calibri" pitchFamily="34" charset="-120"/>
              </a:rPr>
              <a:t>Live in about 3 seconds</a:t>
            </a:r>
            <a:endParaRPr lang="en-US" sz="1670" dirty="0"/>
          </a:p>
        </p:txBody>
      </p:sp>
      <p:sp>
        <p:nvSpPr>
          <p:cNvPr id="113" name="Text 88"/>
          <p:cNvSpPr txBox="1"/>
          <p:nvPr/>
        </p:nvSpPr>
        <p:spPr>
          <a:xfrm>
            <a:off x="14264640" y="8686800"/>
            <a:ext cx="3680460" cy="914400"/>
          </a:xfrm>
          <a:prstGeom prst="rect">
            <a:avLst/>
          </a:prstGeom>
          <a:noFill/>
          <a:ln/>
        </p:spPr>
        <p:txBody>
          <a:bodyPr wrap="square" lIns="0" tIns="0" rIns="0" bIns="0" rtlCol="0" anchor="t"/>
          <a:lstStyle/>
          <a:p>
            <a:pPr algn="l" indent="0" marL="0">
              <a:lnSpc>
                <a:spcPct val="102000"/>
              </a:lnSpc>
              <a:buNone/>
            </a:pPr>
            <a:r>
              <a:rPr lang="en-US" sz="1400" b="1" dirty="0">
                <a:solidFill>
                  <a:srgbClr val="1F2937"/>
                </a:solidFill>
                <a:latin typeface="Calibri" pitchFamily="34" charset="0"/>
                <a:ea typeface="Calibri" pitchFamily="34" charset="-122"/>
                <a:cs typeface="Calibri" pitchFamily="34" charset="-120"/>
              </a:rPr>
              <a:t>Live alerts match the final offline report exactly.</a:t>
            </a:r>
            <a:endParaRPr lang="en-US" sz="1400" dirty="0"/>
          </a:p>
        </p:txBody>
      </p:sp>
      <p:sp>
        <p:nvSpPr>
          <p:cNvPr id="114" name="Shape 89"/>
          <p:cNvSpPr/>
          <p:nvPr/>
        </p:nvSpPr>
        <p:spPr>
          <a:xfrm>
            <a:off x="0" y="9852660"/>
            <a:ext cx="18288000" cy="434340"/>
          </a:xfrm>
          <a:prstGeom prst="rect">
            <a:avLst/>
          </a:prstGeom>
          <a:solidFill>
            <a:srgbClr val="1565C0"/>
          </a:solidFill>
          <a:ln/>
        </p:spPr>
      </p:sp>
      <p:sp>
        <p:nvSpPr>
          <p:cNvPr id="115" name="Text 90"/>
          <p:cNvSpPr txBox="1"/>
          <p:nvPr/>
        </p:nvSpPr>
        <p:spPr>
          <a:xfrm>
            <a:off x="4572000" y="9852660"/>
            <a:ext cx="9144000" cy="434340"/>
          </a:xfrm>
          <a:prstGeom prst="rect">
            <a:avLst/>
          </a:prstGeom>
          <a:noFill/>
          <a:ln/>
        </p:spPr>
        <p:txBody>
          <a:bodyPr wrap="square" lIns="0" tIns="0" rIns="0" bIns="0" rtlCol="0" anchor="ctr"/>
          <a:lstStyle/>
          <a:p>
            <a:pPr algn="ctr" indent="0" marL="0">
              <a:buNone/>
            </a:pPr>
            <a:r>
              <a:rPr lang="en-US" sz="1440" b="1" spc="100" kern="0" dirty="0">
                <a:solidFill>
                  <a:srgbClr val="FFFFFF"/>
                </a:solidFill>
                <a:latin typeface="Cambria" pitchFamily="34" charset="0"/>
                <a:ea typeface="Cambria" pitchFamily="34" charset="-122"/>
                <a:cs typeface="Cambria" pitchFamily="34" charset="-120"/>
              </a:rPr>
              <a:t>SMART INDIA HACKATHON 2026</a:t>
            </a:r>
            <a:endParaRPr lang="en-US" sz="1440" dirty="0"/>
          </a:p>
        </p:txBody>
      </p:sp>
      <p:sp>
        <p:nvSpPr>
          <p:cNvPr id="116" name="Text 91"/>
          <p:cNvSpPr txBox="1"/>
          <p:nvPr/>
        </p:nvSpPr>
        <p:spPr>
          <a:xfrm>
            <a:off x="17145000" y="9852660"/>
            <a:ext cx="685800" cy="434340"/>
          </a:xfrm>
          <a:prstGeom prst="rect">
            <a:avLst/>
          </a:prstGeom>
          <a:noFill/>
          <a:ln/>
        </p:spPr>
        <p:txBody>
          <a:bodyPr wrap="square" lIns="0" tIns="0" rIns="0" bIns="0" rtlCol="0" anchor="ctr"/>
          <a:lstStyle/>
          <a:p>
            <a:pPr algn="r" indent="0" marL="0">
              <a:buNone/>
            </a:pPr>
            <a:r>
              <a:rPr lang="en-US" sz="1440" b="1" dirty="0">
                <a:solidFill>
                  <a:srgbClr val="FFFFFF"/>
                </a:solidFill>
                <a:latin typeface="Cambria" pitchFamily="34" charset="0"/>
                <a:ea typeface="Cambria" pitchFamily="34" charset="-122"/>
                <a:cs typeface="Cambria" pitchFamily="34" charset="-120"/>
              </a:rPr>
              <a:t>2</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team.jpg">    </p:cNvPr>
          <p:cNvPicPr>
            <a:picLocks noChangeAspect="1"/>
          </p:cNvPicPr>
          <p:nvPr/>
        </p:nvPicPr>
        <p:blipFill>
          <a:blip r:embed="rId1"/>
          <a:stretch>
            <a:fillRect/>
          </a:stretch>
        </p:blipFill>
        <p:spPr>
          <a:xfrm>
            <a:off x="205740" y="91440"/>
            <a:ext cx="982980" cy="982980"/>
          </a:xfrm>
          <a:prstGeom prst="rect">
            <a:avLst/>
          </a:prstGeom>
        </p:spPr>
      </p:pic>
      <p:pic>
        <p:nvPicPr>
          <p:cNvPr id="3" name="Image 1" descr="/tmp/claude-0/-home-claude/93d9ffac-b36b-5188-b616-7fa3cd4c3901/scratchpad/assets/sih2026.png">    </p:cNvPr>
          <p:cNvPicPr>
            <a:picLocks noChangeAspect="1"/>
          </p:cNvPicPr>
          <p:nvPr/>
        </p:nvPicPr>
        <p:blipFill>
          <a:blip r:embed="rId2"/>
          <a:stretch>
            <a:fillRect/>
          </a:stretch>
        </p:blipFill>
        <p:spPr>
          <a:xfrm>
            <a:off x="15841980" y="68580"/>
            <a:ext cx="2240280" cy="1051560"/>
          </a:xfrm>
          <a:prstGeom prst="rect">
            <a:avLst/>
          </a:prstGeom>
        </p:spPr>
      </p:pic>
      <p:sp>
        <p:nvSpPr>
          <p:cNvPr id="4" name="Text 0"/>
          <p:cNvSpPr txBox="1"/>
          <p:nvPr/>
        </p:nvSpPr>
        <p:spPr>
          <a:xfrm>
            <a:off x="2857500" y="160020"/>
            <a:ext cx="12573000" cy="731520"/>
          </a:xfrm>
          <a:prstGeom prst="rect">
            <a:avLst/>
          </a:prstGeom>
          <a:noFill/>
          <a:ln/>
        </p:spPr>
        <p:txBody>
          <a:bodyPr wrap="square" lIns="0" tIns="0" rIns="0" bIns="0" rtlCol="0" anchor="ctr"/>
          <a:lstStyle/>
          <a:p>
            <a:pPr algn="ctr" indent="0" marL="0">
              <a:buNone/>
            </a:pPr>
            <a:r>
              <a:rPr lang="en-US" sz="4140" b="1" spc="100" kern="0" dirty="0">
                <a:solidFill>
                  <a:srgbClr val="1F2937"/>
                </a:solidFill>
                <a:latin typeface="Cambria" pitchFamily="34" charset="0"/>
                <a:ea typeface="Cambria" pitchFamily="34" charset="-122"/>
                <a:cs typeface="Cambria" pitchFamily="34" charset="-120"/>
              </a:rPr>
              <a:t>TECHNICAL APPROACH</a:t>
            </a:r>
            <a:endParaRPr lang="en-US" sz="4140" dirty="0"/>
          </a:p>
        </p:txBody>
      </p:sp>
      <p:sp>
        <p:nvSpPr>
          <p:cNvPr id="5" name="Text 1"/>
          <p:cNvSpPr txBox="1"/>
          <p:nvPr/>
        </p:nvSpPr>
        <p:spPr>
          <a:xfrm>
            <a:off x="2857500" y="845820"/>
            <a:ext cx="12573000" cy="297180"/>
          </a:xfrm>
          <a:prstGeom prst="rect">
            <a:avLst/>
          </a:prstGeom>
          <a:noFill/>
          <a:ln/>
        </p:spPr>
        <p:txBody>
          <a:bodyPr wrap="square" lIns="0" tIns="0" rIns="0" bIns="0" rtlCol="0" anchor="ctr"/>
          <a:lstStyle/>
          <a:p>
            <a:pPr algn="ctr" indent="0" marL="0">
              <a:buNone/>
            </a:pPr>
            <a:r>
              <a:rPr lang="en-US" sz="1620" i="1" dirty="0">
                <a:solidFill>
                  <a:srgbClr val="4A5568"/>
                </a:solidFill>
                <a:latin typeface="Cambria" pitchFamily="34" charset="0"/>
                <a:ea typeface="Cambria" pitchFamily="34" charset="-122"/>
                <a:cs typeface="Cambria" pitchFamily="34" charset="-120"/>
              </a:rPr>
              <a:t>System design of SecurIQ: runs on one laptop or an on-prem server, fully offline</a:t>
            </a:r>
            <a:endParaRPr lang="en-US" sz="1620" dirty="0"/>
          </a:p>
        </p:txBody>
      </p:sp>
      <p:sp>
        <p:nvSpPr>
          <p:cNvPr id="6" name="Shape 2"/>
          <p:cNvSpPr/>
          <p:nvPr/>
        </p:nvSpPr>
        <p:spPr>
          <a:xfrm>
            <a:off x="182880" y="1188720"/>
            <a:ext cx="17922240" cy="5097780"/>
          </a:xfrm>
          <a:prstGeom prst="roundRect">
            <a:avLst>
              <a:gd name="adj" fmla="val 2242"/>
            </a:avLst>
          </a:prstGeom>
          <a:solidFill>
            <a:srgbClr val="FFFFFF"/>
          </a:solidFill>
          <a:ln w="15875">
            <a:solidFill>
              <a:srgbClr val="D1D5DB"/>
            </a:solidFill>
            <a:prstDash val="solid"/>
          </a:ln>
        </p:spPr>
      </p:sp>
      <p:sp>
        <p:nvSpPr>
          <p:cNvPr id="7" name="Text 3"/>
          <p:cNvSpPr txBox="1"/>
          <p:nvPr/>
        </p:nvSpPr>
        <p:spPr>
          <a:xfrm>
            <a:off x="342900" y="1234440"/>
            <a:ext cx="4572000" cy="251460"/>
          </a:xfrm>
          <a:prstGeom prst="rect">
            <a:avLst/>
          </a:prstGeom>
          <a:noFill/>
          <a:ln/>
        </p:spPr>
        <p:txBody>
          <a:bodyPr wrap="square" lIns="0" tIns="0" rIns="0" bIns="0" rtlCol="0" anchor="ctr"/>
          <a:lstStyle/>
          <a:p>
            <a:pPr algn="l" indent="0" marL="0">
              <a:buNone/>
            </a:pPr>
            <a:r>
              <a:rPr lang="en-US" sz="1400" b="1" dirty="0">
                <a:solidFill>
                  <a:srgbClr val="1B3A6B"/>
                </a:solidFill>
                <a:latin typeface="Calibri" pitchFamily="34" charset="0"/>
                <a:ea typeface="Calibri" pitchFamily="34" charset="-122"/>
                <a:cs typeface="Calibri" pitchFamily="34" charset="-120"/>
              </a:rPr>
              <a:t>1 · System architecture</a:t>
            </a:r>
            <a:endParaRPr lang="en-US" sz="1400" dirty="0"/>
          </a:p>
        </p:txBody>
      </p:sp>
      <p:pic>
        <p:nvPicPr>
          <p:cNvPr id="8" name="Image 2" descr="/tmp/claude-0/-home-claude/93d9ffac-b36b-5188-b616-7fa3cd4c3901/scratchpad/diag/d1_arch.png">    </p:cNvPr>
          <p:cNvPicPr>
            <a:picLocks noChangeAspect="1"/>
          </p:cNvPicPr>
          <p:nvPr/>
        </p:nvPicPr>
        <p:blipFill>
          <a:blip r:embed="rId3"/>
          <a:stretch>
            <a:fillRect/>
          </a:stretch>
        </p:blipFill>
        <p:spPr>
          <a:xfrm>
            <a:off x="1085850" y="1485900"/>
            <a:ext cx="16116300" cy="4774620"/>
          </a:xfrm>
          <a:prstGeom prst="rect">
            <a:avLst/>
          </a:prstGeom>
        </p:spPr>
      </p:pic>
      <p:sp>
        <p:nvSpPr>
          <p:cNvPr id="9" name="Shape 4"/>
          <p:cNvSpPr/>
          <p:nvPr/>
        </p:nvSpPr>
        <p:spPr>
          <a:xfrm>
            <a:off x="182880" y="6400800"/>
            <a:ext cx="7543800" cy="3337560"/>
          </a:xfrm>
          <a:prstGeom prst="roundRect">
            <a:avLst>
              <a:gd name="adj" fmla="val 3425"/>
            </a:avLst>
          </a:prstGeom>
          <a:solidFill>
            <a:srgbClr val="FFFFFF"/>
          </a:solidFill>
          <a:ln w="15875">
            <a:solidFill>
              <a:srgbClr val="D1D5DB"/>
            </a:solidFill>
            <a:prstDash val="solid"/>
          </a:ln>
        </p:spPr>
      </p:sp>
      <p:sp>
        <p:nvSpPr>
          <p:cNvPr id="10" name="Text 5"/>
          <p:cNvSpPr txBox="1"/>
          <p:nvPr/>
        </p:nvSpPr>
        <p:spPr>
          <a:xfrm>
            <a:off x="342900" y="6446520"/>
            <a:ext cx="5715000" cy="251460"/>
          </a:xfrm>
          <a:prstGeom prst="rect">
            <a:avLst/>
          </a:prstGeom>
          <a:noFill/>
          <a:ln/>
        </p:spPr>
        <p:txBody>
          <a:bodyPr wrap="square" lIns="0" tIns="0" rIns="0" bIns="0" rtlCol="0" anchor="ctr"/>
          <a:lstStyle/>
          <a:p>
            <a:pPr algn="l" indent="0" marL="0">
              <a:buNone/>
            </a:pPr>
            <a:r>
              <a:rPr lang="en-US" sz="1400" b="1" dirty="0">
                <a:solidFill>
                  <a:srgbClr val="1B3A6B"/>
                </a:solidFill>
                <a:latin typeface="Calibri" pitchFamily="34" charset="0"/>
                <a:ea typeface="Calibri" pitchFamily="34" charset="-122"/>
                <a:cs typeface="Calibri" pitchFamily="34" charset="-120"/>
              </a:rPr>
              <a:t>2 · Inside the analysis engine</a:t>
            </a:r>
            <a:endParaRPr lang="en-US" sz="1400" dirty="0"/>
          </a:p>
        </p:txBody>
      </p:sp>
      <p:pic>
        <p:nvPicPr>
          <p:cNvPr id="11" name="Image 3" descr="/tmp/claude-0/-home-claude/93d9ffac-b36b-5188-b616-7fa3cd4c3901/scratchpad/diag/d2_engine.png">    </p:cNvPr>
          <p:cNvPicPr>
            <a:picLocks noChangeAspect="1"/>
          </p:cNvPicPr>
          <p:nvPr/>
        </p:nvPicPr>
        <p:blipFill>
          <a:blip r:embed="rId4"/>
          <a:stretch>
            <a:fillRect/>
          </a:stretch>
        </p:blipFill>
        <p:spPr>
          <a:xfrm>
            <a:off x="743242" y="6720840"/>
            <a:ext cx="6423077" cy="2948940"/>
          </a:xfrm>
          <a:prstGeom prst="rect">
            <a:avLst/>
          </a:prstGeom>
        </p:spPr>
      </p:pic>
      <p:sp>
        <p:nvSpPr>
          <p:cNvPr id="12" name="Shape 6"/>
          <p:cNvSpPr/>
          <p:nvPr/>
        </p:nvSpPr>
        <p:spPr>
          <a:xfrm>
            <a:off x="7863840" y="6400800"/>
            <a:ext cx="5692140" cy="3337560"/>
          </a:xfrm>
          <a:prstGeom prst="roundRect">
            <a:avLst>
              <a:gd name="adj" fmla="val 3425"/>
            </a:avLst>
          </a:prstGeom>
          <a:solidFill>
            <a:srgbClr val="F8FAFC"/>
          </a:solidFill>
          <a:ln w="15875">
            <a:solidFill>
              <a:srgbClr val="D1D5DB"/>
            </a:solidFill>
            <a:prstDash val="solid"/>
          </a:ln>
        </p:spPr>
      </p:sp>
      <p:sp>
        <p:nvSpPr>
          <p:cNvPr id="13" name="Text 7"/>
          <p:cNvSpPr txBox="1"/>
          <p:nvPr/>
        </p:nvSpPr>
        <p:spPr>
          <a:xfrm>
            <a:off x="8023860" y="6446520"/>
            <a:ext cx="5372100" cy="251460"/>
          </a:xfrm>
          <a:prstGeom prst="rect">
            <a:avLst/>
          </a:prstGeom>
          <a:noFill/>
          <a:ln/>
        </p:spPr>
        <p:txBody>
          <a:bodyPr wrap="square" lIns="0" tIns="0" rIns="0" bIns="0" rtlCol="0" anchor="ctr"/>
          <a:lstStyle/>
          <a:p>
            <a:pPr algn="l" indent="0" marL="0">
              <a:buNone/>
            </a:pPr>
            <a:r>
              <a:rPr lang="en-US" sz="1400" b="1" dirty="0">
                <a:solidFill>
                  <a:srgbClr val="1B3A6B"/>
                </a:solidFill>
                <a:latin typeface="Calibri" pitchFamily="34" charset="0"/>
                <a:ea typeface="Calibri" pitchFamily="34" charset="-122"/>
                <a:cs typeface="Calibri" pitchFamily="34" charset="-120"/>
              </a:rPr>
              <a:t>3 · Why we designed it this way</a:t>
            </a:r>
            <a:endParaRPr lang="en-US" sz="1400" dirty="0"/>
          </a:p>
        </p:txBody>
      </p:sp>
      <p:sp>
        <p:nvSpPr>
          <p:cNvPr id="14" name="Text 8"/>
          <p:cNvSpPr txBox="1"/>
          <p:nvPr/>
        </p:nvSpPr>
        <p:spPr>
          <a:xfrm>
            <a:off x="8023860" y="6789420"/>
            <a:ext cx="5417820" cy="2880360"/>
          </a:xfrm>
          <a:prstGeom prst="rect">
            <a:avLst/>
          </a:prstGeom>
          <a:noFill/>
          <a:ln/>
        </p:spPr>
        <p:txBody>
          <a:bodyPr wrap="square" lIns="0" tIns="0" rIns="0" bIns="0" rtlCol="0" anchor="t"/>
          <a:lstStyle/>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Passive + keyless: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plugs into any mirror port without touching the VPN.</a:t>
            </a:r>
            <a:endParaRPr lang="en-US" sz="1440" dirty="0"/>
          </a:p>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Tree ensemble, not deep learning: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explainable, fast on CPU, fits our data size.</a:t>
            </a:r>
            <a:endParaRPr lang="en-US" sz="1440" dirty="0"/>
          </a:p>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Same feature code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for training and live, so live = final report.</a:t>
            </a:r>
            <a:endParaRPr lang="en-US" sz="1440" dirty="0"/>
          </a:p>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Rules separate from ML: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RFC / NIST updates need no retraining.</a:t>
            </a:r>
            <a:endParaRPr lang="en-US" sz="1440" dirty="0"/>
          </a:p>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SSE for live events: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one-way push that reconnects by itself.</a:t>
            </a:r>
            <a:endParaRPr lang="en-US" sz="1440" dirty="0"/>
          </a:p>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Local JSON storage: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works air-gapped and is easy to audit.</a:t>
            </a:r>
            <a:endParaRPr lang="en-US" sz="1440" dirty="0"/>
          </a:p>
        </p:txBody>
      </p:sp>
      <p:sp>
        <p:nvSpPr>
          <p:cNvPr id="15" name="Shape 9"/>
          <p:cNvSpPr/>
          <p:nvPr/>
        </p:nvSpPr>
        <p:spPr>
          <a:xfrm>
            <a:off x="13693140" y="6400800"/>
            <a:ext cx="4411980" cy="3337560"/>
          </a:xfrm>
          <a:prstGeom prst="roundRect">
            <a:avLst>
              <a:gd name="adj" fmla="val 3425"/>
            </a:avLst>
          </a:prstGeom>
          <a:solidFill>
            <a:srgbClr val="FFFFFF"/>
          </a:solidFill>
          <a:ln w="15875">
            <a:solidFill>
              <a:srgbClr val="D1D5DB"/>
            </a:solidFill>
            <a:prstDash val="solid"/>
          </a:ln>
        </p:spPr>
      </p:sp>
      <p:sp>
        <p:nvSpPr>
          <p:cNvPr id="16" name="Text 10"/>
          <p:cNvSpPr txBox="1"/>
          <p:nvPr/>
        </p:nvSpPr>
        <p:spPr>
          <a:xfrm>
            <a:off x="13853160" y="6446520"/>
            <a:ext cx="4114800" cy="251460"/>
          </a:xfrm>
          <a:prstGeom prst="rect">
            <a:avLst/>
          </a:prstGeom>
          <a:noFill/>
          <a:ln/>
        </p:spPr>
        <p:txBody>
          <a:bodyPr wrap="square" lIns="0" tIns="0" rIns="0" bIns="0" rtlCol="0" anchor="ctr"/>
          <a:lstStyle/>
          <a:p>
            <a:pPr algn="l" indent="0" marL="0">
              <a:buNone/>
            </a:pPr>
            <a:r>
              <a:rPr lang="en-US" sz="1400" b="1" dirty="0">
                <a:solidFill>
                  <a:srgbClr val="1B3A6B"/>
                </a:solidFill>
                <a:latin typeface="Calibri" pitchFamily="34" charset="0"/>
                <a:ea typeface="Calibri" pitchFamily="34" charset="-122"/>
                <a:cs typeface="Calibri" pitchFamily="34" charset="-120"/>
              </a:rPr>
              <a:t>4 · Tech stack</a:t>
            </a:r>
            <a:endParaRPr lang="en-US" sz="1400" dirty="0"/>
          </a:p>
        </p:txBody>
      </p:sp>
      <p:pic>
        <p:nvPicPr>
          <p:cNvPr id="17" name="Image 4" descr="preencoded.png">    </p:cNvPr>
          <p:cNvPicPr>
            <a:picLocks noChangeAspect="1"/>
          </p:cNvPicPr>
          <p:nvPr/>
        </p:nvPicPr>
        <p:blipFill>
          <a:blip r:embed="rId5"/>
          <a:stretch>
            <a:fillRect/>
          </a:stretch>
        </p:blipFill>
        <p:spPr>
          <a:xfrm>
            <a:off x="13956030" y="6835140"/>
            <a:ext cx="365760" cy="365760"/>
          </a:xfrm>
          <a:prstGeom prst="rect">
            <a:avLst/>
          </a:prstGeom>
        </p:spPr>
      </p:pic>
      <p:sp>
        <p:nvSpPr>
          <p:cNvPr id="18" name="Text 11"/>
          <p:cNvSpPr txBox="1"/>
          <p:nvPr/>
        </p:nvSpPr>
        <p:spPr>
          <a:xfrm>
            <a:off x="13704570" y="726948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Python</a:t>
            </a:r>
            <a:endParaRPr lang="en-US" sz="1130" dirty="0"/>
          </a:p>
        </p:txBody>
      </p:sp>
      <p:pic>
        <p:nvPicPr>
          <p:cNvPr id="19" name="Image 5" descr="preencoded.png">    </p:cNvPr>
          <p:cNvPicPr>
            <a:picLocks noChangeAspect="1"/>
          </p:cNvPicPr>
          <p:nvPr/>
        </p:nvPicPr>
        <p:blipFill>
          <a:blip r:embed="rId6"/>
          <a:stretch>
            <a:fillRect/>
          </a:stretch>
        </p:blipFill>
        <p:spPr>
          <a:xfrm>
            <a:off x="14836140" y="6835140"/>
            <a:ext cx="365760" cy="365760"/>
          </a:xfrm>
          <a:prstGeom prst="rect">
            <a:avLst/>
          </a:prstGeom>
        </p:spPr>
      </p:pic>
      <p:sp>
        <p:nvSpPr>
          <p:cNvPr id="20" name="Text 12"/>
          <p:cNvSpPr txBox="1"/>
          <p:nvPr/>
        </p:nvSpPr>
        <p:spPr>
          <a:xfrm>
            <a:off x="14584680" y="726948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FastAPI</a:t>
            </a:r>
            <a:endParaRPr lang="en-US" sz="1130" dirty="0"/>
          </a:p>
        </p:txBody>
      </p:sp>
      <p:pic>
        <p:nvPicPr>
          <p:cNvPr id="21" name="Image 6" descr="preencoded.png">    </p:cNvPr>
          <p:cNvPicPr>
            <a:picLocks noChangeAspect="1"/>
          </p:cNvPicPr>
          <p:nvPr/>
        </p:nvPicPr>
        <p:blipFill>
          <a:blip r:embed="rId7"/>
          <a:stretch>
            <a:fillRect/>
          </a:stretch>
        </p:blipFill>
        <p:spPr>
          <a:xfrm>
            <a:off x="15716250" y="6835140"/>
            <a:ext cx="365760" cy="365760"/>
          </a:xfrm>
          <a:prstGeom prst="rect">
            <a:avLst/>
          </a:prstGeom>
        </p:spPr>
      </p:pic>
      <p:sp>
        <p:nvSpPr>
          <p:cNvPr id="22" name="Text 13"/>
          <p:cNvSpPr txBox="1"/>
          <p:nvPr/>
        </p:nvSpPr>
        <p:spPr>
          <a:xfrm>
            <a:off x="15464790" y="726948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React 19</a:t>
            </a:r>
            <a:endParaRPr lang="en-US" sz="1130" dirty="0"/>
          </a:p>
        </p:txBody>
      </p:sp>
      <p:pic>
        <p:nvPicPr>
          <p:cNvPr id="23" name="Image 7" descr="preencoded.png">    </p:cNvPr>
          <p:cNvPicPr>
            <a:picLocks noChangeAspect="1"/>
          </p:cNvPicPr>
          <p:nvPr/>
        </p:nvPicPr>
        <p:blipFill>
          <a:blip r:embed="rId8"/>
          <a:stretch>
            <a:fillRect/>
          </a:stretch>
        </p:blipFill>
        <p:spPr>
          <a:xfrm>
            <a:off x="16596360" y="6835140"/>
            <a:ext cx="365760" cy="365760"/>
          </a:xfrm>
          <a:prstGeom prst="rect">
            <a:avLst/>
          </a:prstGeom>
        </p:spPr>
      </p:pic>
      <p:sp>
        <p:nvSpPr>
          <p:cNvPr id="24" name="Text 14"/>
          <p:cNvSpPr txBox="1"/>
          <p:nvPr/>
        </p:nvSpPr>
        <p:spPr>
          <a:xfrm>
            <a:off x="16344900" y="726948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TypeScript</a:t>
            </a:r>
            <a:endParaRPr lang="en-US" sz="1130" dirty="0"/>
          </a:p>
        </p:txBody>
      </p:sp>
      <p:pic>
        <p:nvPicPr>
          <p:cNvPr id="25" name="Image 8" descr="preencoded.png">    </p:cNvPr>
          <p:cNvPicPr>
            <a:picLocks noChangeAspect="1"/>
          </p:cNvPicPr>
          <p:nvPr/>
        </p:nvPicPr>
        <p:blipFill>
          <a:blip r:embed="rId9"/>
          <a:stretch>
            <a:fillRect/>
          </a:stretch>
        </p:blipFill>
        <p:spPr>
          <a:xfrm>
            <a:off x="17476470" y="6835140"/>
            <a:ext cx="365760" cy="365760"/>
          </a:xfrm>
          <a:prstGeom prst="rect">
            <a:avLst/>
          </a:prstGeom>
        </p:spPr>
      </p:pic>
      <p:sp>
        <p:nvSpPr>
          <p:cNvPr id="26" name="Text 15"/>
          <p:cNvSpPr txBox="1"/>
          <p:nvPr/>
        </p:nvSpPr>
        <p:spPr>
          <a:xfrm>
            <a:off x="17225010" y="726948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Vite</a:t>
            </a:r>
            <a:endParaRPr lang="en-US" sz="1130" dirty="0"/>
          </a:p>
        </p:txBody>
      </p:sp>
      <p:pic>
        <p:nvPicPr>
          <p:cNvPr id="27" name="Image 9" descr="preencoded.png">    </p:cNvPr>
          <p:cNvPicPr>
            <a:picLocks noChangeAspect="1"/>
          </p:cNvPicPr>
          <p:nvPr/>
        </p:nvPicPr>
        <p:blipFill>
          <a:blip r:embed="rId10"/>
          <a:stretch>
            <a:fillRect/>
          </a:stretch>
        </p:blipFill>
        <p:spPr>
          <a:xfrm>
            <a:off x="13956030" y="7795260"/>
            <a:ext cx="365760" cy="365760"/>
          </a:xfrm>
          <a:prstGeom prst="rect">
            <a:avLst/>
          </a:prstGeom>
        </p:spPr>
      </p:pic>
      <p:sp>
        <p:nvSpPr>
          <p:cNvPr id="28" name="Text 16"/>
          <p:cNvSpPr txBox="1"/>
          <p:nvPr/>
        </p:nvSpPr>
        <p:spPr>
          <a:xfrm>
            <a:off x="13704570" y="822960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scikit-learn</a:t>
            </a:r>
            <a:endParaRPr lang="en-US" sz="1130" dirty="0"/>
          </a:p>
        </p:txBody>
      </p:sp>
      <p:pic>
        <p:nvPicPr>
          <p:cNvPr id="29" name="Image 10" descr="preencoded.png">    </p:cNvPr>
          <p:cNvPicPr>
            <a:picLocks noChangeAspect="1"/>
          </p:cNvPicPr>
          <p:nvPr/>
        </p:nvPicPr>
        <p:blipFill>
          <a:blip r:embed="rId11"/>
          <a:stretch>
            <a:fillRect/>
          </a:stretch>
        </p:blipFill>
        <p:spPr>
          <a:xfrm>
            <a:off x="14836140" y="7795260"/>
            <a:ext cx="365760" cy="365760"/>
          </a:xfrm>
          <a:prstGeom prst="rect">
            <a:avLst/>
          </a:prstGeom>
        </p:spPr>
      </p:pic>
      <p:sp>
        <p:nvSpPr>
          <p:cNvPr id="30" name="Text 17"/>
          <p:cNvSpPr txBox="1"/>
          <p:nvPr/>
        </p:nvSpPr>
        <p:spPr>
          <a:xfrm>
            <a:off x="14584680" y="822960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NumPy</a:t>
            </a:r>
            <a:endParaRPr lang="en-US" sz="1130" dirty="0"/>
          </a:p>
        </p:txBody>
      </p:sp>
      <p:pic>
        <p:nvPicPr>
          <p:cNvPr id="31" name="Image 11" descr="/tmp/claude-0/-home-claude/93d9ffac-b36b-5188-b616-7fa3cd4c3901/scratchpad/diag/ic/FcCommandLine.png">    </p:cNvPr>
          <p:cNvPicPr>
            <a:picLocks noChangeAspect="1"/>
          </p:cNvPicPr>
          <p:nvPr/>
        </p:nvPicPr>
        <p:blipFill>
          <a:blip r:embed="rId12"/>
          <a:srcRect l="0" r="0" t="0" b="0"/>
          <a:stretch/>
        </p:blipFill>
        <p:spPr>
          <a:xfrm>
            <a:off x="15716250" y="7795260"/>
            <a:ext cx="365760" cy="365760"/>
          </a:xfrm>
          <a:prstGeom prst="rect">
            <a:avLst/>
          </a:prstGeom>
        </p:spPr>
      </p:pic>
      <p:sp>
        <p:nvSpPr>
          <p:cNvPr id="32" name="Text 18"/>
          <p:cNvSpPr txBox="1"/>
          <p:nvPr/>
        </p:nvSpPr>
        <p:spPr>
          <a:xfrm>
            <a:off x="15464790" y="822960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Scapy</a:t>
            </a:r>
            <a:endParaRPr lang="en-US" sz="1130" dirty="0"/>
          </a:p>
        </p:txBody>
      </p:sp>
      <p:pic>
        <p:nvPicPr>
          <p:cNvPr id="33" name="Image 12" descr="preencoded.png">    </p:cNvPr>
          <p:cNvPicPr>
            <a:picLocks noChangeAspect="1"/>
          </p:cNvPicPr>
          <p:nvPr/>
        </p:nvPicPr>
        <p:blipFill>
          <a:blip r:embed="rId13"/>
          <a:stretch>
            <a:fillRect/>
          </a:stretch>
        </p:blipFill>
        <p:spPr>
          <a:xfrm>
            <a:off x="16596360" y="7795260"/>
            <a:ext cx="365760" cy="365760"/>
          </a:xfrm>
          <a:prstGeom prst="rect">
            <a:avLst/>
          </a:prstGeom>
        </p:spPr>
      </p:pic>
      <p:sp>
        <p:nvSpPr>
          <p:cNvPr id="34" name="Text 19"/>
          <p:cNvSpPr txBox="1"/>
          <p:nvPr/>
        </p:nvSpPr>
        <p:spPr>
          <a:xfrm>
            <a:off x="16344900" y="822960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Jinja2</a:t>
            </a:r>
            <a:endParaRPr lang="en-US" sz="1130" dirty="0"/>
          </a:p>
        </p:txBody>
      </p:sp>
      <p:pic>
        <p:nvPicPr>
          <p:cNvPr id="35" name="Image 13" descr="preencoded.png">    </p:cNvPr>
          <p:cNvPicPr>
            <a:picLocks noChangeAspect="1"/>
          </p:cNvPicPr>
          <p:nvPr/>
        </p:nvPicPr>
        <p:blipFill>
          <a:blip r:embed="rId14"/>
          <a:stretch>
            <a:fillRect/>
          </a:stretch>
        </p:blipFill>
        <p:spPr>
          <a:xfrm>
            <a:off x="17476470" y="7795260"/>
            <a:ext cx="365760" cy="365760"/>
          </a:xfrm>
          <a:prstGeom prst="rect">
            <a:avLst/>
          </a:prstGeom>
        </p:spPr>
      </p:pic>
      <p:sp>
        <p:nvSpPr>
          <p:cNvPr id="36" name="Text 20"/>
          <p:cNvSpPr txBox="1"/>
          <p:nvPr/>
        </p:nvSpPr>
        <p:spPr>
          <a:xfrm>
            <a:off x="17225010" y="822960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Docker</a:t>
            </a:r>
            <a:endParaRPr lang="en-US" sz="1130" dirty="0"/>
          </a:p>
        </p:txBody>
      </p:sp>
      <p:pic>
        <p:nvPicPr>
          <p:cNvPr id="37" name="Image 14" descr="/tmp/claude-0/-home-claude/93d9ffac-b36b-5188-b616-7fa3cd4c3901/scratchpad/diag/ic/FcDataEncryption.png">    </p:cNvPr>
          <p:cNvPicPr>
            <a:picLocks noChangeAspect="1"/>
          </p:cNvPicPr>
          <p:nvPr/>
        </p:nvPicPr>
        <p:blipFill>
          <a:blip r:embed="rId15"/>
          <a:srcRect l="0" r="0" t="0" b="0"/>
          <a:stretch/>
        </p:blipFill>
        <p:spPr>
          <a:xfrm>
            <a:off x="13956030" y="8755380"/>
            <a:ext cx="365760" cy="365760"/>
          </a:xfrm>
          <a:prstGeom prst="rect">
            <a:avLst/>
          </a:prstGeom>
        </p:spPr>
      </p:pic>
      <p:sp>
        <p:nvSpPr>
          <p:cNvPr id="38" name="Text 21"/>
          <p:cNvSpPr txBox="1"/>
          <p:nvPr/>
        </p:nvSpPr>
        <p:spPr>
          <a:xfrm>
            <a:off x="13704570" y="918972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strongSwan</a:t>
            </a:r>
            <a:endParaRPr lang="en-US" sz="1130" dirty="0"/>
          </a:p>
        </p:txBody>
      </p:sp>
      <p:pic>
        <p:nvPicPr>
          <p:cNvPr id="39" name="Image 15" descr="/tmp/claude-0/-home-claude/93d9ffac-b36b-5188-b616-7fa3cd4c3901/scratchpad/diag/ic/FcCommandLine.png">    </p:cNvPr>
          <p:cNvPicPr>
            <a:picLocks noChangeAspect="1"/>
          </p:cNvPicPr>
          <p:nvPr/>
        </p:nvPicPr>
        <p:blipFill>
          <a:blip r:embed="rId16"/>
          <a:srcRect l="0" r="0" t="0" b="0"/>
          <a:stretch/>
        </p:blipFill>
        <p:spPr>
          <a:xfrm>
            <a:off x="14836140" y="8755380"/>
            <a:ext cx="365760" cy="365760"/>
          </a:xfrm>
          <a:prstGeom prst="rect">
            <a:avLst/>
          </a:prstGeom>
        </p:spPr>
      </p:pic>
      <p:sp>
        <p:nvSpPr>
          <p:cNvPr id="40" name="Text 22"/>
          <p:cNvSpPr txBox="1"/>
          <p:nvPr/>
        </p:nvSpPr>
        <p:spPr>
          <a:xfrm>
            <a:off x="14584680" y="918972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tcpdump</a:t>
            </a:r>
            <a:endParaRPr lang="en-US" sz="1130" dirty="0"/>
          </a:p>
        </p:txBody>
      </p:sp>
      <p:pic>
        <p:nvPicPr>
          <p:cNvPr id="41" name="Image 16" descr="preencoded.png">    </p:cNvPr>
          <p:cNvPicPr>
            <a:picLocks noChangeAspect="1"/>
          </p:cNvPicPr>
          <p:nvPr/>
        </p:nvPicPr>
        <p:blipFill>
          <a:blip r:embed="rId17"/>
          <a:stretch>
            <a:fillRect/>
          </a:stretch>
        </p:blipFill>
        <p:spPr>
          <a:xfrm>
            <a:off x="15716250" y="8755380"/>
            <a:ext cx="365760" cy="365760"/>
          </a:xfrm>
          <a:prstGeom prst="rect">
            <a:avLst/>
          </a:prstGeom>
        </p:spPr>
      </p:pic>
      <p:sp>
        <p:nvSpPr>
          <p:cNvPr id="42" name="Text 23"/>
          <p:cNvSpPr txBox="1"/>
          <p:nvPr/>
        </p:nvSpPr>
        <p:spPr>
          <a:xfrm>
            <a:off x="15464790" y="918972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pytest</a:t>
            </a:r>
            <a:endParaRPr lang="en-US" sz="1130" dirty="0"/>
          </a:p>
        </p:txBody>
      </p:sp>
      <p:pic>
        <p:nvPicPr>
          <p:cNvPr id="43" name="Image 17" descr="preencoded.png">    </p:cNvPr>
          <p:cNvPicPr>
            <a:picLocks noChangeAspect="1"/>
          </p:cNvPicPr>
          <p:nvPr/>
        </p:nvPicPr>
        <p:blipFill>
          <a:blip r:embed="rId18"/>
          <a:stretch>
            <a:fillRect/>
          </a:stretch>
        </p:blipFill>
        <p:spPr>
          <a:xfrm>
            <a:off x="16596360" y="8755380"/>
            <a:ext cx="365760" cy="365760"/>
          </a:xfrm>
          <a:prstGeom prst="rect">
            <a:avLst/>
          </a:prstGeom>
        </p:spPr>
      </p:pic>
      <p:sp>
        <p:nvSpPr>
          <p:cNvPr id="44" name="Text 24"/>
          <p:cNvSpPr txBox="1"/>
          <p:nvPr/>
        </p:nvSpPr>
        <p:spPr>
          <a:xfrm>
            <a:off x="16344900" y="918972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GitHub</a:t>
            </a:r>
            <a:endParaRPr lang="en-US" sz="1130" dirty="0"/>
          </a:p>
        </p:txBody>
      </p:sp>
      <p:sp>
        <p:nvSpPr>
          <p:cNvPr id="45" name="Shape 25"/>
          <p:cNvSpPr/>
          <p:nvPr/>
        </p:nvSpPr>
        <p:spPr>
          <a:xfrm>
            <a:off x="0" y="9852660"/>
            <a:ext cx="18288000" cy="434340"/>
          </a:xfrm>
          <a:prstGeom prst="rect">
            <a:avLst/>
          </a:prstGeom>
          <a:solidFill>
            <a:srgbClr val="1565C0"/>
          </a:solidFill>
          <a:ln/>
        </p:spPr>
      </p:sp>
      <p:sp>
        <p:nvSpPr>
          <p:cNvPr id="46" name="Text 26"/>
          <p:cNvSpPr txBox="1"/>
          <p:nvPr/>
        </p:nvSpPr>
        <p:spPr>
          <a:xfrm>
            <a:off x="4572000" y="9852660"/>
            <a:ext cx="9144000" cy="434340"/>
          </a:xfrm>
          <a:prstGeom prst="rect">
            <a:avLst/>
          </a:prstGeom>
          <a:noFill/>
          <a:ln/>
        </p:spPr>
        <p:txBody>
          <a:bodyPr wrap="square" lIns="0" tIns="0" rIns="0" bIns="0" rtlCol="0" anchor="ctr"/>
          <a:lstStyle/>
          <a:p>
            <a:pPr algn="ctr" indent="0" marL="0">
              <a:buNone/>
            </a:pPr>
            <a:r>
              <a:rPr lang="en-US" sz="1440" b="1" spc="100" kern="0" dirty="0">
                <a:solidFill>
                  <a:srgbClr val="FFFFFF"/>
                </a:solidFill>
                <a:latin typeface="Cambria" pitchFamily="34" charset="0"/>
                <a:ea typeface="Cambria" pitchFamily="34" charset="-122"/>
                <a:cs typeface="Cambria" pitchFamily="34" charset="-120"/>
              </a:rPr>
              <a:t>SMART INDIA HACKATHON 2026</a:t>
            </a:r>
            <a:endParaRPr lang="en-US" sz="1440" dirty="0"/>
          </a:p>
        </p:txBody>
      </p:sp>
      <p:sp>
        <p:nvSpPr>
          <p:cNvPr id="47" name="Text 27"/>
          <p:cNvSpPr txBox="1"/>
          <p:nvPr/>
        </p:nvSpPr>
        <p:spPr>
          <a:xfrm>
            <a:off x="17145000" y="9852660"/>
            <a:ext cx="685800" cy="434340"/>
          </a:xfrm>
          <a:prstGeom prst="rect">
            <a:avLst/>
          </a:prstGeom>
          <a:noFill/>
          <a:ln/>
        </p:spPr>
        <p:txBody>
          <a:bodyPr wrap="square" lIns="0" tIns="0" rIns="0" bIns="0" rtlCol="0" anchor="ctr"/>
          <a:lstStyle/>
          <a:p>
            <a:pPr algn="r" indent="0" marL="0">
              <a:buNone/>
            </a:pPr>
            <a:r>
              <a:rPr lang="en-US" sz="1440" b="1" dirty="0">
                <a:solidFill>
                  <a:srgbClr val="FFFFFF"/>
                </a:solidFill>
                <a:latin typeface="Cambria" pitchFamily="34" charset="0"/>
                <a:ea typeface="Cambria" pitchFamily="34" charset="-122"/>
                <a:cs typeface="Cambria" pitchFamily="34" charset="-120"/>
              </a:rPr>
              <a:t>3</a:t>
            </a:r>
            <a:endParaRPr lang="en-US" sz="14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team.jpg">    </p:cNvPr>
          <p:cNvPicPr>
            <a:picLocks noChangeAspect="1"/>
          </p:cNvPicPr>
          <p:nvPr/>
        </p:nvPicPr>
        <p:blipFill>
          <a:blip r:embed="rId1"/>
          <a:stretch>
            <a:fillRect/>
          </a:stretch>
        </p:blipFill>
        <p:spPr>
          <a:xfrm>
            <a:off x="205740" y="91440"/>
            <a:ext cx="982980" cy="982980"/>
          </a:xfrm>
          <a:prstGeom prst="rect">
            <a:avLst/>
          </a:prstGeom>
        </p:spPr>
      </p:pic>
      <p:pic>
        <p:nvPicPr>
          <p:cNvPr id="3" name="Image 1" descr="/tmp/claude-0/-home-claude/93d9ffac-b36b-5188-b616-7fa3cd4c3901/scratchpad/assets/sih2026.png">    </p:cNvPr>
          <p:cNvPicPr>
            <a:picLocks noChangeAspect="1"/>
          </p:cNvPicPr>
          <p:nvPr/>
        </p:nvPicPr>
        <p:blipFill>
          <a:blip r:embed="rId2"/>
          <a:stretch>
            <a:fillRect/>
          </a:stretch>
        </p:blipFill>
        <p:spPr>
          <a:xfrm>
            <a:off x="15841980" y="68580"/>
            <a:ext cx="2240280" cy="1051560"/>
          </a:xfrm>
          <a:prstGeom prst="rect">
            <a:avLst/>
          </a:prstGeom>
        </p:spPr>
      </p:pic>
      <p:sp>
        <p:nvSpPr>
          <p:cNvPr id="4" name="Text 0"/>
          <p:cNvSpPr txBox="1"/>
          <p:nvPr/>
        </p:nvSpPr>
        <p:spPr>
          <a:xfrm>
            <a:off x="2857500" y="160020"/>
            <a:ext cx="12573000" cy="731520"/>
          </a:xfrm>
          <a:prstGeom prst="rect">
            <a:avLst/>
          </a:prstGeom>
          <a:noFill/>
          <a:ln/>
        </p:spPr>
        <p:txBody>
          <a:bodyPr wrap="square" lIns="0" tIns="0" rIns="0" bIns="0" rtlCol="0" anchor="ctr"/>
          <a:lstStyle/>
          <a:p>
            <a:pPr algn="ctr" indent="0" marL="0">
              <a:buNone/>
            </a:pPr>
            <a:r>
              <a:rPr lang="en-US" sz="4140" b="1" spc="100" kern="0" dirty="0">
                <a:solidFill>
                  <a:srgbClr val="1F2937"/>
                </a:solidFill>
                <a:latin typeface="Cambria" pitchFamily="34" charset="0"/>
                <a:ea typeface="Cambria" pitchFamily="34" charset="-122"/>
                <a:cs typeface="Cambria" pitchFamily="34" charset="-120"/>
              </a:rPr>
              <a:t>FEASIBILITY AND VIABILITY</a:t>
            </a:r>
            <a:endParaRPr lang="en-US" sz="4140" dirty="0"/>
          </a:p>
        </p:txBody>
      </p:sp>
      <p:sp>
        <p:nvSpPr>
          <p:cNvPr id="5" name="Shape 1"/>
          <p:cNvSpPr/>
          <p:nvPr/>
        </p:nvSpPr>
        <p:spPr>
          <a:xfrm>
            <a:off x="228600" y="1188720"/>
            <a:ext cx="5821680" cy="2788920"/>
          </a:xfrm>
          <a:prstGeom prst="roundRect">
            <a:avLst>
              <a:gd name="adj" fmla="val 3279"/>
            </a:avLst>
          </a:prstGeom>
          <a:solidFill>
            <a:srgbClr val="FFFFFF"/>
          </a:solidFill>
          <a:ln w="23813">
            <a:solidFill>
              <a:srgbClr val="2B2B2B"/>
            </a:solidFill>
            <a:prstDash val="solid"/>
          </a:ln>
        </p:spPr>
      </p:sp>
      <p:pic>
        <p:nvPicPr>
          <p:cNvPr id="6" name="Image 2" descr="/tmp/claude-0/-home-claude/93d9ffac-b36b-5188-b616-7fa3cd4c3901/scratchpad/svgpng/image32.png">    </p:cNvPr>
          <p:cNvPicPr>
            <a:picLocks noChangeAspect="1"/>
          </p:cNvPicPr>
          <p:nvPr/>
        </p:nvPicPr>
        <p:blipFill>
          <a:blip r:embed="rId3"/>
          <a:srcRect l="0" r="0" t="0" b="0"/>
          <a:stretch/>
        </p:blipFill>
        <p:spPr>
          <a:xfrm>
            <a:off x="388620" y="1257300"/>
            <a:ext cx="411480" cy="411480"/>
          </a:xfrm>
          <a:prstGeom prst="rect">
            <a:avLst/>
          </a:prstGeom>
        </p:spPr>
      </p:pic>
      <p:sp>
        <p:nvSpPr>
          <p:cNvPr id="7" name="Text 2"/>
          <p:cNvSpPr txBox="1"/>
          <p:nvPr/>
        </p:nvSpPr>
        <p:spPr>
          <a:xfrm>
            <a:off x="891540" y="1211580"/>
            <a:ext cx="4998720" cy="480060"/>
          </a:xfrm>
          <a:prstGeom prst="rect">
            <a:avLst/>
          </a:prstGeom>
          <a:noFill/>
          <a:ln/>
        </p:spPr>
        <p:txBody>
          <a:bodyPr wrap="square" lIns="0" tIns="0" rIns="0" bIns="0" rtlCol="0" anchor="ctr"/>
          <a:lstStyle/>
          <a:p>
            <a:pPr algn="l" indent="0" marL="0">
              <a:buNone/>
            </a:pPr>
            <a:r>
              <a:rPr lang="en-US" sz="2160" b="1" u="sng" dirty="0">
                <a:solidFill>
                  <a:srgbClr val="1565C0"/>
                </a:solidFill>
                <a:latin typeface="Cambria" pitchFamily="34" charset="0"/>
                <a:ea typeface="Cambria" pitchFamily="34" charset="-122"/>
                <a:cs typeface="Cambria" pitchFamily="34" charset="-120"/>
              </a:rPr>
              <a:t>Feasibility</a:t>
            </a:r>
            <a:endParaRPr lang="en-US" sz="2160" dirty="0"/>
          </a:p>
        </p:txBody>
      </p:sp>
      <p:sp>
        <p:nvSpPr>
          <p:cNvPr id="8" name="Text 3"/>
          <p:cNvSpPr txBox="1"/>
          <p:nvPr/>
        </p:nvSpPr>
        <p:spPr>
          <a:xfrm>
            <a:off x="388620" y="1737360"/>
            <a:ext cx="5501640" cy="2171700"/>
          </a:xfrm>
          <a:prstGeom prst="rect">
            <a:avLst/>
          </a:prstGeom>
          <a:noFill/>
          <a:ln/>
        </p:spPr>
        <p:txBody>
          <a:bodyPr wrap="square" lIns="0" tIns="0" rIns="0" bIns="0" rtlCol="0" anchor="t"/>
          <a:lstStyle/>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Working prototype: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dashboard with 13 pages, full pipeline, 118 passing tests.</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Free, open-source tools: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runs offline on a normal laptop.</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Fast: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35K–53K packets/s on one core; a 37,988-packet capture in 0.54 s.</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Accurate: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100% on every protocol field it decided (30 new captures).</a:t>
            </a:r>
            <a:endParaRPr lang="en-US" sz="1480" dirty="0"/>
          </a:p>
        </p:txBody>
      </p:sp>
      <p:sp>
        <p:nvSpPr>
          <p:cNvPr id="9" name="Shape 4"/>
          <p:cNvSpPr/>
          <p:nvPr/>
        </p:nvSpPr>
        <p:spPr>
          <a:xfrm>
            <a:off x="6233160" y="1188720"/>
            <a:ext cx="5821680" cy="2788920"/>
          </a:xfrm>
          <a:prstGeom prst="roundRect">
            <a:avLst>
              <a:gd name="adj" fmla="val 3279"/>
            </a:avLst>
          </a:prstGeom>
          <a:solidFill>
            <a:srgbClr val="FFFFFF"/>
          </a:solidFill>
          <a:ln w="23813">
            <a:solidFill>
              <a:srgbClr val="2B2B2B"/>
            </a:solidFill>
            <a:prstDash val="solid"/>
          </a:ln>
        </p:spPr>
      </p:sp>
      <p:pic>
        <p:nvPicPr>
          <p:cNvPr id="10" name="Image 3" descr="/tmp/claude-0/-home-claude/93d9ffac-b36b-5188-b616-7fa3cd4c3901/scratchpad/svgpng/image34.png">    </p:cNvPr>
          <p:cNvPicPr>
            <a:picLocks noChangeAspect="1"/>
          </p:cNvPicPr>
          <p:nvPr/>
        </p:nvPicPr>
        <p:blipFill>
          <a:blip r:embed="rId4"/>
          <a:srcRect l="0" r="0" t="0" b="0"/>
          <a:stretch/>
        </p:blipFill>
        <p:spPr>
          <a:xfrm>
            <a:off x="6393180" y="1257300"/>
            <a:ext cx="411480" cy="411480"/>
          </a:xfrm>
          <a:prstGeom prst="rect">
            <a:avLst/>
          </a:prstGeom>
        </p:spPr>
      </p:pic>
      <p:sp>
        <p:nvSpPr>
          <p:cNvPr id="11" name="Text 5"/>
          <p:cNvSpPr txBox="1"/>
          <p:nvPr/>
        </p:nvSpPr>
        <p:spPr>
          <a:xfrm>
            <a:off x="6896100" y="1211580"/>
            <a:ext cx="4998720" cy="480060"/>
          </a:xfrm>
          <a:prstGeom prst="rect">
            <a:avLst/>
          </a:prstGeom>
          <a:noFill/>
          <a:ln/>
        </p:spPr>
        <p:txBody>
          <a:bodyPr wrap="square" lIns="0" tIns="0" rIns="0" bIns="0" rtlCol="0" anchor="ctr"/>
          <a:lstStyle/>
          <a:p>
            <a:pPr algn="l" indent="0" marL="0">
              <a:buNone/>
            </a:pPr>
            <a:r>
              <a:rPr lang="en-US" sz="2160" b="1" u="sng" dirty="0">
                <a:solidFill>
                  <a:srgbClr val="1565C0"/>
                </a:solidFill>
                <a:latin typeface="Cambria" pitchFamily="34" charset="0"/>
                <a:ea typeface="Cambria" pitchFamily="34" charset="-122"/>
                <a:cs typeface="Cambria" pitchFamily="34" charset="-120"/>
              </a:rPr>
              <a:t>Viability</a:t>
            </a:r>
            <a:endParaRPr lang="en-US" sz="2160" dirty="0"/>
          </a:p>
        </p:txBody>
      </p:sp>
      <p:sp>
        <p:nvSpPr>
          <p:cNvPr id="12" name="Text 6"/>
          <p:cNvSpPr txBox="1"/>
          <p:nvPr/>
        </p:nvSpPr>
        <p:spPr>
          <a:xfrm>
            <a:off x="6393180" y="1737360"/>
            <a:ext cx="5501640" cy="2171700"/>
          </a:xfrm>
          <a:prstGeom prst="rect">
            <a:avLst/>
          </a:prstGeom>
          <a:noFill/>
          <a:ln/>
        </p:spPr>
        <p:txBody>
          <a:bodyPr wrap="square" lIns="0" tIns="0" rIns="0" bIns="0" rtlCol="0" anchor="t"/>
          <a:lstStyle/>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Mirror port: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plugs in with no VPN changes and no keys shared.</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Public standards: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rules from RFC, NIST and CNSA, so any vendor works.</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One tool: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offline checks and live monitoring.</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No licence cost: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gets faster with more CPU cores.</a:t>
            </a:r>
            <a:endParaRPr lang="en-US" sz="1480" dirty="0"/>
          </a:p>
        </p:txBody>
      </p:sp>
      <p:sp>
        <p:nvSpPr>
          <p:cNvPr id="13" name="Shape 7"/>
          <p:cNvSpPr/>
          <p:nvPr/>
        </p:nvSpPr>
        <p:spPr>
          <a:xfrm>
            <a:off x="12237720" y="1188720"/>
            <a:ext cx="5821680" cy="2788920"/>
          </a:xfrm>
          <a:prstGeom prst="roundRect">
            <a:avLst>
              <a:gd name="adj" fmla="val 3279"/>
            </a:avLst>
          </a:prstGeom>
          <a:solidFill>
            <a:srgbClr val="FFFFFF"/>
          </a:solidFill>
          <a:ln w="23813">
            <a:solidFill>
              <a:srgbClr val="2B2B2B"/>
            </a:solidFill>
            <a:prstDash val="solid"/>
          </a:ln>
        </p:spPr>
      </p:sp>
      <p:pic>
        <p:nvPicPr>
          <p:cNvPr id="14" name="Image 4" descr="/tmp/claude-0/-home-claude/93d9ffac-b36b-5188-b616-7fa3cd4c3901/scratchpad/svgpng/image36.png">    </p:cNvPr>
          <p:cNvPicPr>
            <a:picLocks noChangeAspect="1"/>
          </p:cNvPicPr>
          <p:nvPr/>
        </p:nvPicPr>
        <p:blipFill>
          <a:blip r:embed="rId5"/>
          <a:srcRect l="0" r="0" t="0" b="0"/>
          <a:stretch/>
        </p:blipFill>
        <p:spPr>
          <a:xfrm>
            <a:off x="12397740" y="1257300"/>
            <a:ext cx="411480" cy="411480"/>
          </a:xfrm>
          <a:prstGeom prst="rect">
            <a:avLst/>
          </a:prstGeom>
        </p:spPr>
      </p:pic>
      <p:sp>
        <p:nvSpPr>
          <p:cNvPr id="15" name="Text 8"/>
          <p:cNvSpPr txBox="1"/>
          <p:nvPr/>
        </p:nvSpPr>
        <p:spPr>
          <a:xfrm>
            <a:off x="12900660" y="1211580"/>
            <a:ext cx="4998720" cy="480060"/>
          </a:xfrm>
          <a:prstGeom prst="rect">
            <a:avLst/>
          </a:prstGeom>
          <a:noFill/>
          <a:ln/>
        </p:spPr>
        <p:txBody>
          <a:bodyPr wrap="square" lIns="0" tIns="0" rIns="0" bIns="0" rtlCol="0" anchor="ctr"/>
          <a:lstStyle/>
          <a:p>
            <a:pPr algn="l" indent="0" marL="0">
              <a:buNone/>
            </a:pPr>
            <a:r>
              <a:rPr lang="en-US" sz="2160" b="1" u="sng" dirty="0">
                <a:solidFill>
                  <a:srgbClr val="1565C0"/>
                </a:solidFill>
                <a:latin typeface="Cambria" pitchFamily="34" charset="0"/>
                <a:ea typeface="Cambria" pitchFamily="34" charset="-122"/>
                <a:cs typeface="Cambria" pitchFamily="34" charset="-120"/>
              </a:rPr>
              <a:t>Practical Implementation</a:t>
            </a:r>
            <a:endParaRPr lang="en-US" sz="2160" dirty="0"/>
          </a:p>
        </p:txBody>
      </p:sp>
      <p:sp>
        <p:nvSpPr>
          <p:cNvPr id="16" name="Text 9"/>
          <p:cNvSpPr txBox="1"/>
          <p:nvPr/>
        </p:nvSpPr>
        <p:spPr>
          <a:xfrm>
            <a:off x="12397740" y="1737360"/>
            <a:ext cx="5501640" cy="2171700"/>
          </a:xfrm>
          <a:prstGeom prst="rect">
            <a:avLst/>
          </a:prstGeom>
          <a:noFill/>
          <a:ln/>
        </p:spPr>
        <p:txBody>
          <a:bodyPr wrap="square" lIns="0" tIns="0" rIns="0" bIns="0" rtlCol="0" anchor="t"/>
          <a:lstStyle/>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Lab: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run our strongSwan lab and tune on real gateway traffic.</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Pilot: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trial on a mirror port at one site.</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Rollout: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Docker / VM package for the SOC, works offline.</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Integration: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REST API + JSON export for SIEM tools.</a:t>
            </a:r>
            <a:endParaRPr lang="en-US" sz="1480" dirty="0"/>
          </a:p>
        </p:txBody>
      </p:sp>
      <p:sp>
        <p:nvSpPr>
          <p:cNvPr id="17" name="Text 10"/>
          <p:cNvSpPr txBox="1"/>
          <p:nvPr/>
        </p:nvSpPr>
        <p:spPr>
          <a:xfrm>
            <a:off x="228600" y="4046220"/>
            <a:ext cx="17830800" cy="320040"/>
          </a:xfrm>
          <a:prstGeom prst="rect">
            <a:avLst/>
          </a:prstGeom>
          <a:noFill/>
          <a:ln/>
        </p:spPr>
        <p:txBody>
          <a:bodyPr wrap="square" lIns="0" tIns="0" rIns="0" bIns="0" rtlCol="0" anchor="ctr"/>
          <a:lstStyle/>
          <a:p>
            <a:pPr algn="l" indent="0" marL="0">
              <a:buNone/>
            </a:pPr>
            <a:r>
              <a:rPr lang="en-US" sz="1620" b="1" u="sng" dirty="0">
                <a:solidFill>
                  <a:srgbClr val="1B3A6B"/>
                </a:solidFill>
                <a:latin typeface="Cambria" pitchFamily="34" charset="0"/>
                <a:ea typeface="Cambria" pitchFamily="34" charset="-122"/>
                <a:cs typeface="Cambria" pitchFamily="34" charset="-120"/>
              </a:rPr>
              <a:t>Our working prototype </a:t>
            </a:r>
            <a:pPr algn="l" indent="0" marL="0">
              <a:buNone/>
            </a:pPr>
            <a:r>
              <a:rPr lang="en-US" sz="1260" i="1" dirty="0">
                <a:solidFill>
                  <a:srgbClr val="4A5568"/>
                </a:solidFill>
                <a:latin typeface="Cambria" pitchFamily="34" charset="0"/>
                <a:ea typeface="Cambria" pitchFamily="34" charset="-122"/>
                <a:cs typeface="Cambria" pitchFamily="34" charset="-120"/>
              </a:rPr>
              <a:t>  real screenshots from the SecurIQ dashboard (weak IKEv1 + 3DES test capture)</a:t>
            </a:r>
            <a:endParaRPr lang="en-US" sz="1620" dirty="0"/>
          </a:p>
        </p:txBody>
      </p:sp>
      <p:pic>
        <p:nvPicPr>
          <p:cNvPr id="18" name="Image 5" descr="/tmp/claude-0/-home-claude/93d9ffac-b36b-5188-b616-7fa3cd4c3901/scratchpad/assets/shot_security.png">    </p:cNvPr>
          <p:cNvPicPr>
            <a:picLocks noChangeAspect="1"/>
          </p:cNvPicPr>
          <p:nvPr/>
        </p:nvPicPr>
        <p:blipFill>
          <a:blip r:embed="rId6"/>
          <a:stretch>
            <a:fillRect/>
          </a:stretch>
        </p:blipFill>
        <p:spPr>
          <a:xfrm>
            <a:off x="228600" y="4411980"/>
            <a:ext cx="4337685" cy="1927860"/>
          </a:xfrm>
          <a:prstGeom prst="rect">
            <a:avLst/>
          </a:prstGeom>
        </p:spPr>
      </p:pic>
      <p:sp>
        <p:nvSpPr>
          <p:cNvPr id="19" name="Shape 11"/>
          <p:cNvSpPr/>
          <p:nvPr/>
        </p:nvSpPr>
        <p:spPr>
          <a:xfrm>
            <a:off x="228600" y="4411980"/>
            <a:ext cx="4337685" cy="1927860"/>
          </a:xfrm>
          <a:prstGeom prst="rect">
            <a:avLst/>
          </a:prstGeom>
          <a:solidFill>
            <a:srgbClr val="FFFFFF">
              <a:alpha val="0"/>
            </a:srgbClr>
          </a:solidFill>
          <a:ln w="15875">
            <a:solidFill>
              <a:srgbClr val="9CA3AF"/>
            </a:solidFill>
            <a:prstDash val="solid"/>
          </a:ln>
        </p:spPr>
      </p:sp>
      <p:sp>
        <p:nvSpPr>
          <p:cNvPr id="20" name="Text 12"/>
          <p:cNvSpPr txBox="1"/>
          <p:nvPr/>
        </p:nvSpPr>
        <p:spPr>
          <a:xfrm>
            <a:off x="228600" y="6374130"/>
            <a:ext cx="4337685" cy="411480"/>
          </a:xfrm>
          <a:prstGeom prst="rect">
            <a:avLst/>
          </a:prstGeom>
          <a:noFill/>
          <a:ln/>
        </p:spPr>
        <p:txBody>
          <a:bodyPr wrap="square" lIns="0" tIns="0" rIns="0" bIns="0" rtlCol="0" anchor="t"/>
          <a:lstStyle/>
          <a:p>
            <a:pPr algn="l" indent="0" marL="0">
              <a:lnSpc>
                <a:spcPct val="100000"/>
              </a:lnSpc>
              <a:buNone/>
            </a:pPr>
            <a:r>
              <a:rPr lang="en-US" sz="1170" b="1" dirty="0">
                <a:solidFill>
                  <a:srgbClr val="1B3A6B"/>
                </a:solidFill>
                <a:latin typeface="Calibri" pitchFamily="34" charset="0"/>
                <a:ea typeface="Calibri" pitchFamily="34" charset="-122"/>
                <a:cs typeface="Calibri" pitchFamily="34" charset="-120"/>
              </a:rPr>
              <a:t>Security assessment: </a:t>
            </a:r>
            <a:pPr algn="l" indent="0" marL="0">
              <a:lnSpc>
                <a:spcPct val="100000"/>
              </a:lnSpc>
              <a:buNone/>
            </a:pPr>
            <a:r>
              <a:rPr lang="en-US" sz="1170" dirty="0">
                <a:solidFill>
                  <a:srgbClr val="1F2937"/>
                </a:solidFill>
                <a:latin typeface="Calibri" pitchFamily="34" charset="0"/>
                <a:ea typeface="Calibri" pitchFamily="34" charset="-122"/>
                <a:cs typeface="Calibri" pitchFamily="34" charset="-120"/>
              </a:rPr>
              <a:t>weak VPN scored 39.5/100 (High), every finding with its evidence.</a:t>
            </a:r>
            <a:endParaRPr lang="en-US" sz="1170" dirty="0"/>
          </a:p>
        </p:txBody>
      </p:sp>
      <p:pic>
        <p:nvPicPr>
          <p:cNvPr id="21" name="Image 6" descr="/tmp/claude-0/-home-claude/93d9ffac-b36b-5188-b616-7fa3cd4c3901/scratchpad/assets/shot_analysis.png">    </p:cNvPr>
          <p:cNvPicPr>
            <a:picLocks noChangeAspect="1"/>
          </p:cNvPicPr>
          <p:nvPr/>
        </p:nvPicPr>
        <p:blipFill>
          <a:blip r:embed="rId7"/>
          <a:stretch>
            <a:fillRect/>
          </a:stretch>
        </p:blipFill>
        <p:spPr>
          <a:xfrm>
            <a:off x="4726305" y="4411980"/>
            <a:ext cx="4337685" cy="1927860"/>
          </a:xfrm>
          <a:prstGeom prst="rect">
            <a:avLst/>
          </a:prstGeom>
        </p:spPr>
      </p:pic>
      <p:sp>
        <p:nvSpPr>
          <p:cNvPr id="22" name="Shape 13"/>
          <p:cNvSpPr/>
          <p:nvPr/>
        </p:nvSpPr>
        <p:spPr>
          <a:xfrm>
            <a:off x="4726305" y="4411980"/>
            <a:ext cx="4337685" cy="1927860"/>
          </a:xfrm>
          <a:prstGeom prst="rect">
            <a:avLst/>
          </a:prstGeom>
          <a:solidFill>
            <a:srgbClr val="FFFFFF">
              <a:alpha val="0"/>
            </a:srgbClr>
          </a:solidFill>
          <a:ln w="15875">
            <a:solidFill>
              <a:srgbClr val="9CA3AF"/>
            </a:solidFill>
            <a:prstDash val="solid"/>
          </a:ln>
        </p:spPr>
      </p:sp>
      <p:sp>
        <p:nvSpPr>
          <p:cNvPr id="23" name="Text 14"/>
          <p:cNvSpPr txBox="1"/>
          <p:nvPr/>
        </p:nvSpPr>
        <p:spPr>
          <a:xfrm>
            <a:off x="4726305" y="6374130"/>
            <a:ext cx="4337685" cy="411480"/>
          </a:xfrm>
          <a:prstGeom prst="rect">
            <a:avLst/>
          </a:prstGeom>
          <a:noFill/>
          <a:ln/>
        </p:spPr>
        <p:txBody>
          <a:bodyPr wrap="square" lIns="0" tIns="0" rIns="0" bIns="0" rtlCol="0" anchor="t"/>
          <a:lstStyle/>
          <a:p>
            <a:pPr algn="l" indent="0" marL="0">
              <a:lnSpc>
                <a:spcPct val="100000"/>
              </a:lnSpc>
              <a:buNone/>
            </a:pPr>
            <a:r>
              <a:rPr lang="en-US" sz="1170" b="1" dirty="0">
                <a:solidFill>
                  <a:srgbClr val="1B3A6B"/>
                </a:solidFill>
                <a:latin typeface="Calibri" pitchFamily="34" charset="0"/>
                <a:ea typeface="Calibri" pitchFamily="34" charset="-122"/>
                <a:cs typeface="Calibri" pitchFamily="34" charset="-120"/>
              </a:rPr>
              <a:t>Protocol identification: </a:t>
            </a:r>
            <a:pPr algn="l" indent="0" marL="0">
              <a:lnSpc>
                <a:spcPct val="100000"/>
              </a:lnSpc>
              <a:buNone/>
            </a:pPr>
            <a:r>
              <a:rPr lang="en-US" sz="1170" dirty="0">
                <a:solidFill>
                  <a:srgbClr val="1F2937"/>
                </a:solidFill>
                <a:latin typeface="Calibri" pitchFamily="34" charset="0"/>
                <a:ea typeface="Calibri" pitchFamily="34" charset="-122"/>
                <a:cs typeface="Calibri" pitchFamily="34" charset="-120"/>
              </a:rPr>
              <a:t>37,988 packets in 0.54 s; values marked observed or inferred.</a:t>
            </a:r>
            <a:endParaRPr lang="en-US" sz="1170" dirty="0"/>
          </a:p>
        </p:txBody>
      </p:sp>
      <p:pic>
        <p:nvPicPr>
          <p:cNvPr id="24" name="Image 7" descr="/tmp/claude-0/-home-claude/93d9ffac-b36b-5188-b616-7fa3cd4c3901/scratchpad/assets/shot_surface.png">    </p:cNvPr>
          <p:cNvPicPr>
            <a:picLocks noChangeAspect="1"/>
          </p:cNvPicPr>
          <p:nvPr/>
        </p:nvPicPr>
        <p:blipFill>
          <a:blip r:embed="rId8"/>
          <a:stretch>
            <a:fillRect/>
          </a:stretch>
        </p:blipFill>
        <p:spPr>
          <a:xfrm>
            <a:off x="9224010" y="4411980"/>
            <a:ext cx="4337685" cy="1927860"/>
          </a:xfrm>
          <a:prstGeom prst="rect">
            <a:avLst/>
          </a:prstGeom>
        </p:spPr>
      </p:pic>
      <p:sp>
        <p:nvSpPr>
          <p:cNvPr id="25" name="Shape 15"/>
          <p:cNvSpPr/>
          <p:nvPr/>
        </p:nvSpPr>
        <p:spPr>
          <a:xfrm>
            <a:off x="9224010" y="4411980"/>
            <a:ext cx="4337685" cy="1927860"/>
          </a:xfrm>
          <a:prstGeom prst="rect">
            <a:avLst/>
          </a:prstGeom>
          <a:solidFill>
            <a:srgbClr val="FFFFFF">
              <a:alpha val="0"/>
            </a:srgbClr>
          </a:solidFill>
          <a:ln w="15875">
            <a:solidFill>
              <a:srgbClr val="9CA3AF"/>
            </a:solidFill>
            <a:prstDash val="solid"/>
          </a:ln>
        </p:spPr>
      </p:sp>
      <p:sp>
        <p:nvSpPr>
          <p:cNvPr id="26" name="Text 16"/>
          <p:cNvSpPr txBox="1"/>
          <p:nvPr/>
        </p:nvSpPr>
        <p:spPr>
          <a:xfrm>
            <a:off x="9224010" y="6374130"/>
            <a:ext cx="4337685" cy="411480"/>
          </a:xfrm>
          <a:prstGeom prst="rect">
            <a:avLst/>
          </a:prstGeom>
          <a:noFill/>
          <a:ln/>
        </p:spPr>
        <p:txBody>
          <a:bodyPr wrap="square" lIns="0" tIns="0" rIns="0" bIns="0" rtlCol="0" anchor="t"/>
          <a:lstStyle/>
          <a:p>
            <a:pPr algn="l" indent="0" marL="0">
              <a:lnSpc>
                <a:spcPct val="100000"/>
              </a:lnSpc>
              <a:buNone/>
            </a:pPr>
            <a:r>
              <a:rPr lang="en-US" sz="1170" b="1" dirty="0">
                <a:solidFill>
                  <a:srgbClr val="1B3A6B"/>
                </a:solidFill>
                <a:latin typeface="Calibri" pitchFamily="34" charset="0"/>
                <a:ea typeface="Calibri" pitchFamily="34" charset="-122"/>
                <a:cs typeface="Calibri" pitchFamily="34" charset="-120"/>
              </a:rPr>
              <a:t>Attack surface: </a:t>
            </a:r>
            <a:pPr algn="l" indent="0" marL="0">
              <a:lnSpc>
                <a:spcPct val="100000"/>
              </a:lnSpc>
              <a:buNone/>
            </a:pPr>
            <a:r>
              <a:rPr lang="en-US" sz="1170" dirty="0">
                <a:solidFill>
                  <a:srgbClr val="1F2937"/>
                </a:solidFill>
                <a:latin typeface="Calibri" pitchFamily="34" charset="0"/>
                <a:ea typeface="Calibri" pitchFamily="34" charset="-122"/>
                <a:cs typeface="Calibri" pitchFamily="34" charset="-120"/>
              </a:rPr>
              <a:t>gateways → IKE SA → Child SA → traffic, risks pinned on each.</a:t>
            </a:r>
            <a:endParaRPr lang="en-US" sz="1170" dirty="0"/>
          </a:p>
        </p:txBody>
      </p:sp>
      <p:pic>
        <p:nvPicPr>
          <p:cNvPr id="27" name="Image 8" descr="/tmp/claude-0/-home-claude/93d9ffac-b36b-5188-b616-7fa3cd4c3901/scratchpad/assets/shot_classification.png">    </p:cNvPr>
          <p:cNvPicPr>
            <a:picLocks noChangeAspect="1"/>
          </p:cNvPicPr>
          <p:nvPr/>
        </p:nvPicPr>
        <p:blipFill>
          <a:blip r:embed="rId9"/>
          <a:stretch>
            <a:fillRect/>
          </a:stretch>
        </p:blipFill>
        <p:spPr>
          <a:xfrm>
            <a:off x="13721715" y="4411980"/>
            <a:ext cx="4337685" cy="1927860"/>
          </a:xfrm>
          <a:prstGeom prst="rect">
            <a:avLst/>
          </a:prstGeom>
        </p:spPr>
      </p:pic>
      <p:sp>
        <p:nvSpPr>
          <p:cNvPr id="28" name="Shape 17"/>
          <p:cNvSpPr/>
          <p:nvPr/>
        </p:nvSpPr>
        <p:spPr>
          <a:xfrm>
            <a:off x="13721715" y="4411980"/>
            <a:ext cx="4337685" cy="1927860"/>
          </a:xfrm>
          <a:prstGeom prst="rect">
            <a:avLst/>
          </a:prstGeom>
          <a:solidFill>
            <a:srgbClr val="FFFFFF">
              <a:alpha val="0"/>
            </a:srgbClr>
          </a:solidFill>
          <a:ln w="15875">
            <a:solidFill>
              <a:srgbClr val="9CA3AF"/>
            </a:solidFill>
            <a:prstDash val="solid"/>
          </a:ln>
        </p:spPr>
      </p:sp>
      <p:sp>
        <p:nvSpPr>
          <p:cNvPr id="29" name="Text 18"/>
          <p:cNvSpPr txBox="1"/>
          <p:nvPr/>
        </p:nvSpPr>
        <p:spPr>
          <a:xfrm>
            <a:off x="13721715" y="6374130"/>
            <a:ext cx="4337685" cy="411480"/>
          </a:xfrm>
          <a:prstGeom prst="rect">
            <a:avLst/>
          </a:prstGeom>
          <a:noFill/>
          <a:ln/>
        </p:spPr>
        <p:txBody>
          <a:bodyPr wrap="square" lIns="0" tIns="0" rIns="0" bIns="0" rtlCol="0" anchor="t"/>
          <a:lstStyle/>
          <a:p>
            <a:pPr algn="l" indent="0" marL="0">
              <a:lnSpc>
                <a:spcPct val="100000"/>
              </a:lnSpc>
              <a:buNone/>
            </a:pPr>
            <a:r>
              <a:rPr lang="en-US" sz="1170" b="1" dirty="0">
                <a:solidFill>
                  <a:srgbClr val="1B3A6B"/>
                </a:solidFill>
                <a:latin typeface="Calibri" pitchFamily="34" charset="0"/>
                <a:ea typeface="Calibri" pitchFamily="34" charset="-122"/>
                <a:cs typeface="Calibri" pitchFamily="34" charset="-120"/>
              </a:rPr>
              <a:t>Traffic &amp; metadata: </a:t>
            </a:r>
            <a:pPr algn="l" indent="0" marL="0">
              <a:lnSpc>
                <a:spcPct val="100000"/>
              </a:lnSpc>
              <a:buNone/>
            </a:pPr>
            <a:r>
              <a:rPr lang="en-US" sz="1170" dirty="0">
                <a:solidFill>
                  <a:srgbClr val="1F2937"/>
                </a:solidFill>
                <a:latin typeface="Calibri" pitchFamily="34" charset="0"/>
                <a:ea typeface="Calibri" pitchFamily="34" charset="-122"/>
                <a:cs typeface="Calibri" pitchFamily="34" charset="-120"/>
              </a:rPr>
              <a:t>traffic inside ESP classified at 98% confidence, no keys.</a:t>
            </a:r>
            <a:endParaRPr lang="en-US" sz="1170" dirty="0"/>
          </a:p>
        </p:txBody>
      </p:sp>
      <p:sp>
        <p:nvSpPr>
          <p:cNvPr id="30" name="Shape 19"/>
          <p:cNvSpPr/>
          <p:nvPr/>
        </p:nvSpPr>
        <p:spPr>
          <a:xfrm>
            <a:off x="228600" y="6903720"/>
            <a:ext cx="17830800" cy="2834640"/>
          </a:xfrm>
          <a:prstGeom prst="roundRect">
            <a:avLst>
              <a:gd name="adj" fmla="val 4839"/>
            </a:avLst>
          </a:prstGeom>
          <a:solidFill>
            <a:srgbClr val="FAFBFD"/>
          </a:solidFill>
          <a:ln w="23813">
            <a:solidFill>
              <a:srgbClr val="2B2B2B"/>
            </a:solidFill>
            <a:prstDash val="solid"/>
          </a:ln>
        </p:spPr>
      </p:sp>
      <p:sp>
        <p:nvSpPr>
          <p:cNvPr id="31" name="Shape 20"/>
          <p:cNvSpPr/>
          <p:nvPr/>
        </p:nvSpPr>
        <p:spPr>
          <a:xfrm>
            <a:off x="434340" y="7475220"/>
            <a:ext cx="1691640" cy="1691640"/>
          </a:xfrm>
          <a:prstGeom prst="ellipse">
            <a:avLst/>
          </a:prstGeom>
          <a:solidFill>
            <a:srgbClr val="E8EAEE"/>
          </a:solidFill>
          <a:ln/>
        </p:spPr>
      </p:sp>
      <p:sp>
        <p:nvSpPr>
          <p:cNvPr id="32" name="Shape 21"/>
          <p:cNvSpPr/>
          <p:nvPr/>
        </p:nvSpPr>
        <p:spPr>
          <a:xfrm>
            <a:off x="16162020" y="7475220"/>
            <a:ext cx="1691640" cy="1691640"/>
          </a:xfrm>
          <a:prstGeom prst="ellipse">
            <a:avLst/>
          </a:prstGeom>
          <a:solidFill>
            <a:srgbClr val="E8EAEE"/>
          </a:solidFill>
          <a:ln/>
        </p:spPr>
      </p:sp>
      <p:sp>
        <p:nvSpPr>
          <p:cNvPr id="33" name="Shape 22"/>
          <p:cNvSpPr/>
          <p:nvPr/>
        </p:nvSpPr>
        <p:spPr>
          <a:xfrm>
            <a:off x="2125980" y="7223760"/>
            <a:ext cx="480060" cy="1097280"/>
          </a:xfrm>
          <a:custGeom>
            <a:avLst/>
            <a:gdLst/>
            <a:ahLst/>
            <a:cxnLst/>
            <a:rect l="l" t="t" r="r" b="b"/>
            <a:pathLst>
              <a:path w="480060" h="1097280">
                <a:moveTo>
                  <a:pt x="0" y="1097280"/>
                </a:moveTo>
                <a:cubicBezTo>
                  <a:pt x="274320" y="1097280"/>
                  <a:pt x="228600" y="0"/>
                  <a:pt x="480060" y="0"/>
                </a:cubicBezTo>
              </a:path>
            </a:pathLst>
          </a:custGeom>
          <a:solidFill>
            <a:srgbClr val="FFFFFF">
              <a:alpha val="0"/>
            </a:srgbClr>
          </a:solidFill>
          <a:ln w="20638">
            <a:solidFill>
              <a:srgbClr val="2B2B2B"/>
            </a:solidFill>
            <a:prstDash val="solid"/>
          </a:ln>
        </p:spPr>
      </p:sp>
      <p:sp>
        <p:nvSpPr>
          <p:cNvPr id="34" name="Shape 23"/>
          <p:cNvSpPr/>
          <p:nvPr/>
        </p:nvSpPr>
        <p:spPr>
          <a:xfrm>
            <a:off x="15681960" y="7223760"/>
            <a:ext cx="480060" cy="1097280"/>
          </a:xfrm>
          <a:custGeom>
            <a:avLst/>
            <a:gdLst/>
            <a:ahLst/>
            <a:cxnLst/>
            <a:rect l="l" t="t" r="r" b="b"/>
            <a:pathLst>
              <a:path w="480060" h="1097280">
                <a:moveTo>
                  <a:pt x="480060" y="1097280"/>
                </a:moveTo>
                <a:cubicBezTo>
                  <a:pt x="205740" y="1097280"/>
                  <a:pt x="251460" y="0"/>
                  <a:pt x="0" y="0"/>
                </a:cubicBezTo>
              </a:path>
            </a:pathLst>
          </a:custGeom>
          <a:solidFill>
            <a:srgbClr val="FFFFFF">
              <a:alpha val="0"/>
            </a:srgbClr>
          </a:solidFill>
          <a:ln w="20638">
            <a:solidFill>
              <a:srgbClr val="2B2B2B"/>
            </a:solidFill>
            <a:prstDash val="solid"/>
          </a:ln>
        </p:spPr>
      </p:sp>
      <p:sp>
        <p:nvSpPr>
          <p:cNvPr id="35" name="Shape 24"/>
          <p:cNvSpPr/>
          <p:nvPr/>
        </p:nvSpPr>
        <p:spPr>
          <a:xfrm>
            <a:off x="2125980" y="7772400"/>
            <a:ext cx="480060" cy="548640"/>
          </a:xfrm>
          <a:custGeom>
            <a:avLst/>
            <a:gdLst/>
            <a:ahLst/>
            <a:cxnLst/>
            <a:rect l="l" t="t" r="r" b="b"/>
            <a:pathLst>
              <a:path w="480060" h="548640">
                <a:moveTo>
                  <a:pt x="0" y="548640"/>
                </a:moveTo>
                <a:cubicBezTo>
                  <a:pt x="274320" y="548640"/>
                  <a:pt x="228600" y="0"/>
                  <a:pt x="480060" y="0"/>
                </a:cubicBezTo>
              </a:path>
            </a:pathLst>
          </a:custGeom>
          <a:solidFill>
            <a:srgbClr val="FFFFFF">
              <a:alpha val="0"/>
            </a:srgbClr>
          </a:solidFill>
          <a:ln w="20638">
            <a:solidFill>
              <a:srgbClr val="2B2B2B"/>
            </a:solidFill>
            <a:prstDash val="solid"/>
          </a:ln>
        </p:spPr>
      </p:sp>
      <p:sp>
        <p:nvSpPr>
          <p:cNvPr id="36" name="Shape 25"/>
          <p:cNvSpPr/>
          <p:nvPr/>
        </p:nvSpPr>
        <p:spPr>
          <a:xfrm>
            <a:off x="15681960" y="7772400"/>
            <a:ext cx="480060" cy="548640"/>
          </a:xfrm>
          <a:custGeom>
            <a:avLst/>
            <a:gdLst/>
            <a:ahLst/>
            <a:cxnLst/>
            <a:rect l="l" t="t" r="r" b="b"/>
            <a:pathLst>
              <a:path w="480060" h="548640">
                <a:moveTo>
                  <a:pt x="480060" y="548640"/>
                </a:moveTo>
                <a:cubicBezTo>
                  <a:pt x="205740" y="548640"/>
                  <a:pt x="251460" y="0"/>
                  <a:pt x="0" y="0"/>
                </a:cubicBezTo>
              </a:path>
            </a:pathLst>
          </a:custGeom>
          <a:solidFill>
            <a:srgbClr val="FFFFFF">
              <a:alpha val="0"/>
            </a:srgbClr>
          </a:solidFill>
          <a:ln w="20638">
            <a:solidFill>
              <a:srgbClr val="2B2B2B"/>
            </a:solidFill>
            <a:prstDash val="solid"/>
          </a:ln>
        </p:spPr>
      </p:sp>
      <p:sp>
        <p:nvSpPr>
          <p:cNvPr id="37" name="Shape 26"/>
          <p:cNvSpPr/>
          <p:nvPr/>
        </p:nvSpPr>
        <p:spPr>
          <a:xfrm>
            <a:off x="2125980" y="8321040"/>
            <a:ext cx="480060" cy="11430"/>
          </a:xfrm>
          <a:custGeom>
            <a:avLst/>
            <a:gdLst/>
            <a:ahLst/>
            <a:cxnLst/>
            <a:rect l="l" t="t" r="r" b="b"/>
            <a:pathLst>
              <a:path w="480060" h="11430">
                <a:moveTo>
                  <a:pt x="0" y="0"/>
                </a:moveTo>
                <a:cubicBezTo>
                  <a:pt x="274320" y="0"/>
                  <a:pt x="228600" y="0"/>
                  <a:pt x="480060" y="0"/>
                </a:cubicBezTo>
              </a:path>
            </a:pathLst>
          </a:custGeom>
          <a:solidFill>
            <a:srgbClr val="FFFFFF">
              <a:alpha val="0"/>
            </a:srgbClr>
          </a:solidFill>
          <a:ln w="20638">
            <a:solidFill>
              <a:srgbClr val="2B2B2B"/>
            </a:solidFill>
            <a:prstDash val="solid"/>
          </a:ln>
        </p:spPr>
      </p:sp>
      <p:sp>
        <p:nvSpPr>
          <p:cNvPr id="38" name="Shape 27"/>
          <p:cNvSpPr/>
          <p:nvPr/>
        </p:nvSpPr>
        <p:spPr>
          <a:xfrm>
            <a:off x="15681960" y="8321040"/>
            <a:ext cx="480060" cy="11430"/>
          </a:xfrm>
          <a:custGeom>
            <a:avLst/>
            <a:gdLst/>
            <a:ahLst/>
            <a:cxnLst/>
            <a:rect l="l" t="t" r="r" b="b"/>
            <a:pathLst>
              <a:path w="480060" h="11430">
                <a:moveTo>
                  <a:pt x="480060" y="0"/>
                </a:moveTo>
                <a:cubicBezTo>
                  <a:pt x="205740" y="0"/>
                  <a:pt x="251460" y="0"/>
                  <a:pt x="0" y="0"/>
                </a:cubicBezTo>
              </a:path>
            </a:pathLst>
          </a:custGeom>
          <a:solidFill>
            <a:srgbClr val="FFFFFF">
              <a:alpha val="0"/>
            </a:srgbClr>
          </a:solidFill>
          <a:ln w="20638">
            <a:solidFill>
              <a:srgbClr val="2B2B2B"/>
            </a:solidFill>
            <a:prstDash val="solid"/>
          </a:ln>
        </p:spPr>
      </p:sp>
      <p:sp>
        <p:nvSpPr>
          <p:cNvPr id="39" name="Shape 28"/>
          <p:cNvSpPr/>
          <p:nvPr/>
        </p:nvSpPr>
        <p:spPr>
          <a:xfrm>
            <a:off x="2125980" y="8321040"/>
            <a:ext cx="480060" cy="548640"/>
          </a:xfrm>
          <a:custGeom>
            <a:avLst/>
            <a:gdLst/>
            <a:ahLst/>
            <a:cxnLst/>
            <a:rect l="l" t="t" r="r" b="b"/>
            <a:pathLst>
              <a:path w="480060" h="548640">
                <a:moveTo>
                  <a:pt x="0" y="0"/>
                </a:moveTo>
                <a:cubicBezTo>
                  <a:pt x="274320" y="0"/>
                  <a:pt x="228600" y="548640"/>
                  <a:pt x="480060" y="548640"/>
                </a:cubicBezTo>
              </a:path>
            </a:pathLst>
          </a:custGeom>
          <a:solidFill>
            <a:srgbClr val="FFFFFF">
              <a:alpha val="0"/>
            </a:srgbClr>
          </a:solidFill>
          <a:ln w="20638">
            <a:solidFill>
              <a:srgbClr val="2B2B2B"/>
            </a:solidFill>
            <a:prstDash val="solid"/>
          </a:ln>
        </p:spPr>
      </p:sp>
      <p:sp>
        <p:nvSpPr>
          <p:cNvPr id="40" name="Shape 29"/>
          <p:cNvSpPr/>
          <p:nvPr/>
        </p:nvSpPr>
        <p:spPr>
          <a:xfrm>
            <a:off x="15681960" y="8321040"/>
            <a:ext cx="480060" cy="548640"/>
          </a:xfrm>
          <a:custGeom>
            <a:avLst/>
            <a:gdLst/>
            <a:ahLst/>
            <a:cxnLst/>
            <a:rect l="l" t="t" r="r" b="b"/>
            <a:pathLst>
              <a:path w="480060" h="548640">
                <a:moveTo>
                  <a:pt x="480060" y="0"/>
                </a:moveTo>
                <a:cubicBezTo>
                  <a:pt x="205740" y="0"/>
                  <a:pt x="251460" y="548640"/>
                  <a:pt x="0" y="548640"/>
                </a:cubicBezTo>
              </a:path>
            </a:pathLst>
          </a:custGeom>
          <a:solidFill>
            <a:srgbClr val="FFFFFF">
              <a:alpha val="0"/>
            </a:srgbClr>
          </a:solidFill>
          <a:ln w="20638">
            <a:solidFill>
              <a:srgbClr val="2B2B2B"/>
            </a:solidFill>
            <a:prstDash val="solid"/>
          </a:ln>
        </p:spPr>
      </p:sp>
      <p:sp>
        <p:nvSpPr>
          <p:cNvPr id="41" name="Shape 30"/>
          <p:cNvSpPr/>
          <p:nvPr/>
        </p:nvSpPr>
        <p:spPr>
          <a:xfrm>
            <a:off x="2125980" y="8321040"/>
            <a:ext cx="480060" cy="1097280"/>
          </a:xfrm>
          <a:custGeom>
            <a:avLst/>
            <a:gdLst/>
            <a:ahLst/>
            <a:cxnLst/>
            <a:rect l="l" t="t" r="r" b="b"/>
            <a:pathLst>
              <a:path w="480060" h="1097280">
                <a:moveTo>
                  <a:pt x="0" y="0"/>
                </a:moveTo>
                <a:cubicBezTo>
                  <a:pt x="274320" y="0"/>
                  <a:pt x="228600" y="1097280"/>
                  <a:pt x="480060" y="1097280"/>
                </a:cubicBezTo>
              </a:path>
            </a:pathLst>
          </a:custGeom>
          <a:solidFill>
            <a:srgbClr val="FFFFFF">
              <a:alpha val="0"/>
            </a:srgbClr>
          </a:solidFill>
          <a:ln w="20638">
            <a:solidFill>
              <a:srgbClr val="2B2B2B"/>
            </a:solidFill>
            <a:prstDash val="solid"/>
          </a:ln>
        </p:spPr>
      </p:sp>
      <p:sp>
        <p:nvSpPr>
          <p:cNvPr id="42" name="Shape 31"/>
          <p:cNvSpPr/>
          <p:nvPr/>
        </p:nvSpPr>
        <p:spPr>
          <a:xfrm>
            <a:off x="15681960" y="8321040"/>
            <a:ext cx="480060" cy="1097280"/>
          </a:xfrm>
          <a:custGeom>
            <a:avLst/>
            <a:gdLst/>
            <a:ahLst/>
            <a:cxnLst/>
            <a:rect l="l" t="t" r="r" b="b"/>
            <a:pathLst>
              <a:path w="480060" h="1097280">
                <a:moveTo>
                  <a:pt x="480060" y="0"/>
                </a:moveTo>
                <a:cubicBezTo>
                  <a:pt x="205740" y="0"/>
                  <a:pt x="251460" y="1097280"/>
                  <a:pt x="0" y="1097280"/>
                </a:cubicBezTo>
              </a:path>
            </a:pathLst>
          </a:custGeom>
          <a:solidFill>
            <a:srgbClr val="FFFFFF">
              <a:alpha val="0"/>
            </a:srgbClr>
          </a:solidFill>
          <a:ln w="20638">
            <a:solidFill>
              <a:srgbClr val="2B2B2B"/>
            </a:solidFill>
            <a:prstDash val="solid"/>
          </a:ln>
        </p:spPr>
      </p:sp>
      <p:sp>
        <p:nvSpPr>
          <p:cNvPr id="43" name="Shape 32"/>
          <p:cNvSpPr/>
          <p:nvPr/>
        </p:nvSpPr>
        <p:spPr>
          <a:xfrm>
            <a:off x="9144000" y="7040880"/>
            <a:ext cx="11430" cy="2560320"/>
          </a:xfrm>
          <a:custGeom>
            <a:avLst/>
            <a:gdLst/>
            <a:ahLst/>
            <a:cxnLst/>
            <a:rect l="l" t="t" r="r" b="b"/>
            <a:pathLst>
              <a:path w="11430" h="2560320">
                <a:moveTo>
                  <a:pt x="0" y="0"/>
                </a:moveTo>
                <a:lnTo>
                  <a:pt x="0" y="2560320"/>
                </a:lnTo>
              </a:path>
            </a:pathLst>
          </a:custGeom>
          <a:solidFill>
            <a:srgbClr val="FFFFFF">
              <a:alpha val="0"/>
            </a:srgbClr>
          </a:solidFill>
          <a:ln w="19050">
            <a:solidFill>
              <a:srgbClr val="9FB0C8"/>
            </a:solidFill>
            <a:prstDash val="dash"/>
          </a:ln>
        </p:spPr>
      </p:sp>
      <p:sp>
        <p:nvSpPr>
          <p:cNvPr id="44" name="Shape 33"/>
          <p:cNvSpPr/>
          <p:nvPr/>
        </p:nvSpPr>
        <p:spPr>
          <a:xfrm>
            <a:off x="2606040" y="7063740"/>
            <a:ext cx="320040" cy="320040"/>
          </a:xfrm>
          <a:prstGeom prst="ellipse">
            <a:avLst/>
          </a:prstGeom>
          <a:solidFill>
            <a:srgbClr val="C62828"/>
          </a:solidFill>
          <a:ln/>
        </p:spPr>
      </p:sp>
      <p:sp>
        <p:nvSpPr>
          <p:cNvPr id="45" name="Text 34"/>
          <p:cNvSpPr txBox="1"/>
          <p:nvPr/>
        </p:nvSpPr>
        <p:spPr>
          <a:xfrm>
            <a:off x="2606040" y="706374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01</a:t>
            </a:r>
            <a:endParaRPr lang="en-US" sz="1080" dirty="0"/>
          </a:p>
        </p:txBody>
      </p:sp>
      <p:sp>
        <p:nvSpPr>
          <p:cNvPr id="46" name="Shape 35"/>
          <p:cNvSpPr/>
          <p:nvPr/>
        </p:nvSpPr>
        <p:spPr>
          <a:xfrm>
            <a:off x="15361920" y="7063740"/>
            <a:ext cx="320040" cy="320040"/>
          </a:xfrm>
          <a:prstGeom prst="ellipse">
            <a:avLst/>
          </a:prstGeom>
          <a:solidFill>
            <a:srgbClr val="2E7D32"/>
          </a:solidFill>
          <a:ln/>
        </p:spPr>
      </p:sp>
      <p:sp>
        <p:nvSpPr>
          <p:cNvPr id="47" name="Text 36"/>
          <p:cNvSpPr txBox="1"/>
          <p:nvPr/>
        </p:nvSpPr>
        <p:spPr>
          <a:xfrm>
            <a:off x="15361920" y="706374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01</a:t>
            </a:r>
            <a:endParaRPr lang="en-US" sz="1080" dirty="0"/>
          </a:p>
        </p:txBody>
      </p:sp>
      <p:sp>
        <p:nvSpPr>
          <p:cNvPr id="48" name="Shape 37"/>
          <p:cNvSpPr/>
          <p:nvPr/>
        </p:nvSpPr>
        <p:spPr>
          <a:xfrm>
            <a:off x="2606040" y="7612380"/>
            <a:ext cx="320040" cy="320040"/>
          </a:xfrm>
          <a:prstGeom prst="ellipse">
            <a:avLst/>
          </a:prstGeom>
          <a:solidFill>
            <a:srgbClr val="C62828"/>
          </a:solidFill>
          <a:ln/>
        </p:spPr>
      </p:sp>
      <p:sp>
        <p:nvSpPr>
          <p:cNvPr id="49" name="Text 38"/>
          <p:cNvSpPr txBox="1"/>
          <p:nvPr/>
        </p:nvSpPr>
        <p:spPr>
          <a:xfrm>
            <a:off x="2606040" y="761238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02</a:t>
            </a:r>
            <a:endParaRPr lang="en-US" sz="1080" dirty="0"/>
          </a:p>
        </p:txBody>
      </p:sp>
      <p:sp>
        <p:nvSpPr>
          <p:cNvPr id="50" name="Shape 39"/>
          <p:cNvSpPr/>
          <p:nvPr/>
        </p:nvSpPr>
        <p:spPr>
          <a:xfrm>
            <a:off x="15361920" y="7612380"/>
            <a:ext cx="320040" cy="320040"/>
          </a:xfrm>
          <a:prstGeom prst="ellipse">
            <a:avLst/>
          </a:prstGeom>
          <a:solidFill>
            <a:srgbClr val="2E7D32"/>
          </a:solidFill>
          <a:ln/>
        </p:spPr>
      </p:sp>
      <p:sp>
        <p:nvSpPr>
          <p:cNvPr id="51" name="Text 40"/>
          <p:cNvSpPr txBox="1"/>
          <p:nvPr/>
        </p:nvSpPr>
        <p:spPr>
          <a:xfrm>
            <a:off x="15361920" y="761238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02</a:t>
            </a:r>
            <a:endParaRPr lang="en-US" sz="1080" dirty="0"/>
          </a:p>
        </p:txBody>
      </p:sp>
      <p:sp>
        <p:nvSpPr>
          <p:cNvPr id="52" name="Shape 41"/>
          <p:cNvSpPr/>
          <p:nvPr/>
        </p:nvSpPr>
        <p:spPr>
          <a:xfrm>
            <a:off x="2606040" y="8161020"/>
            <a:ext cx="320040" cy="320040"/>
          </a:xfrm>
          <a:prstGeom prst="ellipse">
            <a:avLst/>
          </a:prstGeom>
          <a:solidFill>
            <a:srgbClr val="C62828"/>
          </a:solidFill>
          <a:ln/>
        </p:spPr>
      </p:sp>
      <p:sp>
        <p:nvSpPr>
          <p:cNvPr id="53" name="Text 42"/>
          <p:cNvSpPr txBox="1"/>
          <p:nvPr/>
        </p:nvSpPr>
        <p:spPr>
          <a:xfrm>
            <a:off x="2606040" y="816102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03</a:t>
            </a:r>
            <a:endParaRPr lang="en-US" sz="1080" dirty="0"/>
          </a:p>
        </p:txBody>
      </p:sp>
      <p:sp>
        <p:nvSpPr>
          <p:cNvPr id="54" name="Shape 43"/>
          <p:cNvSpPr/>
          <p:nvPr/>
        </p:nvSpPr>
        <p:spPr>
          <a:xfrm>
            <a:off x="15361920" y="8161020"/>
            <a:ext cx="320040" cy="320040"/>
          </a:xfrm>
          <a:prstGeom prst="ellipse">
            <a:avLst/>
          </a:prstGeom>
          <a:solidFill>
            <a:srgbClr val="2E7D32"/>
          </a:solidFill>
          <a:ln/>
        </p:spPr>
      </p:sp>
      <p:sp>
        <p:nvSpPr>
          <p:cNvPr id="55" name="Text 44"/>
          <p:cNvSpPr txBox="1"/>
          <p:nvPr/>
        </p:nvSpPr>
        <p:spPr>
          <a:xfrm>
            <a:off x="15361920" y="816102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03</a:t>
            </a:r>
            <a:endParaRPr lang="en-US" sz="1080" dirty="0"/>
          </a:p>
        </p:txBody>
      </p:sp>
      <p:sp>
        <p:nvSpPr>
          <p:cNvPr id="56" name="Shape 45"/>
          <p:cNvSpPr/>
          <p:nvPr/>
        </p:nvSpPr>
        <p:spPr>
          <a:xfrm>
            <a:off x="2606040" y="8709660"/>
            <a:ext cx="320040" cy="320040"/>
          </a:xfrm>
          <a:prstGeom prst="ellipse">
            <a:avLst/>
          </a:prstGeom>
          <a:solidFill>
            <a:srgbClr val="C62828"/>
          </a:solidFill>
          <a:ln/>
        </p:spPr>
      </p:sp>
      <p:sp>
        <p:nvSpPr>
          <p:cNvPr id="57" name="Text 46"/>
          <p:cNvSpPr txBox="1"/>
          <p:nvPr/>
        </p:nvSpPr>
        <p:spPr>
          <a:xfrm>
            <a:off x="2606040" y="870966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04</a:t>
            </a:r>
            <a:endParaRPr lang="en-US" sz="1080" dirty="0"/>
          </a:p>
        </p:txBody>
      </p:sp>
      <p:sp>
        <p:nvSpPr>
          <p:cNvPr id="58" name="Shape 47"/>
          <p:cNvSpPr/>
          <p:nvPr/>
        </p:nvSpPr>
        <p:spPr>
          <a:xfrm>
            <a:off x="15361920" y="8709660"/>
            <a:ext cx="320040" cy="320040"/>
          </a:xfrm>
          <a:prstGeom prst="ellipse">
            <a:avLst/>
          </a:prstGeom>
          <a:solidFill>
            <a:srgbClr val="2E7D32"/>
          </a:solidFill>
          <a:ln/>
        </p:spPr>
      </p:sp>
      <p:sp>
        <p:nvSpPr>
          <p:cNvPr id="59" name="Text 48"/>
          <p:cNvSpPr txBox="1"/>
          <p:nvPr/>
        </p:nvSpPr>
        <p:spPr>
          <a:xfrm>
            <a:off x="15361920" y="870966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04</a:t>
            </a:r>
            <a:endParaRPr lang="en-US" sz="1080" dirty="0"/>
          </a:p>
        </p:txBody>
      </p:sp>
      <p:sp>
        <p:nvSpPr>
          <p:cNvPr id="60" name="Shape 49"/>
          <p:cNvSpPr/>
          <p:nvPr/>
        </p:nvSpPr>
        <p:spPr>
          <a:xfrm>
            <a:off x="2606040" y="9258300"/>
            <a:ext cx="320040" cy="320040"/>
          </a:xfrm>
          <a:prstGeom prst="ellipse">
            <a:avLst/>
          </a:prstGeom>
          <a:solidFill>
            <a:srgbClr val="C62828"/>
          </a:solidFill>
          <a:ln/>
        </p:spPr>
      </p:sp>
      <p:sp>
        <p:nvSpPr>
          <p:cNvPr id="61" name="Text 50"/>
          <p:cNvSpPr txBox="1"/>
          <p:nvPr/>
        </p:nvSpPr>
        <p:spPr>
          <a:xfrm>
            <a:off x="2606040" y="925830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05</a:t>
            </a:r>
            <a:endParaRPr lang="en-US" sz="1080" dirty="0"/>
          </a:p>
        </p:txBody>
      </p:sp>
      <p:sp>
        <p:nvSpPr>
          <p:cNvPr id="62" name="Shape 51"/>
          <p:cNvSpPr/>
          <p:nvPr/>
        </p:nvSpPr>
        <p:spPr>
          <a:xfrm>
            <a:off x="15361920" y="9258300"/>
            <a:ext cx="320040" cy="320040"/>
          </a:xfrm>
          <a:prstGeom prst="ellipse">
            <a:avLst/>
          </a:prstGeom>
          <a:solidFill>
            <a:srgbClr val="2E7D32"/>
          </a:solidFill>
          <a:ln/>
        </p:spPr>
      </p:sp>
      <p:sp>
        <p:nvSpPr>
          <p:cNvPr id="63" name="Text 52"/>
          <p:cNvSpPr txBox="1"/>
          <p:nvPr/>
        </p:nvSpPr>
        <p:spPr>
          <a:xfrm>
            <a:off x="15361920" y="925830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05</a:t>
            </a:r>
            <a:endParaRPr lang="en-US" sz="1080" dirty="0"/>
          </a:p>
        </p:txBody>
      </p:sp>
      <p:pic>
        <p:nvPicPr>
          <p:cNvPr id="64" name="Image 9" descr="/tmp/claude-0/-home-claude/93d9ffac-b36b-5188-b616-7fa3cd4c3901/scratchpad/svgpng/image40.png">    </p:cNvPr>
          <p:cNvPicPr>
            <a:picLocks noChangeAspect="1"/>
          </p:cNvPicPr>
          <p:nvPr/>
        </p:nvPicPr>
        <p:blipFill>
          <a:blip r:embed="rId10"/>
          <a:srcRect l="0" r="0" t="0" b="0"/>
          <a:stretch/>
        </p:blipFill>
        <p:spPr>
          <a:xfrm>
            <a:off x="937260" y="7498080"/>
            <a:ext cx="571500" cy="571500"/>
          </a:xfrm>
          <a:prstGeom prst="rect">
            <a:avLst/>
          </a:prstGeom>
        </p:spPr>
      </p:pic>
      <p:pic>
        <p:nvPicPr>
          <p:cNvPr id="65" name="Image 10" descr="/tmp/claude-0/-home-claude/93d9ffac-b36b-5188-b616-7fa3cd4c3901/scratchpad/svgpng/image42.png">    </p:cNvPr>
          <p:cNvPicPr>
            <a:picLocks noChangeAspect="1"/>
          </p:cNvPicPr>
          <p:nvPr/>
        </p:nvPicPr>
        <p:blipFill>
          <a:blip r:embed="rId11"/>
          <a:srcRect l="0" r="0" t="0" b="0"/>
          <a:stretch/>
        </p:blipFill>
        <p:spPr>
          <a:xfrm>
            <a:off x="1325880" y="7795260"/>
            <a:ext cx="320040" cy="285750"/>
          </a:xfrm>
          <a:prstGeom prst="rect">
            <a:avLst/>
          </a:prstGeom>
        </p:spPr>
      </p:pic>
      <p:pic>
        <p:nvPicPr>
          <p:cNvPr id="66" name="Image 11" descr="/tmp/claude-0/-home-claude/93d9ffac-b36b-5188-b616-7fa3cd4c3901/scratchpad/refimg/img_33.png">    </p:cNvPr>
          <p:cNvPicPr>
            <a:picLocks noChangeAspect="1"/>
          </p:cNvPicPr>
          <p:nvPr/>
        </p:nvPicPr>
        <p:blipFill>
          <a:blip r:embed="rId12"/>
          <a:srcRect l="0" r="0" t="0" b="0"/>
          <a:stretch/>
        </p:blipFill>
        <p:spPr>
          <a:xfrm>
            <a:off x="16664940" y="7429500"/>
            <a:ext cx="708660" cy="708660"/>
          </a:xfrm>
          <a:prstGeom prst="rect">
            <a:avLst/>
          </a:prstGeom>
        </p:spPr>
      </p:pic>
      <p:sp>
        <p:nvSpPr>
          <p:cNvPr id="67" name="Text 53"/>
          <p:cNvSpPr txBox="1"/>
          <p:nvPr/>
        </p:nvSpPr>
        <p:spPr>
          <a:xfrm>
            <a:off x="571500" y="8183880"/>
            <a:ext cx="1417320" cy="685800"/>
          </a:xfrm>
          <a:prstGeom prst="rect">
            <a:avLst/>
          </a:prstGeom>
          <a:noFill/>
          <a:ln/>
        </p:spPr>
        <p:txBody>
          <a:bodyPr wrap="square" lIns="0" tIns="0" rIns="0" bIns="0" rtlCol="0" anchor="t"/>
          <a:lstStyle/>
          <a:p>
            <a:pPr algn="ctr" indent="0" marL="0">
              <a:buNone/>
            </a:pPr>
            <a:r>
              <a:rPr lang="en-US" sz="1310" b="1" dirty="0">
                <a:solidFill>
                  <a:srgbClr val="1F2937"/>
                </a:solidFill>
                <a:latin typeface="Cambria" pitchFamily="34" charset="0"/>
                <a:ea typeface="Cambria" pitchFamily="34" charset="-122"/>
                <a:cs typeface="Cambria" pitchFamily="34" charset="-120"/>
              </a:rPr>
              <a:t>Potential Challenges and Risks</a:t>
            </a:r>
            <a:endParaRPr lang="en-US" sz="1310" dirty="0"/>
          </a:p>
        </p:txBody>
      </p:sp>
      <p:sp>
        <p:nvSpPr>
          <p:cNvPr id="68" name="Text 54"/>
          <p:cNvSpPr txBox="1"/>
          <p:nvPr/>
        </p:nvSpPr>
        <p:spPr>
          <a:xfrm>
            <a:off x="16299180" y="8183880"/>
            <a:ext cx="1417320" cy="685800"/>
          </a:xfrm>
          <a:prstGeom prst="rect">
            <a:avLst/>
          </a:prstGeom>
          <a:noFill/>
          <a:ln/>
        </p:spPr>
        <p:txBody>
          <a:bodyPr wrap="square" lIns="0" tIns="0" rIns="0" bIns="0" rtlCol="0" anchor="t"/>
          <a:lstStyle/>
          <a:p>
            <a:pPr algn="ctr" indent="0" marL="0">
              <a:buNone/>
            </a:pPr>
            <a:r>
              <a:rPr lang="en-US" sz="1310" b="1" dirty="0">
                <a:solidFill>
                  <a:srgbClr val="1F2937"/>
                </a:solidFill>
                <a:latin typeface="Cambria" pitchFamily="34" charset="0"/>
                <a:ea typeface="Cambria" pitchFamily="34" charset="-122"/>
                <a:cs typeface="Cambria" pitchFamily="34" charset="-120"/>
              </a:rPr>
              <a:t>Strategies for Overcoming Challenges</a:t>
            </a:r>
            <a:endParaRPr lang="en-US" sz="1310" dirty="0"/>
          </a:p>
        </p:txBody>
      </p:sp>
      <p:sp>
        <p:nvSpPr>
          <p:cNvPr id="69" name="Text 55"/>
          <p:cNvSpPr txBox="1"/>
          <p:nvPr/>
        </p:nvSpPr>
        <p:spPr>
          <a:xfrm>
            <a:off x="3040380" y="6960870"/>
            <a:ext cx="5897880" cy="525780"/>
          </a:xfrm>
          <a:prstGeom prst="rect">
            <a:avLst/>
          </a:prstGeom>
          <a:noFill/>
          <a:ln/>
        </p:spPr>
        <p:txBody>
          <a:bodyPr wrap="square" lIns="0" tIns="0" rIns="0" bIns="0" rtlCol="0" anchor="ctr"/>
          <a:lstStyle/>
          <a:p>
            <a:pPr algn="l" indent="0" marL="0">
              <a:buNone/>
            </a:pPr>
            <a:r>
              <a:rPr lang="en-US" sz="1400" b="1" dirty="0">
                <a:solidFill>
                  <a:srgbClr val="C62828"/>
                </a:solidFill>
                <a:latin typeface="Calibri" pitchFamily="34" charset="0"/>
                <a:ea typeface="Calibri" pitchFamily="34" charset="-122"/>
                <a:cs typeface="Calibri" pitchFamily="34" charset="-120"/>
              </a:rPr>
              <a:t>IKEv2 hides ESP settings: </a:t>
            </a:r>
            <a:pPr algn="l" indent="0" marL="0">
              <a:buNone/>
            </a:pPr>
            <a:r>
              <a:rPr lang="en-US" sz="1400" dirty="0">
                <a:solidFill>
                  <a:srgbClr val="1F2937"/>
                </a:solidFill>
                <a:latin typeface="Calibri" pitchFamily="34" charset="0"/>
                <a:ea typeface="Calibri" pitchFamily="34" charset="-122"/>
                <a:cs typeface="Calibri" pitchFamily="34" charset="-120"/>
              </a:rPr>
              <a:t>ESP algorithms and PFS travel inside encrypted messages.</a:t>
            </a:r>
            <a:endParaRPr lang="en-US" sz="1400" dirty="0"/>
          </a:p>
        </p:txBody>
      </p:sp>
      <p:sp>
        <p:nvSpPr>
          <p:cNvPr id="70" name="Text 56"/>
          <p:cNvSpPr txBox="1"/>
          <p:nvPr/>
        </p:nvSpPr>
        <p:spPr>
          <a:xfrm>
            <a:off x="9349740" y="6960870"/>
            <a:ext cx="5897880" cy="525780"/>
          </a:xfrm>
          <a:prstGeom prst="rect">
            <a:avLst/>
          </a:prstGeom>
          <a:noFill/>
          <a:ln/>
        </p:spPr>
        <p:txBody>
          <a:bodyPr wrap="square" lIns="0" tIns="0" rIns="0" bIns="0" rtlCol="0" anchor="ctr"/>
          <a:lstStyle/>
          <a:p>
            <a:pPr algn="r" indent="0" marL="0">
              <a:buNone/>
            </a:pPr>
            <a:r>
              <a:rPr lang="en-US" sz="1400" dirty="0">
                <a:solidFill>
                  <a:srgbClr val="1F2937"/>
                </a:solidFill>
                <a:latin typeface="Calibri" pitchFamily="34" charset="0"/>
                <a:ea typeface="Calibri" pitchFamily="34" charset="-122"/>
                <a:cs typeface="Calibri" pitchFamily="34" charset="-120"/>
              </a:rPr>
              <a:t>We </a:t>
            </a:r>
            <a:pPr algn="r" indent="0" marL="0">
              <a:buNone/>
            </a:pPr>
            <a:r>
              <a:rPr lang="en-US" sz="1400" b="1" dirty="0">
                <a:solidFill>
                  <a:srgbClr val="1F2937"/>
                </a:solidFill>
                <a:latin typeface="Calibri" pitchFamily="34" charset="0"/>
                <a:ea typeface="Calibri" pitchFamily="34" charset="-122"/>
                <a:cs typeface="Calibri" pitchFamily="34" charset="-120"/>
              </a:rPr>
              <a:t>infer them from packet sizes</a:t>
            </a:r>
            <a:pPr algn="r" indent="0" marL="0">
              <a:buNone/>
            </a:pPr>
            <a:r>
              <a:rPr lang="en-US" sz="1400" dirty="0">
                <a:solidFill>
                  <a:srgbClr val="1F2937"/>
                </a:solidFill>
                <a:latin typeface="Calibri" pitchFamily="34" charset="0"/>
                <a:ea typeface="Calibri" pitchFamily="34" charset="-122"/>
                <a:cs typeface="Calibri" pitchFamily="34" charset="-120"/>
              </a:rPr>
              <a:t> with a confidence, else say “not observable”.</a:t>
            </a:r>
            <a:endParaRPr lang="en-US" sz="1400" dirty="0"/>
          </a:p>
        </p:txBody>
      </p:sp>
      <p:sp>
        <p:nvSpPr>
          <p:cNvPr id="71" name="Text 57"/>
          <p:cNvSpPr txBox="1"/>
          <p:nvPr/>
        </p:nvSpPr>
        <p:spPr>
          <a:xfrm>
            <a:off x="3040380" y="7509510"/>
            <a:ext cx="5897880" cy="525780"/>
          </a:xfrm>
          <a:prstGeom prst="rect">
            <a:avLst/>
          </a:prstGeom>
          <a:noFill/>
          <a:ln/>
        </p:spPr>
        <p:txBody>
          <a:bodyPr wrap="square" lIns="0" tIns="0" rIns="0" bIns="0" rtlCol="0" anchor="ctr"/>
          <a:lstStyle/>
          <a:p>
            <a:pPr algn="l" indent="0" marL="0">
              <a:buNone/>
            </a:pPr>
            <a:r>
              <a:rPr lang="en-US" sz="1400" b="1" dirty="0">
                <a:solidFill>
                  <a:srgbClr val="C62828"/>
                </a:solidFill>
                <a:latin typeface="Calibri" pitchFamily="34" charset="0"/>
                <a:ea typeface="Calibri" pitchFamily="34" charset="-122"/>
                <a:cs typeface="Calibri" pitchFamily="34" charset="-120"/>
              </a:rPr>
              <a:t>Lab data is cleaner than real data: </a:t>
            </a:r>
            <a:pPr algn="l" indent="0" marL="0">
              <a:buNone/>
            </a:pPr>
            <a:r>
              <a:rPr lang="en-US" sz="1400" dirty="0">
                <a:solidFill>
                  <a:srgbClr val="1F2937"/>
                </a:solidFill>
                <a:latin typeface="Calibri" pitchFamily="34" charset="0"/>
                <a:ea typeface="Calibri" pitchFamily="34" charset="-122"/>
                <a:cs typeface="Calibri" pitchFamily="34" charset="-120"/>
              </a:rPr>
              <a:t>our training captures are neater than real networks.</a:t>
            </a:r>
            <a:endParaRPr lang="en-US" sz="1400" dirty="0"/>
          </a:p>
        </p:txBody>
      </p:sp>
      <p:sp>
        <p:nvSpPr>
          <p:cNvPr id="72" name="Text 58"/>
          <p:cNvSpPr txBox="1"/>
          <p:nvPr/>
        </p:nvSpPr>
        <p:spPr>
          <a:xfrm>
            <a:off x="9349740" y="7509510"/>
            <a:ext cx="5897880" cy="525780"/>
          </a:xfrm>
          <a:prstGeom prst="rect">
            <a:avLst/>
          </a:prstGeom>
          <a:noFill/>
          <a:ln/>
        </p:spPr>
        <p:txBody>
          <a:bodyPr wrap="square" lIns="0" tIns="0" rIns="0" bIns="0" rtlCol="0" anchor="ctr"/>
          <a:lstStyle/>
          <a:p>
            <a:pPr algn="r" indent="0" marL="0">
              <a:buNone/>
            </a:pPr>
            <a:r>
              <a:rPr lang="en-US" sz="1400" dirty="0">
                <a:solidFill>
                  <a:srgbClr val="1F2937"/>
                </a:solidFill>
                <a:latin typeface="Calibri" pitchFamily="34" charset="0"/>
                <a:ea typeface="Calibri" pitchFamily="34" charset="-122"/>
                <a:cs typeface="Calibri" pitchFamily="34" charset="-120"/>
              </a:rPr>
              <a:t>We </a:t>
            </a:r>
            <a:pPr algn="r" indent="0" marL="0">
              <a:buNone/>
            </a:pPr>
            <a:r>
              <a:rPr lang="en-US" sz="1400" b="1" dirty="0">
                <a:solidFill>
                  <a:srgbClr val="1F2937"/>
                </a:solidFill>
                <a:latin typeface="Calibri" pitchFamily="34" charset="0"/>
                <a:ea typeface="Calibri" pitchFamily="34" charset="-122"/>
                <a:cs typeface="Calibri" pitchFamily="34" charset="-120"/>
              </a:rPr>
              <a:t>add jitter, loss and extra flows</a:t>
            </a:r>
            <a:pPr algn="r" indent="0" marL="0">
              <a:buNone/>
            </a:pPr>
            <a:r>
              <a:rPr lang="en-US" sz="1400" dirty="0">
                <a:solidFill>
                  <a:srgbClr val="1F2937"/>
                </a:solidFill>
                <a:latin typeface="Calibri" pitchFamily="34" charset="0"/>
                <a:ea typeface="Calibri" pitchFamily="34" charset="-122"/>
                <a:cs typeface="Calibri" pitchFamily="34" charset="-120"/>
              </a:rPr>
              <a:t> in training and will </a:t>
            </a:r>
            <a:pPr algn="r" indent="0" marL="0">
              <a:buNone/>
            </a:pPr>
            <a:r>
              <a:rPr lang="en-US" sz="1400" b="1" dirty="0">
                <a:solidFill>
                  <a:srgbClr val="1F2937"/>
                </a:solidFill>
                <a:latin typeface="Calibri" pitchFamily="34" charset="0"/>
                <a:ea typeface="Calibri" pitchFamily="34" charset="-122"/>
                <a:cs typeface="Calibri" pitchFamily="34" charset="-120"/>
              </a:rPr>
              <a:t>test on real strongSwan traffic</a:t>
            </a:r>
            <a:pPr algn="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p>
        </p:txBody>
      </p:sp>
      <p:sp>
        <p:nvSpPr>
          <p:cNvPr id="73" name="Text 59"/>
          <p:cNvSpPr txBox="1"/>
          <p:nvPr/>
        </p:nvSpPr>
        <p:spPr>
          <a:xfrm>
            <a:off x="3040380" y="8058150"/>
            <a:ext cx="5897880" cy="525780"/>
          </a:xfrm>
          <a:prstGeom prst="rect">
            <a:avLst/>
          </a:prstGeom>
          <a:noFill/>
          <a:ln/>
        </p:spPr>
        <p:txBody>
          <a:bodyPr wrap="square" lIns="0" tIns="0" rIns="0" bIns="0" rtlCol="0" anchor="ctr"/>
          <a:lstStyle/>
          <a:p>
            <a:pPr algn="l" indent="0" marL="0">
              <a:buNone/>
            </a:pPr>
            <a:r>
              <a:rPr lang="en-US" sz="1400" b="1" dirty="0">
                <a:solidFill>
                  <a:srgbClr val="C62828"/>
                </a:solidFill>
                <a:latin typeface="Calibri" pitchFamily="34" charset="0"/>
                <a:ea typeface="Calibri" pitchFamily="34" charset="-122"/>
                <a:cs typeface="Calibri" pitchFamily="34" charset="-120"/>
              </a:rPr>
              <a:t>Many apps in one tunnel: </a:t>
            </a:r>
            <a:pPr algn="l" indent="0" marL="0">
              <a:buNone/>
            </a:pPr>
            <a:r>
              <a:rPr lang="en-US" sz="1400" dirty="0">
                <a:solidFill>
                  <a:srgbClr val="1F2937"/>
                </a:solidFill>
                <a:latin typeface="Calibri" pitchFamily="34" charset="0"/>
                <a:ea typeface="Calibri" pitchFamily="34" charset="-122"/>
                <a:cs typeface="Calibri" pitchFamily="34" charset="-120"/>
              </a:rPr>
              <a:t>one SA can carry web, video and chat together.</a:t>
            </a:r>
            <a:endParaRPr lang="en-US" sz="1400" dirty="0"/>
          </a:p>
        </p:txBody>
      </p:sp>
      <p:sp>
        <p:nvSpPr>
          <p:cNvPr id="74" name="Text 60"/>
          <p:cNvSpPr txBox="1"/>
          <p:nvPr/>
        </p:nvSpPr>
        <p:spPr>
          <a:xfrm>
            <a:off x="9349740" y="8058150"/>
            <a:ext cx="5897880" cy="525780"/>
          </a:xfrm>
          <a:prstGeom prst="rect">
            <a:avLst/>
          </a:prstGeom>
          <a:noFill/>
          <a:ln/>
        </p:spPr>
        <p:txBody>
          <a:bodyPr wrap="square" lIns="0" tIns="0" rIns="0" bIns="0" rtlCol="0" anchor="ctr"/>
          <a:lstStyle/>
          <a:p>
            <a:pPr algn="r" indent="0" marL="0">
              <a:buNone/>
            </a:pPr>
            <a:r>
              <a:rPr lang="en-US" sz="1400" dirty="0">
                <a:solidFill>
                  <a:srgbClr val="1F2937"/>
                </a:solidFill>
                <a:latin typeface="Calibri" pitchFamily="34" charset="0"/>
                <a:ea typeface="Calibri" pitchFamily="34" charset="-122"/>
                <a:cs typeface="Calibri" pitchFamily="34" charset="-120"/>
              </a:rPr>
              <a:t>We label </a:t>
            </a:r>
            <a:pPr algn="r" indent="0" marL="0">
              <a:buNone/>
            </a:pPr>
            <a:r>
              <a:rPr lang="en-US" sz="1400" b="1" dirty="0">
                <a:solidFill>
                  <a:srgbClr val="1F2937"/>
                </a:solidFill>
                <a:latin typeface="Calibri" pitchFamily="34" charset="0"/>
                <a:ea typeface="Calibri" pitchFamily="34" charset="-122"/>
                <a:cs typeface="Calibri" pitchFamily="34" charset="-120"/>
              </a:rPr>
              <a:t>10-second windows</a:t>
            </a:r>
            <a:pPr algn="r" indent="0" marL="0">
              <a:buNone/>
            </a:pPr>
            <a:r>
              <a:rPr lang="en-US" sz="1400" dirty="0">
                <a:solidFill>
                  <a:srgbClr val="1F2937"/>
                </a:solidFill>
                <a:latin typeface="Calibri" pitchFamily="34" charset="0"/>
                <a:ea typeface="Calibri" pitchFamily="34" charset="-122"/>
                <a:cs typeface="Calibri" pitchFamily="34" charset="-120"/>
              </a:rPr>
              <a:t>, smooth them with an HMM, allow “uncertain”.</a:t>
            </a:r>
            <a:endParaRPr lang="en-US" sz="1400" dirty="0"/>
          </a:p>
        </p:txBody>
      </p:sp>
      <p:sp>
        <p:nvSpPr>
          <p:cNvPr id="75" name="Text 61"/>
          <p:cNvSpPr txBox="1"/>
          <p:nvPr/>
        </p:nvSpPr>
        <p:spPr>
          <a:xfrm>
            <a:off x="3040380" y="8606790"/>
            <a:ext cx="5897880" cy="525780"/>
          </a:xfrm>
          <a:prstGeom prst="rect">
            <a:avLst/>
          </a:prstGeom>
          <a:noFill/>
          <a:ln/>
        </p:spPr>
        <p:txBody>
          <a:bodyPr wrap="square" lIns="0" tIns="0" rIns="0" bIns="0" rtlCol="0" anchor="ctr"/>
          <a:lstStyle/>
          <a:p>
            <a:pPr algn="l" indent="0" marL="0">
              <a:buNone/>
            </a:pPr>
            <a:r>
              <a:rPr lang="en-US" sz="1400" b="1" dirty="0">
                <a:solidFill>
                  <a:srgbClr val="C62828"/>
                </a:solidFill>
                <a:latin typeface="Calibri" pitchFamily="34" charset="0"/>
                <a:ea typeface="Calibri" pitchFamily="34" charset="-122"/>
                <a:cs typeface="Calibri" pitchFamily="34" charset="-120"/>
              </a:rPr>
              <a:t>Capture permissions: </a:t>
            </a:r>
            <a:pPr algn="l" indent="0" marL="0">
              <a:buNone/>
            </a:pPr>
            <a:r>
              <a:rPr lang="en-US" sz="1400" dirty="0">
                <a:solidFill>
                  <a:srgbClr val="1F2937"/>
                </a:solidFill>
                <a:latin typeface="Calibri" pitchFamily="34" charset="0"/>
                <a:ea typeface="Calibri" pitchFamily="34" charset="-122"/>
                <a:cs typeface="Calibri" pitchFamily="34" charset="-120"/>
              </a:rPr>
              <a:t>live sniffing needs admin rights or Npcap.</a:t>
            </a:r>
            <a:endParaRPr lang="en-US" sz="1400" dirty="0"/>
          </a:p>
        </p:txBody>
      </p:sp>
      <p:sp>
        <p:nvSpPr>
          <p:cNvPr id="76" name="Text 62"/>
          <p:cNvSpPr txBox="1"/>
          <p:nvPr/>
        </p:nvSpPr>
        <p:spPr>
          <a:xfrm>
            <a:off x="9349740" y="8606790"/>
            <a:ext cx="5897880" cy="525780"/>
          </a:xfrm>
          <a:prstGeom prst="rect">
            <a:avLst/>
          </a:prstGeom>
          <a:noFill/>
          <a:ln/>
        </p:spPr>
        <p:txBody>
          <a:bodyPr wrap="square" lIns="0" tIns="0" rIns="0" bIns="0" rtlCol="0" anchor="ctr"/>
          <a:lstStyle/>
          <a:p>
            <a:pPr algn="r" indent="0" marL="0">
              <a:buNone/>
            </a:pPr>
            <a:r>
              <a:rPr lang="en-US" sz="1400" dirty="0">
                <a:solidFill>
                  <a:srgbClr val="1F2937"/>
                </a:solidFill>
                <a:latin typeface="Calibri" pitchFamily="34" charset="0"/>
                <a:ea typeface="Calibri" pitchFamily="34" charset="-122"/>
                <a:cs typeface="Calibri" pitchFamily="34" charset="-120"/>
              </a:rPr>
              <a:t>Uploading or </a:t>
            </a:r>
            <a:pPr algn="r" indent="0" marL="0">
              <a:buNone/>
            </a:pPr>
            <a:r>
              <a:rPr lang="en-US" sz="1400" b="1" dirty="0">
                <a:solidFill>
                  <a:srgbClr val="1F2937"/>
                </a:solidFill>
                <a:latin typeface="Calibri" pitchFamily="34" charset="0"/>
                <a:ea typeface="Calibri" pitchFamily="34" charset="-122"/>
                <a:cs typeface="Calibri" pitchFamily="34" charset="-120"/>
              </a:rPr>
              <a:t>replaying a PCAP</a:t>
            </a:r>
            <a:pPr algn="r" indent="0" marL="0">
              <a:buNone/>
            </a:pPr>
            <a:r>
              <a:rPr lang="en-US" sz="1400" dirty="0">
                <a:solidFill>
                  <a:srgbClr val="1F2937"/>
                </a:solidFill>
                <a:latin typeface="Calibri" pitchFamily="34" charset="0"/>
                <a:ea typeface="Calibri" pitchFamily="34" charset="-122"/>
                <a:cs typeface="Calibri" pitchFamily="34" charset="-120"/>
              </a:rPr>
              <a:t> needs no special rights; live mode uses tcpdump.</a:t>
            </a:r>
            <a:endParaRPr lang="en-US" sz="1400" dirty="0"/>
          </a:p>
        </p:txBody>
      </p:sp>
      <p:sp>
        <p:nvSpPr>
          <p:cNvPr id="77" name="Text 63"/>
          <p:cNvSpPr txBox="1"/>
          <p:nvPr/>
        </p:nvSpPr>
        <p:spPr>
          <a:xfrm>
            <a:off x="3040380" y="9155430"/>
            <a:ext cx="5897880" cy="525780"/>
          </a:xfrm>
          <a:prstGeom prst="rect">
            <a:avLst/>
          </a:prstGeom>
          <a:noFill/>
          <a:ln/>
        </p:spPr>
        <p:txBody>
          <a:bodyPr wrap="square" lIns="0" tIns="0" rIns="0" bIns="0" rtlCol="0" anchor="ctr"/>
          <a:lstStyle/>
          <a:p>
            <a:pPr algn="l" indent="0" marL="0">
              <a:buNone/>
            </a:pPr>
            <a:r>
              <a:rPr lang="en-US" sz="1400" b="1" dirty="0">
                <a:solidFill>
                  <a:srgbClr val="C62828"/>
                </a:solidFill>
                <a:latin typeface="Calibri" pitchFamily="34" charset="0"/>
                <a:ea typeface="Calibri" pitchFamily="34" charset="-122"/>
                <a:cs typeface="Calibri" pitchFamily="34" charset="-120"/>
              </a:rPr>
              <a:t>Sensitive traffic: </a:t>
            </a:r>
            <a:pPr algn="l" indent="0" marL="0">
              <a:buNone/>
            </a:pPr>
            <a:r>
              <a:rPr lang="en-US" sz="1400" dirty="0">
                <a:solidFill>
                  <a:srgbClr val="1F2937"/>
                </a:solidFill>
                <a:latin typeface="Calibri" pitchFamily="34" charset="0"/>
                <a:ea typeface="Calibri" pitchFamily="34" charset="-122"/>
                <a:cs typeface="Calibri" pitchFamily="34" charset="-120"/>
              </a:rPr>
              <a:t>government VPN captures cannot leave the building.</a:t>
            </a:r>
            <a:endParaRPr lang="en-US" sz="1400" dirty="0"/>
          </a:p>
        </p:txBody>
      </p:sp>
      <p:sp>
        <p:nvSpPr>
          <p:cNvPr id="78" name="Text 64"/>
          <p:cNvSpPr txBox="1"/>
          <p:nvPr/>
        </p:nvSpPr>
        <p:spPr>
          <a:xfrm>
            <a:off x="9349740" y="9155430"/>
            <a:ext cx="5897880" cy="525780"/>
          </a:xfrm>
          <a:prstGeom prst="rect">
            <a:avLst/>
          </a:prstGeom>
          <a:noFill/>
          <a:ln/>
        </p:spPr>
        <p:txBody>
          <a:bodyPr wrap="square" lIns="0" tIns="0" rIns="0" bIns="0" rtlCol="0" anchor="ctr"/>
          <a:lstStyle/>
          <a:p>
            <a:pPr algn="r" indent="0" marL="0">
              <a:buNone/>
            </a:pPr>
            <a:r>
              <a:rPr lang="en-US" sz="1400" dirty="0">
                <a:solidFill>
                  <a:srgbClr val="1F2937"/>
                </a:solidFill>
                <a:latin typeface="Calibri" pitchFamily="34" charset="0"/>
                <a:ea typeface="Calibri" pitchFamily="34" charset="-122"/>
                <a:cs typeface="Calibri" pitchFamily="34" charset="-120"/>
              </a:rPr>
              <a:t>Everything runs </a:t>
            </a:r>
            <a:pPr algn="r" indent="0" marL="0">
              <a:buNone/>
            </a:pPr>
            <a:r>
              <a:rPr lang="en-US" sz="1400" b="1" dirty="0">
                <a:solidFill>
                  <a:srgbClr val="1F2937"/>
                </a:solidFill>
                <a:latin typeface="Calibri" pitchFamily="34" charset="0"/>
                <a:ea typeface="Calibri" pitchFamily="34" charset="-122"/>
                <a:cs typeface="Calibri" pitchFamily="34" charset="-120"/>
              </a:rPr>
              <a:t>locally</a:t>
            </a:r>
            <a:pPr algn="r" indent="0" marL="0">
              <a:buNone/>
            </a:pPr>
            <a:r>
              <a:rPr lang="en-US" sz="1400" dirty="0">
                <a:solidFill>
                  <a:srgbClr val="1F2937"/>
                </a:solidFill>
                <a:latin typeface="Calibri" pitchFamily="34" charset="0"/>
                <a:ea typeface="Calibri" pitchFamily="34" charset="-122"/>
                <a:cs typeface="Calibri" pitchFamily="34" charset="-120"/>
              </a:rPr>
              <a:t>; uploads are checked and </a:t>
            </a:r>
            <a:pPr algn="r" indent="0" marL="0">
              <a:buNone/>
            </a:pPr>
            <a:r>
              <a:rPr lang="en-US" sz="1400" b="1" dirty="0">
                <a:solidFill>
                  <a:srgbClr val="1F2937"/>
                </a:solidFill>
                <a:latin typeface="Calibri" pitchFamily="34" charset="0"/>
                <a:ea typeface="Calibri" pitchFamily="34" charset="-122"/>
                <a:cs typeface="Calibri" pitchFamily="34" charset="-120"/>
              </a:rPr>
              <a:t>nothing goes online</a:t>
            </a:r>
            <a:pPr algn="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p>
        </p:txBody>
      </p:sp>
      <p:sp>
        <p:nvSpPr>
          <p:cNvPr id="79" name="Shape 65"/>
          <p:cNvSpPr/>
          <p:nvPr/>
        </p:nvSpPr>
        <p:spPr>
          <a:xfrm>
            <a:off x="0" y="9852660"/>
            <a:ext cx="18288000" cy="434340"/>
          </a:xfrm>
          <a:prstGeom prst="rect">
            <a:avLst/>
          </a:prstGeom>
          <a:solidFill>
            <a:srgbClr val="1565C0"/>
          </a:solidFill>
          <a:ln/>
        </p:spPr>
      </p:sp>
      <p:sp>
        <p:nvSpPr>
          <p:cNvPr id="80" name="Text 66"/>
          <p:cNvSpPr txBox="1"/>
          <p:nvPr/>
        </p:nvSpPr>
        <p:spPr>
          <a:xfrm>
            <a:off x="4572000" y="9852660"/>
            <a:ext cx="9144000" cy="434340"/>
          </a:xfrm>
          <a:prstGeom prst="rect">
            <a:avLst/>
          </a:prstGeom>
          <a:noFill/>
          <a:ln/>
        </p:spPr>
        <p:txBody>
          <a:bodyPr wrap="square" lIns="0" tIns="0" rIns="0" bIns="0" rtlCol="0" anchor="ctr"/>
          <a:lstStyle/>
          <a:p>
            <a:pPr algn="ctr" indent="0" marL="0">
              <a:buNone/>
            </a:pPr>
            <a:r>
              <a:rPr lang="en-US" sz="1440" b="1" spc="100" kern="0" dirty="0">
                <a:solidFill>
                  <a:srgbClr val="FFFFFF"/>
                </a:solidFill>
                <a:latin typeface="Cambria" pitchFamily="34" charset="0"/>
                <a:ea typeface="Cambria" pitchFamily="34" charset="-122"/>
                <a:cs typeface="Cambria" pitchFamily="34" charset="-120"/>
              </a:rPr>
              <a:t>SMART INDIA HACKATHON 2026</a:t>
            </a:r>
            <a:endParaRPr lang="en-US" sz="1440" dirty="0"/>
          </a:p>
        </p:txBody>
      </p:sp>
      <p:sp>
        <p:nvSpPr>
          <p:cNvPr id="81" name="Text 67"/>
          <p:cNvSpPr txBox="1"/>
          <p:nvPr/>
        </p:nvSpPr>
        <p:spPr>
          <a:xfrm>
            <a:off x="17145000" y="9852660"/>
            <a:ext cx="685800" cy="434340"/>
          </a:xfrm>
          <a:prstGeom prst="rect">
            <a:avLst/>
          </a:prstGeom>
          <a:noFill/>
          <a:ln/>
        </p:spPr>
        <p:txBody>
          <a:bodyPr wrap="square" lIns="0" tIns="0" rIns="0" bIns="0" rtlCol="0" anchor="ctr"/>
          <a:lstStyle/>
          <a:p>
            <a:pPr algn="r" indent="0" marL="0">
              <a:buNone/>
            </a:pPr>
            <a:r>
              <a:rPr lang="en-US" sz="1440" b="1" dirty="0">
                <a:solidFill>
                  <a:srgbClr val="FFFFFF"/>
                </a:solidFill>
                <a:latin typeface="Cambria" pitchFamily="34" charset="0"/>
                <a:ea typeface="Cambria" pitchFamily="34" charset="-122"/>
                <a:cs typeface="Cambria" pitchFamily="34" charset="-120"/>
              </a:rPr>
              <a:t>4</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team.jpg">    </p:cNvPr>
          <p:cNvPicPr>
            <a:picLocks noChangeAspect="1"/>
          </p:cNvPicPr>
          <p:nvPr/>
        </p:nvPicPr>
        <p:blipFill>
          <a:blip r:embed="rId1"/>
          <a:stretch>
            <a:fillRect/>
          </a:stretch>
        </p:blipFill>
        <p:spPr>
          <a:xfrm>
            <a:off x="205740" y="91440"/>
            <a:ext cx="982980" cy="982980"/>
          </a:xfrm>
          <a:prstGeom prst="rect">
            <a:avLst/>
          </a:prstGeom>
        </p:spPr>
      </p:pic>
      <p:pic>
        <p:nvPicPr>
          <p:cNvPr id="3" name="Image 1" descr="/tmp/claude-0/-home-claude/93d9ffac-b36b-5188-b616-7fa3cd4c3901/scratchpad/assets/sih2026.png">    </p:cNvPr>
          <p:cNvPicPr>
            <a:picLocks noChangeAspect="1"/>
          </p:cNvPicPr>
          <p:nvPr/>
        </p:nvPicPr>
        <p:blipFill>
          <a:blip r:embed="rId2"/>
          <a:stretch>
            <a:fillRect/>
          </a:stretch>
        </p:blipFill>
        <p:spPr>
          <a:xfrm>
            <a:off x="15841980" y="68580"/>
            <a:ext cx="2240280" cy="1051560"/>
          </a:xfrm>
          <a:prstGeom prst="rect">
            <a:avLst/>
          </a:prstGeom>
        </p:spPr>
      </p:pic>
      <p:sp>
        <p:nvSpPr>
          <p:cNvPr id="4" name="Text 0"/>
          <p:cNvSpPr txBox="1"/>
          <p:nvPr/>
        </p:nvSpPr>
        <p:spPr>
          <a:xfrm>
            <a:off x="2857500" y="160020"/>
            <a:ext cx="12573000" cy="731520"/>
          </a:xfrm>
          <a:prstGeom prst="rect">
            <a:avLst/>
          </a:prstGeom>
          <a:noFill/>
          <a:ln/>
        </p:spPr>
        <p:txBody>
          <a:bodyPr wrap="square" lIns="0" tIns="0" rIns="0" bIns="0" rtlCol="0" anchor="ctr"/>
          <a:lstStyle/>
          <a:p>
            <a:pPr algn="ctr" indent="0" marL="0">
              <a:buNone/>
            </a:pPr>
            <a:r>
              <a:rPr lang="en-US" sz="4140" b="1" spc="100" kern="0" dirty="0">
                <a:solidFill>
                  <a:srgbClr val="1F2937"/>
                </a:solidFill>
                <a:latin typeface="Cambria" pitchFamily="34" charset="0"/>
                <a:ea typeface="Cambria" pitchFamily="34" charset="-122"/>
                <a:cs typeface="Cambria" pitchFamily="34" charset="-120"/>
              </a:rPr>
              <a:t>IMPACT AND BENEFITS</a:t>
            </a:r>
            <a:endParaRPr lang="en-US" sz="4140" dirty="0"/>
          </a:p>
        </p:txBody>
      </p:sp>
      <p:sp>
        <p:nvSpPr>
          <p:cNvPr id="5" name="Shape 1"/>
          <p:cNvSpPr/>
          <p:nvPr/>
        </p:nvSpPr>
        <p:spPr>
          <a:xfrm>
            <a:off x="5429250" y="2560320"/>
            <a:ext cx="11430" cy="1097280"/>
          </a:xfrm>
          <a:custGeom>
            <a:avLst/>
            <a:gdLst/>
            <a:ahLst/>
            <a:cxnLst/>
            <a:rect l="l" t="t" r="r" b="b"/>
            <a:pathLst>
              <a:path w="11430" h="1097280">
                <a:moveTo>
                  <a:pt x="0" y="1097280"/>
                </a:moveTo>
                <a:lnTo>
                  <a:pt x="0" y="0"/>
                </a:lnTo>
              </a:path>
            </a:pathLst>
          </a:custGeom>
          <a:solidFill>
            <a:srgbClr val="FFFFFF">
              <a:alpha val="0"/>
            </a:srgbClr>
          </a:solidFill>
          <a:ln w="23813">
            <a:solidFill>
              <a:srgbClr val="2B2B2B"/>
            </a:solidFill>
            <a:prstDash val="solid"/>
          </a:ln>
        </p:spPr>
      </p:sp>
      <p:sp>
        <p:nvSpPr>
          <p:cNvPr id="6" name="Shape 2"/>
          <p:cNvSpPr/>
          <p:nvPr/>
        </p:nvSpPr>
        <p:spPr>
          <a:xfrm>
            <a:off x="3383280" y="3806190"/>
            <a:ext cx="880110" cy="525780"/>
          </a:xfrm>
          <a:custGeom>
            <a:avLst/>
            <a:gdLst/>
            <a:ahLst/>
            <a:cxnLst/>
            <a:rect l="l" t="t" r="r" b="b"/>
            <a:pathLst>
              <a:path w="880110" h="525780">
                <a:moveTo>
                  <a:pt x="880110" y="525780"/>
                </a:moveTo>
                <a:lnTo>
                  <a:pt x="411480" y="525780"/>
                </a:lnTo>
                <a:lnTo>
                  <a:pt x="411480" y="0"/>
                </a:lnTo>
                <a:lnTo>
                  <a:pt x="0" y="0"/>
                </a:lnTo>
              </a:path>
            </a:pathLst>
          </a:custGeom>
          <a:solidFill>
            <a:srgbClr val="FFFFFF">
              <a:alpha val="0"/>
            </a:srgbClr>
          </a:solidFill>
          <a:ln w="23813">
            <a:solidFill>
              <a:srgbClr val="2B2B2B"/>
            </a:solidFill>
            <a:prstDash val="solid"/>
          </a:ln>
        </p:spPr>
      </p:sp>
      <p:sp>
        <p:nvSpPr>
          <p:cNvPr id="7" name="Shape 3"/>
          <p:cNvSpPr/>
          <p:nvPr/>
        </p:nvSpPr>
        <p:spPr>
          <a:xfrm>
            <a:off x="6595110" y="3806190"/>
            <a:ext cx="880110" cy="525780"/>
          </a:xfrm>
          <a:custGeom>
            <a:avLst/>
            <a:gdLst/>
            <a:ahLst/>
            <a:cxnLst/>
            <a:rect l="l" t="t" r="r" b="b"/>
            <a:pathLst>
              <a:path w="880110" h="525780">
                <a:moveTo>
                  <a:pt x="0" y="525780"/>
                </a:moveTo>
                <a:lnTo>
                  <a:pt x="468630" y="525780"/>
                </a:lnTo>
                <a:lnTo>
                  <a:pt x="468630" y="0"/>
                </a:lnTo>
                <a:lnTo>
                  <a:pt x="880110" y="0"/>
                </a:lnTo>
              </a:path>
            </a:pathLst>
          </a:custGeom>
          <a:solidFill>
            <a:srgbClr val="FFFFFF">
              <a:alpha val="0"/>
            </a:srgbClr>
          </a:solidFill>
          <a:ln w="23813">
            <a:solidFill>
              <a:srgbClr val="2B2B2B"/>
            </a:solidFill>
            <a:prstDash val="solid"/>
          </a:ln>
        </p:spPr>
      </p:sp>
      <p:sp>
        <p:nvSpPr>
          <p:cNvPr id="8" name="Shape 4"/>
          <p:cNvSpPr/>
          <p:nvPr/>
        </p:nvSpPr>
        <p:spPr>
          <a:xfrm>
            <a:off x="3383280" y="5680710"/>
            <a:ext cx="880110" cy="525780"/>
          </a:xfrm>
          <a:custGeom>
            <a:avLst/>
            <a:gdLst/>
            <a:ahLst/>
            <a:cxnLst/>
            <a:rect l="l" t="t" r="r" b="b"/>
            <a:pathLst>
              <a:path w="880110" h="525780">
                <a:moveTo>
                  <a:pt x="880110" y="0"/>
                </a:moveTo>
                <a:lnTo>
                  <a:pt x="411480" y="0"/>
                </a:lnTo>
                <a:lnTo>
                  <a:pt x="411480" y="525780"/>
                </a:lnTo>
                <a:lnTo>
                  <a:pt x="0" y="525780"/>
                </a:lnTo>
              </a:path>
            </a:pathLst>
          </a:custGeom>
          <a:solidFill>
            <a:srgbClr val="FFFFFF">
              <a:alpha val="0"/>
            </a:srgbClr>
          </a:solidFill>
          <a:ln w="23813">
            <a:solidFill>
              <a:srgbClr val="2B2B2B"/>
            </a:solidFill>
            <a:prstDash val="solid"/>
          </a:ln>
        </p:spPr>
      </p:sp>
      <p:sp>
        <p:nvSpPr>
          <p:cNvPr id="9" name="Shape 5"/>
          <p:cNvSpPr/>
          <p:nvPr/>
        </p:nvSpPr>
        <p:spPr>
          <a:xfrm>
            <a:off x="6595110" y="5680710"/>
            <a:ext cx="880110" cy="525780"/>
          </a:xfrm>
          <a:custGeom>
            <a:avLst/>
            <a:gdLst/>
            <a:ahLst/>
            <a:cxnLst/>
            <a:rect l="l" t="t" r="r" b="b"/>
            <a:pathLst>
              <a:path w="880110" h="525780">
                <a:moveTo>
                  <a:pt x="0" y="0"/>
                </a:moveTo>
                <a:lnTo>
                  <a:pt x="468630" y="0"/>
                </a:lnTo>
                <a:lnTo>
                  <a:pt x="468630" y="525780"/>
                </a:lnTo>
                <a:lnTo>
                  <a:pt x="880110" y="525780"/>
                </a:lnTo>
              </a:path>
            </a:pathLst>
          </a:custGeom>
          <a:solidFill>
            <a:srgbClr val="FFFFFF">
              <a:alpha val="0"/>
            </a:srgbClr>
          </a:solidFill>
          <a:ln w="23813">
            <a:solidFill>
              <a:srgbClr val="2B2B2B"/>
            </a:solidFill>
            <a:prstDash val="solid"/>
          </a:ln>
        </p:spPr>
      </p:sp>
      <p:sp>
        <p:nvSpPr>
          <p:cNvPr id="10" name="Shape 6"/>
          <p:cNvSpPr/>
          <p:nvPr/>
        </p:nvSpPr>
        <p:spPr>
          <a:xfrm>
            <a:off x="5429250" y="6355080"/>
            <a:ext cx="11430" cy="1211580"/>
          </a:xfrm>
          <a:custGeom>
            <a:avLst/>
            <a:gdLst/>
            <a:ahLst/>
            <a:cxnLst/>
            <a:rect l="l" t="t" r="r" b="b"/>
            <a:pathLst>
              <a:path w="11430" h="1211580">
                <a:moveTo>
                  <a:pt x="0" y="0"/>
                </a:moveTo>
                <a:lnTo>
                  <a:pt x="0" y="1211580"/>
                </a:lnTo>
              </a:path>
            </a:pathLst>
          </a:custGeom>
          <a:solidFill>
            <a:srgbClr val="FFFFFF">
              <a:alpha val="0"/>
            </a:srgbClr>
          </a:solidFill>
          <a:ln w="23813">
            <a:solidFill>
              <a:srgbClr val="2B2B2B"/>
            </a:solidFill>
            <a:prstDash val="solid"/>
          </a:ln>
        </p:spPr>
      </p:sp>
      <p:sp>
        <p:nvSpPr>
          <p:cNvPr id="11" name="Shape 7"/>
          <p:cNvSpPr/>
          <p:nvPr/>
        </p:nvSpPr>
        <p:spPr>
          <a:xfrm>
            <a:off x="3943350" y="3520440"/>
            <a:ext cx="2971800" cy="2971800"/>
          </a:xfrm>
          <a:prstGeom prst="ellipse">
            <a:avLst/>
          </a:prstGeom>
          <a:solidFill>
            <a:srgbClr val="FFFFFF"/>
          </a:solidFill>
          <a:ln w="19050">
            <a:solidFill>
              <a:srgbClr val="2B2B2B"/>
            </a:solidFill>
            <a:prstDash val="dash"/>
          </a:ln>
        </p:spPr>
      </p:sp>
      <p:sp>
        <p:nvSpPr>
          <p:cNvPr id="12" name="Shape 8"/>
          <p:cNvSpPr/>
          <p:nvPr/>
        </p:nvSpPr>
        <p:spPr>
          <a:xfrm>
            <a:off x="4034790" y="3611880"/>
            <a:ext cx="2788920" cy="2788920"/>
          </a:xfrm>
          <a:prstGeom prst="blockArc">
            <a:avLst>
              <a:gd name="adj1" fmla="val 14520000"/>
              <a:gd name="adj2" fmla="val 17880000"/>
              <a:gd name="adj3" fmla="val 8200"/>
            </a:avLst>
          </a:prstGeom>
          <a:solidFill>
            <a:srgbClr val="1565C0"/>
          </a:solidFill>
          <a:ln/>
        </p:spPr>
      </p:sp>
      <p:sp>
        <p:nvSpPr>
          <p:cNvPr id="13" name="Shape 9"/>
          <p:cNvSpPr/>
          <p:nvPr/>
        </p:nvSpPr>
        <p:spPr>
          <a:xfrm>
            <a:off x="4034790" y="3611880"/>
            <a:ext cx="2788920" cy="2788920"/>
          </a:xfrm>
          <a:prstGeom prst="blockArc">
            <a:avLst>
              <a:gd name="adj1" fmla="val 18120000"/>
              <a:gd name="adj2" fmla="val 21480000"/>
              <a:gd name="adj3" fmla="val 8200"/>
            </a:avLst>
          </a:prstGeom>
          <a:solidFill>
            <a:srgbClr val="D9692A"/>
          </a:solidFill>
          <a:ln/>
        </p:spPr>
      </p:sp>
      <p:sp>
        <p:nvSpPr>
          <p:cNvPr id="14" name="Shape 10"/>
          <p:cNvSpPr/>
          <p:nvPr/>
        </p:nvSpPr>
        <p:spPr>
          <a:xfrm>
            <a:off x="4034790" y="3611880"/>
            <a:ext cx="2788920" cy="2788920"/>
          </a:xfrm>
          <a:prstGeom prst="blockArc">
            <a:avLst>
              <a:gd name="adj1" fmla="val 120000"/>
              <a:gd name="adj2" fmla="val 3480000"/>
              <a:gd name="adj3" fmla="val 8200"/>
            </a:avLst>
          </a:prstGeom>
          <a:solidFill>
            <a:srgbClr val="2E7D32"/>
          </a:solidFill>
          <a:ln/>
        </p:spPr>
      </p:sp>
      <p:sp>
        <p:nvSpPr>
          <p:cNvPr id="15" name="Shape 11"/>
          <p:cNvSpPr/>
          <p:nvPr/>
        </p:nvSpPr>
        <p:spPr>
          <a:xfrm>
            <a:off x="4034790" y="3611880"/>
            <a:ext cx="2788920" cy="2788920"/>
          </a:xfrm>
          <a:prstGeom prst="blockArc">
            <a:avLst>
              <a:gd name="adj1" fmla="val 3720000"/>
              <a:gd name="adj2" fmla="val 7080000"/>
              <a:gd name="adj3" fmla="val 8200"/>
            </a:avLst>
          </a:prstGeom>
          <a:solidFill>
            <a:srgbClr val="1565C0"/>
          </a:solidFill>
          <a:ln/>
        </p:spPr>
      </p:sp>
      <p:sp>
        <p:nvSpPr>
          <p:cNvPr id="16" name="Shape 12"/>
          <p:cNvSpPr/>
          <p:nvPr/>
        </p:nvSpPr>
        <p:spPr>
          <a:xfrm>
            <a:off x="4034790" y="3611880"/>
            <a:ext cx="2788920" cy="2788920"/>
          </a:xfrm>
          <a:prstGeom prst="blockArc">
            <a:avLst>
              <a:gd name="adj1" fmla="val 7320000"/>
              <a:gd name="adj2" fmla="val 10680000"/>
              <a:gd name="adj3" fmla="val 8200"/>
            </a:avLst>
          </a:prstGeom>
          <a:solidFill>
            <a:srgbClr val="D9692A"/>
          </a:solidFill>
          <a:ln/>
        </p:spPr>
      </p:sp>
      <p:sp>
        <p:nvSpPr>
          <p:cNvPr id="17" name="Shape 13"/>
          <p:cNvSpPr/>
          <p:nvPr/>
        </p:nvSpPr>
        <p:spPr>
          <a:xfrm>
            <a:off x="4034790" y="3611880"/>
            <a:ext cx="2788920" cy="2788920"/>
          </a:xfrm>
          <a:prstGeom prst="blockArc">
            <a:avLst>
              <a:gd name="adj1" fmla="val 10920000"/>
              <a:gd name="adj2" fmla="val 14280000"/>
              <a:gd name="adj3" fmla="val 8200"/>
            </a:avLst>
          </a:prstGeom>
          <a:solidFill>
            <a:srgbClr val="2E7D32"/>
          </a:solidFill>
          <a:ln/>
        </p:spPr>
      </p:sp>
      <p:sp>
        <p:nvSpPr>
          <p:cNvPr id="18" name="Shape 14"/>
          <p:cNvSpPr/>
          <p:nvPr/>
        </p:nvSpPr>
        <p:spPr>
          <a:xfrm>
            <a:off x="4331970" y="3909060"/>
            <a:ext cx="2194560" cy="2194560"/>
          </a:xfrm>
          <a:prstGeom prst="ellipse">
            <a:avLst/>
          </a:prstGeom>
          <a:solidFill>
            <a:srgbClr val="FFFFFF"/>
          </a:solidFill>
          <a:ln/>
        </p:spPr>
      </p:sp>
      <p:sp>
        <p:nvSpPr>
          <p:cNvPr id="19" name="Text 15"/>
          <p:cNvSpPr txBox="1"/>
          <p:nvPr/>
        </p:nvSpPr>
        <p:spPr>
          <a:xfrm>
            <a:off x="4457700" y="4343400"/>
            <a:ext cx="1943100" cy="1325880"/>
          </a:xfrm>
          <a:prstGeom prst="rect">
            <a:avLst/>
          </a:prstGeom>
          <a:noFill/>
          <a:ln/>
        </p:spPr>
        <p:txBody>
          <a:bodyPr wrap="square" lIns="0" tIns="0" rIns="0" bIns="0" rtlCol="0" anchor="ctr"/>
          <a:lstStyle/>
          <a:p>
            <a:pPr algn="ctr" indent="0" marL="0">
              <a:buNone/>
            </a:pPr>
            <a:r>
              <a:rPr lang="en-US" sz="1800" b="1" dirty="0">
                <a:solidFill>
                  <a:srgbClr val="1B3A6B"/>
                </a:solidFill>
                <a:latin typeface="Cambria" pitchFamily="34" charset="0"/>
                <a:ea typeface="Cambria" pitchFamily="34" charset="-122"/>
                <a:cs typeface="Cambria" pitchFamily="34" charset="-120"/>
              </a:rPr>
              <a:t>Potential Impact on Targeted Audience</a:t>
            </a:r>
            <a:endParaRPr lang="en-US" sz="1800" dirty="0"/>
          </a:p>
        </p:txBody>
      </p:sp>
      <p:sp>
        <p:nvSpPr>
          <p:cNvPr id="20" name="Shape 16"/>
          <p:cNvSpPr/>
          <p:nvPr/>
        </p:nvSpPr>
        <p:spPr>
          <a:xfrm>
            <a:off x="5372100" y="2503170"/>
            <a:ext cx="114300" cy="114300"/>
          </a:xfrm>
          <a:prstGeom prst="ellipse">
            <a:avLst/>
          </a:prstGeom>
          <a:solidFill>
            <a:srgbClr val="FFFFFF"/>
          </a:solidFill>
          <a:ln w="23813">
            <a:solidFill>
              <a:srgbClr val="2B2B2B"/>
            </a:solidFill>
            <a:prstDash val="solid"/>
          </a:ln>
        </p:spPr>
      </p:sp>
      <p:sp>
        <p:nvSpPr>
          <p:cNvPr id="21" name="Shape 17"/>
          <p:cNvSpPr/>
          <p:nvPr/>
        </p:nvSpPr>
        <p:spPr>
          <a:xfrm>
            <a:off x="3326130" y="3749040"/>
            <a:ext cx="114300" cy="114300"/>
          </a:xfrm>
          <a:prstGeom prst="ellipse">
            <a:avLst/>
          </a:prstGeom>
          <a:solidFill>
            <a:srgbClr val="FFFFFF"/>
          </a:solidFill>
          <a:ln w="23813">
            <a:solidFill>
              <a:srgbClr val="2B2B2B"/>
            </a:solidFill>
            <a:prstDash val="solid"/>
          </a:ln>
        </p:spPr>
      </p:sp>
      <p:sp>
        <p:nvSpPr>
          <p:cNvPr id="22" name="Shape 18"/>
          <p:cNvSpPr/>
          <p:nvPr/>
        </p:nvSpPr>
        <p:spPr>
          <a:xfrm>
            <a:off x="7418070" y="3749040"/>
            <a:ext cx="114300" cy="114300"/>
          </a:xfrm>
          <a:prstGeom prst="ellipse">
            <a:avLst/>
          </a:prstGeom>
          <a:solidFill>
            <a:srgbClr val="FFFFFF"/>
          </a:solidFill>
          <a:ln w="23813">
            <a:solidFill>
              <a:srgbClr val="2B2B2B"/>
            </a:solidFill>
            <a:prstDash val="solid"/>
          </a:ln>
        </p:spPr>
      </p:sp>
      <p:sp>
        <p:nvSpPr>
          <p:cNvPr id="23" name="Shape 19"/>
          <p:cNvSpPr/>
          <p:nvPr/>
        </p:nvSpPr>
        <p:spPr>
          <a:xfrm>
            <a:off x="3326130" y="6149340"/>
            <a:ext cx="114300" cy="114300"/>
          </a:xfrm>
          <a:prstGeom prst="ellipse">
            <a:avLst/>
          </a:prstGeom>
          <a:solidFill>
            <a:srgbClr val="FFFFFF"/>
          </a:solidFill>
          <a:ln w="23813">
            <a:solidFill>
              <a:srgbClr val="2B2B2B"/>
            </a:solidFill>
            <a:prstDash val="solid"/>
          </a:ln>
        </p:spPr>
      </p:sp>
      <p:sp>
        <p:nvSpPr>
          <p:cNvPr id="24" name="Shape 20"/>
          <p:cNvSpPr/>
          <p:nvPr/>
        </p:nvSpPr>
        <p:spPr>
          <a:xfrm>
            <a:off x="7418070" y="6149340"/>
            <a:ext cx="114300" cy="114300"/>
          </a:xfrm>
          <a:prstGeom prst="ellipse">
            <a:avLst/>
          </a:prstGeom>
          <a:solidFill>
            <a:srgbClr val="FFFFFF"/>
          </a:solidFill>
          <a:ln w="23813">
            <a:solidFill>
              <a:srgbClr val="2B2B2B"/>
            </a:solidFill>
            <a:prstDash val="solid"/>
          </a:ln>
        </p:spPr>
      </p:sp>
      <p:sp>
        <p:nvSpPr>
          <p:cNvPr id="25" name="Shape 21"/>
          <p:cNvSpPr/>
          <p:nvPr/>
        </p:nvSpPr>
        <p:spPr>
          <a:xfrm>
            <a:off x="5372100" y="7509510"/>
            <a:ext cx="114300" cy="114300"/>
          </a:xfrm>
          <a:prstGeom prst="ellipse">
            <a:avLst/>
          </a:prstGeom>
          <a:solidFill>
            <a:srgbClr val="FFFFFF"/>
          </a:solidFill>
          <a:ln w="23813">
            <a:solidFill>
              <a:srgbClr val="2B2B2B"/>
            </a:solidFill>
            <a:prstDash val="solid"/>
          </a:ln>
        </p:spPr>
      </p:sp>
      <p:sp>
        <p:nvSpPr>
          <p:cNvPr id="26" name="Shape 22"/>
          <p:cNvSpPr/>
          <p:nvPr/>
        </p:nvSpPr>
        <p:spPr>
          <a:xfrm>
            <a:off x="3714750" y="1234440"/>
            <a:ext cx="3429000" cy="1280160"/>
          </a:xfrm>
          <a:prstGeom prst="roundRect">
            <a:avLst>
              <a:gd name="adj" fmla="val 7143"/>
            </a:avLst>
          </a:prstGeom>
          <a:solidFill>
            <a:srgbClr val="F1F3F6"/>
          </a:solidFill>
          <a:ln/>
        </p:spPr>
      </p:sp>
      <p:pic>
        <p:nvPicPr>
          <p:cNvPr id="27" name="Image 2" descr="preencoded.png">    </p:cNvPr>
          <p:cNvPicPr>
            <a:picLocks noChangeAspect="1"/>
          </p:cNvPicPr>
          <p:nvPr/>
        </p:nvPicPr>
        <p:blipFill>
          <a:blip r:embed="rId3"/>
          <a:stretch>
            <a:fillRect/>
          </a:stretch>
        </p:blipFill>
        <p:spPr>
          <a:xfrm>
            <a:off x="3897630" y="1394460"/>
            <a:ext cx="388620" cy="388620"/>
          </a:xfrm>
          <a:prstGeom prst="rect">
            <a:avLst/>
          </a:prstGeom>
        </p:spPr>
      </p:pic>
      <p:sp>
        <p:nvSpPr>
          <p:cNvPr id="28" name="Text 23"/>
          <p:cNvSpPr txBox="1"/>
          <p:nvPr/>
        </p:nvSpPr>
        <p:spPr>
          <a:xfrm>
            <a:off x="4423410" y="1348740"/>
            <a:ext cx="2583180" cy="1051560"/>
          </a:xfrm>
          <a:prstGeom prst="rect">
            <a:avLst/>
          </a:prstGeom>
          <a:noFill/>
          <a:ln/>
        </p:spPr>
        <p:txBody>
          <a:bodyPr wrap="square" lIns="0" tIns="0" rIns="0" bIns="0" rtlCol="0" anchor="ctr"/>
          <a:lstStyle/>
          <a:p>
            <a:pPr algn="l" indent="0" marL="0">
              <a:buNone/>
            </a:pPr>
            <a:r>
              <a:rPr lang="en-US" sz="1480" b="1" dirty="0">
                <a:solidFill>
                  <a:srgbClr val="1565C0"/>
                </a:solidFill>
                <a:latin typeface="Calibri" pitchFamily="34" charset="0"/>
                <a:ea typeface="Calibri" pitchFamily="34" charset="-122"/>
                <a:cs typeface="Calibri" pitchFamily="34" charset="-120"/>
              </a:rPr>
              <a:t>NTRO analysts: </a:t>
            </a:r>
            <a:pPr algn="l" indent="0" marL="0">
              <a:buNone/>
            </a:pPr>
            <a:r>
              <a:rPr lang="en-US" sz="1480" dirty="0">
                <a:solidFill>
                  <a:srgbClr val="1F2937"/>
                </a:solidFill>
                <a:latin typeface="Calibri" pitchFamily="34" charset="0"/>
                <a:ea typeface="Calibri" pitchFamily="34" charset="-122"/>
                <a:cs typeface="Calibri" pitchFamily="34" charset="-120"/>
              </a:rPr>
              <a:t>get the full VPN setup from one capture, with proof for each value.</a:t>
            </a:r>
            <a:endParaRPr lang="en-US" sz="1480" dirty="0"/>
          </a:p>
        </p:txBody>
      </p:sp>
      <p:sp>
        <p:nvSpPr>
          <p:cNvPr id="29" name="Shape 24"/>
          <p:cNvSpPr/>
          <p:nvPr/>
        </p:nvSpPr>
        <p:spPr>
          <a:xfrm>
            <a:off x="7520940" y="2948940"/>
            <a:ext cx="3108960" cy="1714500"/>
          </a:xfrm>
          <a:prstGeom prst="roundRect">
            <a:avLst>
              <a:gd name="adj" fmla="val 5333"/>
            </a:avLst>
          </a:prstGeom>
          <a:solidFill>
            <a:srgbClr val="F1F3F6"/>
          </a:solidFill>
          <a:ln/>
        </p:spPr>
      </p:sp>
      <p:pic>
        <p:nvPicPr>
          <p:cNvPr id="30" name="Image 3" descr="preencoded.png">    </p:cNvPr>
          <p:cNvPicPr>
            <a:picLocks noChangeAspect="1"/>
          </p:cNvPicPr>
          <p:nvPr/>
        </p:nvPicPr>
        <p:blipFill>
          <a:blip r:embed="rId4"/>
          <a:stretch>
            <a:fillRect/>
          </a:stretch>
        </p:blipFill>
        <p:spPr>
          <a:xfrm>
            <a:off x="7703820" y="3108960"/>
            <a:ext cx="388620" cy="388620"/>
          </a:xfrm>
          <a:prstGeom prst="rect">
            <a:avLst/>
          </a:prstGeom>
        </p:spPr>
      </p:pic>
      <p:sp>
        <p:nvSpPr>
          <p:cNvPr id="31" name="Text 25"/>
          <p:cNvSpPr txBox="1"/>
          <p:nvPr/>
        </p:nvSpPr>
        <p:spPr>
          <a:xfrm>
            <a:off x="8252460" y="3086100"/>
            <a:ext cx="2148840" cy="457200"/>
          </a:xfrm>
          <a:prstGeom prst="rect">
            <a:avLst/>
          </a:prstGeom>
          <a:noFill/>
          <a:ln/>
        </p:spPr>
        <p:txBody>
          <a:bodyPr wrap="square" lIns="0" tIns="0" rIns="0" bIns="0" rtlCol="0" anchor="ctr"/>
          <a:lstStyle/>
          <a:p>
            <a:pPr algn="l" indent="0" marL="0">
              <a:buNone/>
            </a:pPr>
            <a:r>
              <a:rPr lang="en-US" sz="1530" b="1" dirty="0">
                <a:solidFill>
                  <a:srgbClr val="B4531A"/>
                </a:solidFill>
                <a:latin typeface="Calibri" pitchFamily="34" charset="0"/>
                <a:ea typeface="Calibri" pitchFamily="34" charset="-122"/>
                <a:cs typeface="Calibri" pitchFamily="34" charset="-120"/>
              </a:rPr>
              <a:t>Network admins</a:t>
            </a:r>
            <a:endParaRPr lang="en-US" sz="1530" dirty="0"/>
          </a:p>
        </p:txBody>
      </p:sp>
      <p:sp>
        <p:nvSpPr>
          <p:cNvPr id="32" name="Text 26"/>
          <p:cNvSpPr txBox="1"/>
          <p:nvPr/>
        </p:nvSpPr>
        <p:spPr>
          <a:xfrm>
            <a:off x="7680960" y="3657600"/>
            <a:ext cx="2788920" cy="937260"/>
          </a:xfrm>
          <a:prstGeom prst="rect">
            <a:avLst/>
          </a:prstGeom>
          <a:noFill/>
          <a:ln/>
        </p:spPr>
        <p:txBody>
          <a:bodyPr wrap="square" lIns="0" tIns="0" rIns="0" bIns="0" rtlCol="0" anchor="t"/>
          <a:lstStyle/>
          <a:p>
            <a:pPr algn="l" indent="0" marL="0">
              <a:buNone/>
            </a:pPr>
            <a:r>
              <a:rPr lang="en-US" sz="1480" dirty="0">
                <a:solidFill>
                  <a:srgbClr val="1F2937"/>
                </a:solidFill>
                <a:latin typeface="Calibri" pitchFamily="34" charset="0"/>
                <a:ea typeface="Calibri" pitchFamily="34" charset="-122"/>
                <a:cs typeface="Calibri" pitchFamily="34" charset="-120"/>
              </a:rPr>
              <a:t>See what is wrong in their VPN config and how to fix it.</a:t>
            </a:r>
            <a:endParaRPr lang="en-US" sz="1480" dirty="0"/>
          </a:p>
        </p:txBody>
      </p:sp>
      <p:sp>
        <p:nvSpPr>
          <p:cNvPr id="33" name="Shape 27"/>
          <p:cNvSpPr/>
          <p:nvPr/>
        </p:nvSpPr>
        <p:spPr>
          <a:xfrm>
            <a:off x="7520940" y="5349240"/>
            <a:ext cx="3108960" cy="1714500"/>
          </a:xfrm>
          <a:prstGeom prst="roundRect">
            <a:avLst>
              <a:gd name="adj" fmla="val 5333"/>
            </a:avLst>
          </a:prstGeom>
          <a:solidFill>
            <a:srgbClr val="F1F3F6"/>
          </a:solidFill>
          <a:ln/>
        </p:spPr>
      </p:sp>
      <p:pic>
        <p:nvPicPr>
          <p:cNvPr id="34" name="Image 4" descr="preencoded.png">    </p:cNvPr>
          <p:cNvPicPr>
            <a:picLocks noChangeAspect="1"/>
          </p:cNvPicPr>
          <p:nvPr/>
        </p:nvPicPr>
        <p:blipFill>
          <a:blip r:embed="rId5"/>
          <a:stretch>
            <a:fillRect/>
          </a:stretch>
        </p:blipFill>
        <p:spPr>
          <a:xfrm>
            <a:off x="7703820" y="5509260"/>
            <a:ext cx="388620" cy="388620"/>
          </a:xfrm>
          <a:prstGeom prst="rect">
            <a:avLst/>
          </a:prstGeom>
        </p:spPr>
      </p:pic>
      <p:sp>
        <p:nvSpPr>
          <p:cNvPr id="35" name="Text 28"/>
          <p:cNvSpPr txBox="1"/>
          <p:nvPr/>
        </p:nvSpPr>
        <p:spPr>
          <a:xfrm>
            <a:off x="8252460" y="5486400"/>
            <a:ext cx="2148840" cy="457200"/>
          </a:xfrm>
          <a:prstGeom prst="rect">
            <a:avLst/>
          </a:prstGeom>
          <a:noFill/>
          <a:ln/>
        </p:spPr>
        <p:txBody>
          <a:bodyPr wrap="square" lIns="0" tIns="0" rIns="0" bIns="0" rtlCol="0" anchor="ctr"/>
          <a:lstStyle/>
          <a:p>
            <a:pPr algn="l" indent="0" marL="0">
              <a:buNone/>
            </a:pPr>
            <a:r>
              <a:rPr lang="en-US" sz="1530" b="1" dirty="0">
                <a:solidFill>
                  <a:srgbClr val="2E7D32"/>
                </a:solidFill>
                <a:latin typeface="Calibri" pitchFamily="34" charset="0"/>
                <a:ea typeface="Calibri" pitchFamily="34" charset="-122"/>
                <a:cs typeface="Calibri" pitchFamily="34" charset="-120"/>
              </a:rPr>
              <a:t>Students &amp; researchers</a:t>
            </a:r>
            <a:endParaRPr lang="en-US" sz="1530" dirty="0"/>
          </a:p>
        </p:txBody>
      </p:sp>
      <p:sp>
        <p:nvSpPr>
          <p:cNvPr id="36" name="Text 29"/>
          <p:cNvSpPr txBox="1"/>
          <p:nvPr/>
        </p:nvSpPr>
        <p:spPr>
          <a:xfrm>
            <a:off x="7680960" y="6057900"/>
            <a:ext cx="2788920" cy="937260"/>
          </a:xfrm>
          <a:prstGeom prst="rect">
            <a:avLst/>
          </a:prstGeom>
          <a:noFill/>
          <a:ln/>
        </p:spPr>
        <p:txBody>
          <a:bodyPr wrap="square" lIns="0" tIns="0" rIns="0" bIns="0" rtlCol="0" anchor="t"/>
          <a:lstStyle/>
          <a:p>
            <a:pPr algn="l" indent="0" marL="0">
              <a:buNone/>
            </a:pPr>
            <a:r>
              <a:rPr lang="en-US" sz="1480" dirty="0">
                <a:solidFill>
                  <a:srgbClr val="1F2937"/>
                </a:solidFill>
                <a:latin typeface="Calibri" pitchFamily="34" charset="0"/>
                <a:ea typeface="Calibri" pitchFamily="34" charset="-122"/>
                <a:cs typeface="Calibri" pitchFamily="34" charset="-120"/>
              </a:rPr>
              <a:t>Use our labelled IPsec dataset and test lab to learn and experiment.</a:t>
            </a:r>
            <a:endParaRPr lang="en-US" sz="1480" dirty="0"/>
          </a:p>
        </p:txBody>
      </p:sp>
      <p:sp>
        <p:nvSpPr>
          <p:cNvPr id="37" name="Shape 30"/>
          <p:cNvSpPr/>
          <p:nvPr/>
        </p:nvSpPr>
        <p:spPr>
          <a:xfrm>
            <a:off x="3714750" y="7635240"/>
            <a:ext cx="3429000" cy="1348740"/>
          </a:xfrm>
          <a:prstGeom prst="roundRect">
            <a:avLst>
              <a:gd name="adj" fmla="val 6780"/>
            </a:avLst>
          </a:prstGeom>
          <a:solidFill>
            <a:srgbClr val="F1F3F6"/>
          </a:solidFill>
          <a:ln/>
        </p:spPr>
      </p:sp>
      <p:pic>
        <p:nvPicPr>
          <p:cNvPr id="38" name="Image 5" descr="preencoded.png">    </p:cNvPr>
          <p:cNvPicPr>
            <a:picLocks noChangeAspect="1"/>
          </p:cNvPicPr>
          <p:nvPr/>
        </p:nvPicPr>
        <p:blipFill>
          <a:blip r:embed="rId6"/>
          <a:stretch>
            <a:fillRect/>
          </a:stretch>
        </p:blipFill>
        <p:spPr>
          <a:xfrm>
            <a:off x="3897630" y="7795260"/>
            <a:ext cx="388620" cy="388620"/>
          </a:xfrm>
          <a:prstGeom prst="rect">
            <a:avLst/>
          </a:prstGeom>
        </p:spPr>
      </p:pic>
      <p:sp>
        <p:nvSpPr>
          <p:cNvPr id="39" name="Text 31"/>
          <p:cNvSpPr txBox="1"/>
          <p:nvPr/>
        </p:nvSpPr>
        <p:spPr>
          <a:xfrm>
            <a:off x="4423410" y="7749540"/>
            <a:ext cx="2583180" cy="1120140"/>
          </a:xfrm>
          <a:prstGeom prst="rect">
            <a:avLst/>
          </a:prstGeom>
          <a:noFill/>
          <a:ln/>
        </p:spPr>
        <p:txBody>
          <a:bodyPr wrap="square" lIns="0" tIns="0" rIns="0" bIns="0" rtlCol="0" anchor="ctr"/>
          <a:lstStyle/>
          <a:p>
            <a:pPr algn="l" indent="0" marL="0">
              <a:buNone/>
            </a:pPr>
            <a:r>
              <a:rPr lang="en-US" sz="1480" b="1" dirty="0">
                <a:solidFill>
                  <a:srgbClr val="1565C0"/>
                </a:solidFill>
                <a:latin typeface="Calibri" pitchFamily="34" charset="0"/>
                <a:ea typeface="Calibri" pitchFamily="34" charset="-122"/>
                <a:cs typeface="Calibri" pitchFamily="34" charset="-120"/>
              </a:rPr>
              <a:t>Critical infrastructure: </a:t>
            </a:r>
            <a:pPr algn="l" indent="0" marL="0">
              <a:buNone/>
            </a:pPr>
            <a:r>
              <a:rPr lang="en-US" sz="1480" dirty="0">
                <a:solidFill>
                  <a:srgbClr val="1F2937"/>
                </a:solidFill>
                <a:latin typeface="Calibri" pitchFamily="34" charset="0"/>
                <a:ea typeface="Calibri" pitchFamily="34" charset="-122"/>
                <a:cs typeface="Calibri" pitchFamily="34" charset="-120"/>
              </a:rPr>
              <a:t>check VPNs across sites without sharing any keys.</a:t>
            </a:r>
            <a:endParaRPr lang="en-US" sz="1480" dirty="0"/>
          </a:p>
        </p:txBody>
      </p:sp>
      <p:sp>
        <p:nvSpPr>
          <p:cNvPr id="40" name="Shape 32"/>
          <p:cNvSpPr/>
          <p:nvPr/>
        </p:nvSpPr>
        <p:spPr>
          <a:xfrm>
            <a:off x="228600" y="5349240"/>
            <a:ext cx="3108960" cy="1714500"/>
          </a:xfrm>
          <a:prstGeom prst="roundRect">
            <a:avLst>
              <a:gd name="adj" fmla="val 5333"/>
            </a:avLst>
          </a:prstGeom>
          <a:solidFill>
            <a:srgbClr val="F1F3F6"/>
          </a:solidFill>
          <a:ln/>
        </p:spPr>
      </p:sp>
      <p:pic>
        <p:nvPicPr>
          <p:cNvPr id="41" name="Image 6" descr="/tmp/claude-0/-home-claude/93d9ffac-b36b-5188-b616-7fa3cd4c3901/scratchpad/refimg/img_38.png">    </p:cNvPr>
          <p:cNvPicPr>
            <a:picLocks noChangeAspect="1"/>
          </p:cNvPicPr>
          <p:nvPr/>
        </p:nvPicPr>
        <p:blipFill>
          <a:blip r:embed="rId7"/>
          <a:srcRect l="0" r="0" t="0" b="0"/>
          <a:stretch/>
        </p:blipFill>
        <p:spPr>
          <a:xfrm>
            <a:off x="320040" y="5417820"/>
            <a:ext cx="731520" cy="617220"/>
          </a:xfrm>
          <a:prstGeom prst="rect">
            <a:avLst/>
          </a:prstGeom>
        </p:spPr>
      </p:pic>
      <p:sp>
        <p:nvSpPr>
          <p:cNvPr id="42" name="Text 33"/>
          <p:cNvSpPr txBox="1"/>
          <p:nvPr/>
        </p:nvSpPr>
        <p:spPr>
          <a:xfrm>
            <a:off x="1120140" y="5486400"/>
            <a:ext cx="2148840" cy="457200"/>
          </a:xfrm>
          <a:prstGeom prst="rect">
            <a:avLst/>
          </a:prstGeom>
          <a:noFill/>
          <a:ln/>
        </p:spPr>
        <p:txBody>
          <a:bodyPr wrap="square" lIns="0" tIns="0" rIns="0" bIns="0" rtlCol="0" anchor="ctr"/>
          <a:lstStyle/>
          <a:p>
            <a:pPr algn="l" indent="0" marL="0">
              <a:buNone/>
            </a:pPr>
            <a:r>
              <a:rPr lang="en-US" sz="1530" b="1" dirty="0">
                <a:solidFill>
                  <a:srgbClr val="B4531A"/>
                </a:solidFill>
                <a:latin typeface="Calibri" pitchFamily="34" charset="0"/>
                <a:ea typeface="Calibri" pitchFamily="34" charset="-122"/>
                <a:cs typeface="Calibri" pitchFamily="34" charset="-120"/>
              </a:rPr>
              <a:t>Nation</a:t>
            </a:r>
            <a:endParaRPr lang="en-US" sz="1530" dirty="0"/>
          </a:p>
        </p:txBody>
      </p:sp>
      <p:sp>
        <p:nvSpPr>
          <p:cNvPr id="43" name="Text 34"/>
          <p:cNvSpPr txBox="1"/>
          <p:nvPr/>
        </p:nvSpPr>
        <p:spPr>
          <a:xfrm>
            <a:off x="388620" y="6057900"/>
            <a:ext cx="2788920" cy="937260"/>
          </a:xfrm>
          <a:prstGeom prst="rect">
            <a:avLst/>
          </a:prstGeom>
          <a:noFill/>
          <a:ln/>
        </p:spPr>
        <p:txBody>
          <a:bodyPr wrap="square" lIns="0" tIns="0" rIns="0" bIns="0" rtlCol="0" anchor="t"/>
          <a:lstStyle/>
          <a:p>
            <a:pPr algn="l" indent="0" marL="0">
              <a:buNone/>
            </a:pPr>
            <a:r>
              <a:rPr lang="en-US" sz="1480" dirty="0">
                <a:solidFill>
                  <a:srgbClr val="1F2937"/>
                </a:solidFill>
                <a:latin typeface="Calibri" pitchFamily="34" charset="0"/>
                <a:ea typeface="Calibri" pitchFamily="34" charset="-122"/>
                <a:cs typeface="Calibri" pitchFamily="34" charset="-120"/>
              </a:rPr>
              <a:t>An Indian-made tool for checking VPNs, with no foreign dependency.</a:t>
            </a:r>
            <a:endParaRPr lang="en-US" sz="1480" dirty="0"/>
          </a:p>
        </p:txBody>
      </p:sp>
      <p:sp>
        <p:nvSpPr>
          <p:cNvPr id="44" name="Shape 35"/>
          <p:cNvSpPr/>
          <p:nvPr/>
        </p:nvSpPr>
        <p:spPr>
          <a:xfrm>
            <a:off x="228600" y="2948940"/>
            <a:ext cx="3108960" cy="1714500"/>
          </a:xfrm>
          <a:prstGeom prst="roundRect">
            <a:avLst>
              <a:gd name="adj" fmla="val 5333"/>
            </a:avLst>
          </a:prstGeom>
          <a:solidFill>
            <a:srgbClr val="F1F3F6"/>
          </a:solidFill>
          <a:ln/>
        </p:spPr>
      </p:sp>
      <p:pic>
        <p:nvPicPr>
          <p:cNvPr id="45" name="Image 7" descr="preencoded.png">    </p:cNvPr>
          <p:cNvPicPr>
            <a:picLocks noChangeAspect="1"/>
          </p:cNvPicPr>
          <p:nvPr/>
        </p:nvPicPr>
        <p:blipFill>
          <a:blip r:embed="rId8"/>
          <a:stretch>
            <a:fillRect/>
          </a:stretch>
        </p:blipFill>
        <p:spPr>
          <a:xfrm>
            <a:off x="411480" y="3108960"/>
            <a:ext cx="388620" cy="388620"/>
          </a:xfrm>
          <a:prstGeom prst="rect">
            <a:avLst/>
          </a:prstGeom>
        </p:spPr>
      </p:pic>
      <p:sp>
        <p:nvSpPr>
          <p:cNvPr id="46" name="Text 36"/>
          <p:cNvSpPr txBox="1"/>
          <p:nvPr/>
        </p:nvSpPr>
        <p:spPr>
          <a:xfrm>
            <a:off x="960120" y="3086100"/>
            <a:ext cx="2148840" cy="457200"/>
          </a:xfrm>
          <a:prstGeom prst="rect">
            <a:avLst/>
          </a:prstGeom>
          <a:noFill/>
          <a:ln/>
        </p:spPr>
        <p:txBody>
          <a:bodyPr wrap="square" lIns="0" tIns="0" rIns="0" bIns="0" rtlCol="0" anchor="ctr"/>
          <a:lstStyle/>
          <a:p>
            <a:pPr algn="l" indent="0" marL="0">
              <a:buNone/>
            </a:pPr>
            <a:r>
              <a:rPr lang="en-US" sz="1530" b="1" dirty="0">
                <a:solidFill>
                  <a:srgbClr val="2E7D32"/>
                </a:solidFill>
                <a:latin typeface="Calibri" pitchFamily="34" charset="0"/>
                <a:ea typeface="Calibri" pitchFamily="34" charset="-122"/>
                <a:cs typeface="Calibri" pitchFamily="34" charset="-120"/>
              </a:rPr>
              <a:t>CERT-In &amp; SOC teams</a:t>
            </a:r>
            <a:endParaRPr lang="en-US" sz="1530" dirty="0"/>
          </a:p>
        </p:txBody>
      </p:sp>
      <p:sp>
        <p:nvSpPr>
          <p:cNvPr id="47" name="Text 37"/>
          <p:cNvSpPr txBox="1"/>
          <p:nvPr/>
        </p:nvSpPr>
        <p:spPr>
          <a:xfrm>
            <a:off x="388620" y="3657600"/>
            <a:ext cx="2788920" cy="937260"/>
          </a:xfrm>
          <a:prstGeom prst="rect">
            <a:avLst/>
          </a:prstGeom>
          <a:noFill/>
          <a:ln/>
        </p:spPr>
        <p:txBody>
          <a:bodyPr wrap="square" lIns="0" tIns="0" rIns="0" bIns="0" rtlCol="0" anchor="t"/>
          <a:lstStyle/>
          <a:p>
            <a:pPr algn="l" indent="0" marL="0">
              <a:buNone/>
            </a:pPr>
            <a:r>
              <a:rPr lang="en-US" sz="1480" dirty="0">
                <a:solidFill>
                  <a:srgbClr val="1F2937"/>
                </a:solidFill>
                <a:latin typeface="Calibri" pitchFamily="34" charset="0"/>
                <a:ea typeface="Calibri" pitchFamily="34" charset="-122"/>
                <a:cs typeface="Calibri" pitchFamily="34" charset="-120"/>
              </a:rPr>
              <a:t>Get alerts for weak crypto, missing PFS and replay attacks.</a:t>
            </a:r>
            <a:endParaRPr lang="en-US" sz="1480" dirty="0"/>
          </a:p>
        </p:txBody>
      </p:sp>
      <p:sp>
        <p:nvSpPr>
          <p:cNvPr id="48" name="Shape 38"/>
          <p:cNvSpPr/>
          <p:nvPr/>
        </p:nvSpPr>
        <p:spPr>
          <a:xfrm>
            <a:off x="228600" y="9052560"/>
            <a:ext cx="10401300" cy="685800"/>
          </a:xfrm>
          <a:prstGeom prst="roundRect">
            <a:avLst>
              <a:gd name="adj" fmla="val 23333"/>
            </a:avLst>
          </a:prstGeom>
          <a:solidFill>
            <a:srgbClr val="EEF0F3"/>
          </a:solidFill>
          <a:ln w="23813">
            <a:solidFill>
              <a:srgbClr val="2B2B2B"/>
            </a:solidFill>
            <a:prstDash val="solid"/>
          </a:ln>
        </p:spPr>
      </p:sp>
      <p:sp>
        <p:nvSpPr>
          <p:cNvPr id="49" name="Text 39"/>
          <p:cNvSpPr txBox="1"/>
          <p:nvPr/>
        </p:nvSpPr>
        <p:spPr>
          <a:xfrm>
            <a:off x="228600" y="9052560"/>
            <a:ext cx="10401300" cy="685800"/>
          </a:xfrm>
          <a:prstGeom prst="rect">
            <a:avLst/>
          </a:prstGeom>
          <a:noFill/>
          <a:ln/>
        </p:spPr>
        <p:txBody>
          <a:bodyPr wrap="square" lIns="0" tIns="0" rIns="0" bIns="0" rtlCol="0" anchor="ctr"/>
          <a:lstStyle/>
          <a:p>
            <a:pPr algn="ctr" indent="0" marL="0">
              <a:lnSpc>
                <a:spcPct val="110000"/>
              </a:lnSpc>
              <a:buNone/>
            </a:pPr>
            <a:r>
              <a:rPr lang="en-US" sz="1350" b="1" dirty="0">
                <a:solidFill>
                  <a:srgbClr val="1B3A6B"/>
                </a:solidFill>
                <a:latin typeface="Cambria" pitchFamily="34" charset="0"/>
                <a:ea typeface="Cambria" pitchFamily="34" charset="-122"/>
                <a:cs typeface="Cambria" pitchFamily="34" charset="-120"/>
              </a:rPr>
              <a:t>Supports: </a:t>
            </a:r>
            <a:pPr algn="ctr" indent="0" marL="0">
              <a:lnSpc>
                <a:spcPct val="110000"/>
              </a:lnSpc>
              <a:buNone/>
            </a:pPr>
            <a:r>
              <a:rPr lang="en-US" sz="1350" dirty="0">
                <a:solidFill>
                  <a:srgbClr val="1F2937"/>
                </a:solidFill>
                <a:latin typeface="Cambria" pitchFamily="34" charset="0"/>
                <a:ea typeface="Cambria" pitchFamily="34" charset="-122"/>
                <a:cs typeface="Cambria" pitchFamily="34" charset="-120"/>
              </a:rPr>
              <a:t>SDG 9 (resilient infrastructure) · SDG 16 (strong institutions) · Atmanirbhar Bharat · Digital India</a:t>
            </a:r>
            <a:endParaRPr lang="en-US" sz="1350" dirty="0"/>
          </a:p>
          <a:p>
            <a:pPr algn="ctr" indent="0" marL="0">
              <a:lnSpc>
                <a:spcPct val="110000"/>
              </a:lnSpc>
              <a:buNone/>
            </a:pPr>
            <a:r>
              <a:rPr lang="en-US" sz="1350" b="1" dirty="0">
                <a:solidFill>
                  <a:srgbClr val="B4531A"/>
                </a:solidFill>
                <a:latin typeface="Cambria" pitchFamily="34" charset="0"/>
                <a:ea typeface="Cambria" pitchFamily="34" charset="-122"/>
                <a:cs typeface="Cambria" pitchFamily="34" charset="-120"/>
              </a:rPr>
              <a:t>Next: </a:t>
            </a:r>
            <a:pPr algn="ctr" indent="0" marL="0">
              <a:lnSpc>
                <a:spcPct val="110000"/>
              </a:lnSpc>
              <a:buNone/>
            </a:pPr>
            <a:r>
              <a:rPr lang="en-US" sz="1350" dirty="0">
                <a:solidFill>
                  <a:srgbClr val="1F2937"/>
                </a:solidFill>
                <a:latin typeface="Cambria" pitchFamily="34" charset="0"/>
                <a:ea typeface="Cambria" pitchFamily="34" charset="-122"/>
                <a:cs typeface="Cambria" pitchFamily="34" charset="-120"/>
              </a:rPr>
              <a:t>WireGuard + OpenVPN support · multi-site SOC view · SIEM export (STIX / JSON)</a:t>
            </a:r>
            <a:endParaRPr lang="en-US" sz="1350" dirty="0"/>
          </a:p>
        </p:txBody>
      </p:sp>
      <p:sp>
        <p:nvSpPr>
          <p:cNvPr id="50" name="Shape 40"/>
          <p:cNvSpPr/>
          <p:nvPr/>
        </p:nvSpPr>
        <p:spPr>
          <a:xfrm>
            <a:off x="10972800" y="1234440"/>
            <a:ext cx="7086600" cy="571500"/>
          </a:xfrm>
          <a:prstGeom prst="roundRect">
            <a:avLst>
              <a:gd name="adj" fmla="val 16000"/>
            </a:avLst>
          </a:prstGeom>
          <a:solidFill>
            <a:srgbClr val="1B3A6B"/>
          </a:solidFill>
          <a:ln/>
        </p:spPr>
      </p:sp>
      <p:sp>
        <p:nvSpPr>
          <p:cNvPr id="51" name="Text 41"/>
          <p:cNvSpPr txBox="1"/>
          <p:nvPr/>
        </p:nvSpPr>
        <p:spPr>
          <a:xfrm>
            <a:off x="11178540" y="1234440"/>
            <a:ext cx="6286500" cy="571500"/>
          </a:xfrm>
          <a:prstGeom prst="rect">
            <a:avLst/>
          </a:prstGeom>
          <a:noFill/>
          <a:ln/>
        </p:spPr>
        <p:txBody>
          <a:bodyPr wrap="square" lIns="0" tIns="0" rIns="0" bIns="0" rtlCol="0" anchor="ctr"/>
          <a:lstStyle/>
          <a:p>
            <a:pPr algn="l" indent="0" marL="0">
              <a:buNone/>
            </a:pPr>
            <a:r>
              <a:rPr lang="en-US" sz="2340" b="1" dirty="0">
                <a:solidFill>
                  <a:srgbClr val="FFFFFF"/>
                </a:solidFill>
                <a:latin typeface="Cambria" pitchFamily="34" charset="0"/>
                <a:ea typeface="Cambria" pitchFamily="34" charset="-122"/>
                <a:cs typeface="Cambria" pitchFamily="34" charset="-120"/>
              </a:rPr>
              <a:t>Benefits of the solution</a:t>
            </a:r>
            <a:endParaRPr lang="en-US" sz="2340" dirty="0"/>
          </a:p>
        </p:txBody>
      </p:sp>
      <p:sp>
        <p:nvSpPr>
          <p:cNvPr id="52" name="Shape 42"/>
          <p:cNvSpPr/>
          <p:nvPr/>
        </p:nvSpPr>
        <p:spPr>
          <a:xfrm>
            <a:off x="10972800" y="2080260"/>
            <a:ext cx="4343400" cy="1828800"/>
          </a:xfrm>
          <a:prstGeom prst="roundRect">
            <a:avLst>
              <a:gd name="adj" fmla="val 5000"/>
            </a:avLst>
          </a:prstGeom>
          <a:solidFill>
            <a:srgbClr val="FFFFFF"/>
          </a:solidFill>
          <a:ln w="31750">
            <a:solidFill>
              <a:srgbClr val="2B2B2B"/>
            </a:solidFill>
            <a:prstDash val="solid"/>
          </a:ln>
          <a:effectLst>
            <a:outerShdw sx="100000" sy="100000" kx="0" ky="0" algn="bl" rotWithShape="0" blurRad="101600" dist="63500" dir="2700000">
              <a:srgbClr val="B7BEC9">
                <a:alpha val="100000"/>
              </a:srgbClr>
            </a:outerShdw>
          </a:effectLst>
        </p:spPr>
      </p:sp>
      <p:sp>
        <p:nvSpPr>
          <p:cNvPr id="53" name="Text 43"/>
          <p:cNvSpPr txBox="1"/>
          <p:nvPr/>
        </p:nvSpPr>
        <p:spPr>
          <a:xfrm>
            <a:off x="11178540" y="2194560"/>
            <a:ext cx="3931920" cy="1600200"/>
          </a:xfrm>
          <a:prstGeom prst="rect">
            <a:avLst/>
          </a:prstGeom>
          <a:noFill/>
          <a:ln/>
        </p:spPr>
        <p:txBody>
          <a:bodyPr wrap="square" lIns="0" tIns="0" rIns="0" bIns="0" rtlCol="0" anchor="ctr"/>
          <a:lstStyle/>
          <a:p>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Finds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weak crypto</a:t>
            </a:r>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 (3DES, MD5, DH group 2), ESP-NULL and leaked IKEv1 identities. Our weak test VPN scored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39.5/100 with 3 critical/high issues</a:t>
            </a:r>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a:t>
            </a:r>
            <a:endParaRPr lang="en-US" sz="1620" dirty="0"/>
          </a:p>
        </p:txBody>
      </p:sp>
      <p:sp>
        <p:nvSpPr>
          <p:cNvPr id="54" name="Shape 44"/>
          <p:cNvSpPr/>
          <p:nvPr/>
        </p:nvSpPr>
        <p:spPr>
          <a:xfrm>
            <a:off x="15476220" y="2800350"/>
            <a:ext cx="685800" cy="388620"/>
          </a:xfrm>
          <a:prstGeom prst="leftArrow">
            <a:avLst/>
          </a:prstGeom>
          <a:solidFill>
            <a:srgbClr val="111111"/>
          </a:solidFill>
          <a:ln/>
        </p:spPr>
      </p:sp>
      <p:pic>
        <p:nvPicPr>
          <p:cNvPr id="55" name="Image 8" descr="/tmp/claude-0/-home-claude/93d9ffac-b36b-5188-b616-7fa3cd4c3901/scratchpad/x/ppt/media/image64.png">    </p:cNvPr>
          <p:cNvPicPr>
            <a:picLocks noChangeAspect="1"/>
          </p:cNvPicPr>
          <p:nvPr/>
        </p:nvPicPr>
        <p:blipFill>
          <a:blip r:embed="rId9"/>
          <a:srcRect l="0" r="0" t="0" b="0"/>
          <a:stretch/>
        </p:blipFill>
        <p:spPr>
          <a:xfrm>
            <a:off x="16733520" y="2125980"/>
            <a:ext cx="914400" cy="914400"/>
          </a:xfrm>
          <a:prstGeom prst="rect">
            <a:avLst/>
          </a:prstGeom>
        </p:spPr>
      </p:pic>
      <p:sp>
        <p:nvSpPr>
          <p:cNvPr id="56" name="Text 45"/>
          <p:cNvSpPr txBox="1"/>
          <p:nvPr/>
        </p:nvSpPr>
        <p:spPr>
          <a:xfrm>
            <a:off x="16322040" y="3108960"/>
            <a:ext cx="1737360" cy="457200"/>
          </a:xfrm>
          <a:prstGeom prst="rect">
            <a:avLst/>
          </a:prstGeom>
          <a:noFill/>
          <a:ln/>
        </p:spPr>
        <p:txBody>
          <a:bodyPr wrap="square" lIns="0" tIns="0" rIns="0" bIns="0" rtlCol="0" anchor="t"/>
          <a:lstStyle/>
          <a:p>
            <a:pPr algn="ctr" indent="0" marL="0">
              <a:buNone/>
            </a:pPr>
            <a:r>
              <a:rPr lang="en-US" sz="2340" dirty="0">
                <a:solidFill>
                  <a:srgbClr val="1F2937"/>
                </a:solidFill>
                <a:latin typeface="Calibri" pitchFamily="34" charset="0"/>
                <a:ea typeface="Calibri" pitchFamily="34" charset="-122"/>
                <a:cs typeface="Calibri" pitchFamily="34" charset="-120"/>
              </a:rPr>
              <a:t>Security</a:t>
            </a:r>
            <a:endParaRPr lang="en-US" sz="2340" dirty="0"/>
          </a:p>
        </p:txBody>
      </p:sp>
      <p:sp>
        <p:nvSpPr>
          <p:cNvPr id="57" name="Shape 46"/>
          <p:cNvSpPr/>
          <p:nvPr/>
        </p:nvSpPr>
        <p:spPr>
          <a:xfrm>
            <a:off x="13716000" y="4949190"/>
            <a:ext cx="4343400" cy="1828800"/>
          </a:xfrm>
          <a:prstGeom prst="roundRect">
            <a:avLst>
              <a:gd name="adj" fmla="val 5000"/>
            </a:avLst>
          </a:prstGeom>
          <a:solidFill>
            <a:srgbClr val="FFFFFF"/>
          </a:solidFill>
          <a:ln w="31750">
            <a:solidFill>
              <a:srgbClr val="2B2B2B"/>
            </a:solidFill>
            <a:prstDash val="solid"/>
          </a:ln>
          <a:effectLst>
            <a:outerShdw sx="100000" sy="100000" kx="0" ky="0" algn="bl" rotWithShape="0" blurRad="101600" dist="63500" dir="2700000">
              <a:srgbClr val="B7BEC9">
                <a:alpha val="100000"/>
              </a:srgbClr>
            </a:outerShdw>
          </a:effectLst>
        </p:spPr>
      </p:sp>
      <p:sp>
        <p:nvSpPr>
          <p:cNvPr id="58" name="Text 47"/>
          <p:cNvSpPr txBox="1"/>
          <p:nvPr/>
        </p:nvSpPr>
        <p:spPr>
          <a:xfrm>
            <a:off x="13921740" y="5063490"/>
            <a:ext cx="3931920" cy="1600200"/>
          </a:xfrm>
          <a:prstGeom prst="rect">
            <a:avLst/>
          </a:prstGeom>
          <a:noFill/>
          <a:ln/>
        </p:spPr>
        <p:txBody>
          <a:bodyPr wrap="square" lIns="0" tIns="0" rIns="0" bIns="0" rtlCol="0" anchor="ctr"/>
          <a:lstStyle/>
          <a:p>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A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37,988-packet capture</a:t>
            </a:r>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 is fully analysed in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0.54 s</a:t>
            </a:r>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 Work that takes hours by hand in Wireshark becomes one automatic report.</a:t>
            </a:r>
            <a:endParaRPr lang="en-US" sz="1620" dirty="0"/>
          </a:p>
        </p:txBody>
      </p:sp>
      <p:sp>
        <p:nvSpPr>
          <p:cNvPr id="59" name="Shape 48"/>
          <p:cNvSpPr/>
          <p:nvPr/>
        </p:nvSpPr>
        <p:spPr>
          <a:xfrm>
            <a:off x="12870180" y="5669280"/>
            <a:ext cx="685800" cy="388620"/>
          </a:xfrm>
          <a:prstGeom prst="rightArrow">
            <a:avLst/>
          </a:prstGeom>
          <a:solidFill>
            <a:srgbClr val="111111"/>
          </a:solidFill>
          <a:ln/>
        </p:spPr>
      </p:sp>
      <p:pic>
        <p:nvPicPr>
          <p:cNvPr id="60" name="Image 9" descr="/tmp/claude-0/-home-claude/93d9ffac-b36b-5188-b616-7fa3cd4c3901/scratchpad/svgpng/image68.png">    </p:cNvPr>
          <p:cNvPicPr>
            <a:picLocks noChangeAspect="1"/>
          </p:cNvPicPr>
          <p:nvPr/>
        </p:nvPicPr>
        <p:blipFill>
          <a:blip r:embed="rId10"/>
          <a:srcRect l="0" r="0" t="0" b="0"/>
          <a:stretch/>
        </p:blipFill>
        <p:spPr>
          <a:xfrm>
            <a:off x="11384280" y="4994910"/>
            <a:ext cx="914400" cy="914400"/>
          </a:xfrm>
          <a:prstGeom prst="rect">
            <a:avLst/>
          </a:prstGeom>
        </p:spPr>
      </p:pic>
      <p:sp>
        <p:nvSpPr>
          <p:cNvPr id="61" name="Text 49"/>
          <p:cNvSpPr txBox="1"/>
          <p:nvPr/>
        </p:nvSpPr>
        <p:spPr>
          <a:xfrm>
            <a:off x="10972800" y="5977890"/>
            <a:ext cx="1737360" cy="457200"/>
          </a:xfrm>
          <a:prstGeom prst="rect">
            <a:avLst/>
          </a:prstGeom>
          <a:noFill/>
          <a:ln/>
        </p:spPr>
        <p:txBody>
          <a:bodyPr wrap="square" lIns="0" tIns="0" rIns="0" bIns="0" rtlCol="0" anchor="t"/>
          <a:lstStyle/>
          <a:p>
            <a:pPr algn="ctr" indent="0" marL="0">
              <a:buNone/>
            </a:pPr>
            <a:r>
              <a:rPr lang="en-US" sz="2340" dirty="0">
                <a:solidFill>
                  <a:srgbClr val="1F2937"/>
                </a:solidFill>
                <a:latin typeface="Calibri" pitchFamily="34" charset="0"/>
                <a:ea typeface="Calibri" pitchFamily="34" charset="-122"/>
                <a:cs typeface="Calibri" pitchFamily="34" charset="-120"/>
              </a:rPr>
              <a:t>Economic</a:t>
            </a:r>
            <a:endParaRPr lang="en-US" sz="2340" dirty="0"/>
          </a:p>
        </p:txBody>
      </p:sp>
      <p:sp>
        <p:nvSpPr>
          <p:cNvPr id="62" name="Shape 50"/>
          <p:cNvSpPr/>
          <p:nvPr/>
        </p:nvSpPr>
        <p:spPr>
          <a:xfrm>
            <a:off x="10972800" y="7818120"/>
            <a:ext cx="4343400" cy="1828800"/>
          </a:xfrm>
          <a:prstGeom prst="roundRect">
            <a:avLst>
              <a:gd name="adj" fmla="val 5000"/>
            </a:avLst>
          </a:prstGeom>
          <a:solidFill>
            <a:srgbClr val="FFFFFF"/>
          </a:solidFill>
          <a:ln w="31750">
            <a:solidFill>
              <a:srgbClr val="2B2B2B"/>
            </a:solidFill>
            <a:prstDash val="solid"/>
          </a:ln>
          <a:effectLst>
            <a:outerShdw sx="100000" sy="100000" kx="0" ky="0" algn="bl" rotWithShape="0" blurRad="101600" dist="63500" dir="2700000">
              <a:srgbClr val="B7BEC9">
                <a:alpha val="100000"/>
              </a:srgbClr>
            </a:outerShdw>
          </a:effectLst>
        </p:spPr>
      </p:sp>
      <p:sp>
        <p:nvSpPr>
          <p:cNvPr id="63" name="Text 51"/>
          <p:cNvSpPr txBox="1"/>
          <p:nvPr/>
        </p:nvSpPr>
        <p:spPr>
          <a:xfrm>
            <a:off x="11178540" y="7932420"/>
            <a:ext cx="3931920" cy="1600200"/>
          </a:xfrm>
          <a:prstGeom prst="rect">
            <a:avLst/>
          </a:prstGeom>
          <a:noFill/>
          <a:ln/>
        </p:spPr>
        <p:txBody>
          <a:bodyPr wrap="square" lIns="0" tIns="0" rIns="0" bIns="0" rtlCol="0" anchor="ctr"/>
          <a:lstStyle/>
          <a:p>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An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offline, made-in-India</a:t>
            </a:r>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 tool for national cyber security, with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no paid foreign software</a:t>
            </a:r>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 or cloud.</a:t>
            </a:r>
            <a:endParaRPr lang="en-US" sz="1620" dirty="0"/>
          </a:p>
        </p:txBody>
      </p:sp>
      <p:sp>
        <p:nvSpPr>
          <p:cNvPr id="64" name="Shape 52"/>
          <p:cNvSpPr/>
          <p:nvPr/>
        </p:nvSpPr>
        <p:spPr>
          <a:xfrm>
            <a:off x="15476220" y="8538210"/>
            <a:ext cx="685800" cy="388620"/>
          </a:xfrm>
          <a:prstGeom prst="leftArrow">
            <a:avLst/>
          </a:prstGeom>
          <a:solidFill>
            <a:srgbClr val="111111"/>
          </a:solidFill>
          <a:ln/>
        </p:spPr>
      </p:sp>
      <p:pic>
        <p:nvPicPr>
          <p:cNvPr id="65" name="Image 10" descr="/tmp/claude-0/-home-claude/93d9ffac-b36b-5188-b616-7fa3cd4c3901/scratchpad/svgpng/image66.png">    </p:cNvPr>
          <p:cNvPicPr>
            <a:picLocks noChangeAspect="1"/>
          </p:cNvPicPr>
          <p:nvPr/>
        </p:nvPicPr>
        <p:blipFill>
          <a:blip r:embed="rId11"/>
          <a:srcRect l="0" r="0" t="0" b="0"/>
          <a:stretch/>
        </p:blipFill>
        <p:spPr>
          <a:xfrm>
            <a:off x="16733520" y="7863840"/>
            <a:ext cx="914400" cy="914400"/>
          </a:xfrm>
          <a:prstGeom prst="rect">
            <a:avLst/>
          </a:prstGeom>
        </p:spPr>
      </p:pic>
      <p:sp>
        <p:nvSpPr>
          <p:cNvPr id="66" name="Text 53"/>
          <p:cNvSpPr txBox="1"/>
          <p:nvPr/>
        </p:nvSpPr>
        <p:spPr>
          <a:xfrm>
            <a:off x="16322040" y="8846820"/>
            <a:ext cx="1737360" cy="457200"/>
          </a:xfrm>
          <a:prstGeom prst="rect">
            <a:avLst/>
          </a:prstGeom>
          <a:noFill/>
          <a:ln/>
        </p:spPr>
        <p:txBody>
          <a:bodyPr wrap="square" lIns="0" tIns="0" rIns="0" bIns="0" rtlCol="0" anchor="t"/>
          <a:lstStyle/>
          <a:p>
            <a:pPr algn="ctr" indent="0" marL="0">
              <a:buNone/>
            </a:pPr>
            <a:r>
              <a:rPr lang="en-US" sz="2340" dirty="0">
                <a:solidFill>
                  <a:srgbClr val="1F2937"/>
                </a:solidFill>
                <a:latin typeface="Calibri" pitchFamily="34" charset="0"/>
                <a:ea typeface="Calibri" pitchFamily="34" charset="-122"/>
                <a:cs typeface="Calibri" pitchFamily="34" charset="-120"/>
              </a:rPr>
              <a:t>National</a:t>
            </a:r>
            <a:endParaRPr lang="en-US" sz="2340" dirty="0"/>
          </a:p>
        </p:txBody>
      </p:sp>
      <p:sp>
        <p:nvSpPr>
          <p:cNvPr id="67" name="Shape 54"/>
          <p:cNvSpPr/>
          <p:nvPr/>
        </p:nvSpPr>
        <p:spPr>
          <a:xfrm>
            <a:off x="0" y="9852660"/>
            <a:ext cx="18288000" cy="434340"/>
          </a:xfrm>
          <a:prstGeom prst="rect">
            <a:avLst/>
          </a:prstGeom>
          <a:solidFill>
            <a:srgbClr val="1565C0"/>
          </a:solidFill>
          <a:ln/>
        </p:spPr>
      </p:sp>
      <p:sp>
        <p:nvSpPr>
          <p:cNvPr id="68" name="Text 55"/>
          <p:cNvSpPr txBox="1"/>
          <p:nvPr/>
        </p:nvSpPr>
        <p:spPr>
          <a:xfrm>
            <a:off x="4572000" y="9852660"/>
            <a:ext cx="9144000" cy="434340"/>
          </a:xfrm>
          <a:prstGeom prst="rect">
            <a:avLst/>
          </a:prstGeom>
          <a:noFill/>
          <a:ln/>
        </p:spPr>
        <p:txBody>
          <a:bodyPr wrap="square" lIns="0" tIns="0" rIns="0" bIns="0" rtlCol="0" anchor="ctr"/>
          <a:lstStyle/>
          <a:p>
            <a:pPr algn="ctr" indent="0" marL="0">
              <a:buNone/>
            </a:pPr>
            <a:r>
              <a:rPr lang="en-US" sz="1440" b="1" spc="100" kern="0" dirty="0">
                <a:solidFill>
                  <a:srgbClr val="FFFFFF"/>
                </a:solidFill>
                <a:latin typeface="Cambria" pitchFamily="34" charset="0"/>
                <a:ea typeface="Cambria" pitchFamily="34" charset="-122"/>
                <a:cs typeface="Cambria" pitchFamily="34" charset="-120"/>
              </a:rPr>
              <a:t>SMART INDIA HACKATHON 2026</a:t>
            </a:r>
            <a:endParaRPr lang="en-US" sz="1440" dirty="0"/>
          </a:p>
        </p:txBody>
      </p:sp>
      <p:sp>
        <p:nvSpPr>
          <p:cNvPr id="69" name="Text 56"/>
          <p:cNvSpPr txBox="1"/>
          <p:nvPr/>
        </p:nvSpPr>
        <p:spPr>
          <a:xfrm>
            <a:off x="17145000" y="9852660"/>
            <a:ext cx="685800" cy="434340"/>
          </a:xfrm>
          <a:prstGeom prst="rect">
            <a:avLst/>
          </a:prstGeom>
          <a:noFill/>
          <a:ln/>
        </p:spPr>
        <p:txBody>
          <a:bodyPr wrap="square" lIns="0" tIns="0" rIns="0" bIns="0" rtlCol="0" anchor="ctr"/>
          <a:lstStyle/>
          <a:p>
            <a:pPr algn="r" indent="0" marL="0">
              <a:buNone/>
            </a:pPr>
            <a:r>
              <a:rPr lang="en-US" sz="1440" b="1" dirty="0">
                <a:solidFill>
                  <a:srgbClr val="FFFFFF"/>
                </a:solidFill>
                <a:latin typeface="Cambria" pitchFamily="34" charset="0"/>
                <a:ea typeface="Cambria" pitchFamily="34" charset="-122"/>
                <a:cs typeface="Cambria" pitchFamily="34" charset="-120"/>
              </a:rPr>
              <a:t>5</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team.jpg">    </p:cNvPr>
          <p:cNvPicPr>
            <a:picLocks noChangeAspect="1"/>
          </p:cNvPicPr>
          <p:nvPr/>
        </p:nvPicPr>
        <p:blipFill>
          <a:blip r:embed="rId1"/>
          <a:stretch>
            <a:fillRect/>
          </a:stretch>
        </p:blipFill>
        <p:spPr>
          <a:xfrm>
            <a:off x="205740" y="91440"/>
            <a:ext cx="982980" cy="982980"/>
          </a:xfrm>
          <a:prstGeom prst="rect">
            <a:avLst/>
          </a:prstGeom>
        </p:spPr>
      </p:pic>
      <p:pic>
        <p:nvPicPr>
          <p:cNvPr id="3" name="Image 1" descr="/tmp/claude-0/-home-claude/93d9ffac-b36b-5188-b616-7fa3cd4c3901/scratchpad/assets/sih2026.png">    </p:cNvPr>
          <p:cNvPicPr>
            <a:picLocks noChangeAspect="1"/>
          </p:cNvPicPr>
          <p:nvPr/>
        </p:nvPicPr>
        <p:blipFill>
          <a:blip r:embed="rId2"/>
          <a:stretch>
            <a:fillRect/>
          </a:stretch>
        </p:blipFill>
        <p:spPr>
          <a:xfrm>
            <a:off x="15841980" y="68580"/>
            <a:ext cx="2240280" cy="1051560"/>
          </a:xfrm>
          <a:prstGeom prst="rect">
            <a:avLst/>
          </a:prstGeom>
        </p:spPr>
      </p:pic>
      <p:sp>
        <p:nvSpPr>
          <p:cNvPr id="4" name="Text 0"/>
          <p:cNvSpPr txBox="1"/>
          <p:nvPr/>
        </p:nvSpPr>
        <p:spPr>
          <a:xfrm>
            <a:off x="2857500" y="160020"/>
            <a:ext cx="12573000" cy="731520"/>
          </a:xfrm>
          <a:prstGeom prst="rect">
            <a:avLst/>
          </a:prstGeom>
          <a:noFill/>
          <a:ln/>
        </p:spPr>
        <p:txBody>
          <a:bodyPr wrap="square" lIns="0" tIns="0" rIns="0" bIns="0" rtlCol="0" anchor="ctr"/>
          <a:lstStyle/>
          <a:p>
            <a:pPr algn="ctr" indent="0" marL="0">
              <a:buNone/>
            </a:pPr>
            <a:r>
              <a:rPr lang="en-US" sz="4140" b="1" spc="100" kern="0" dirty="0">
                <a:solidFill>
                  <a:srgbClr val="1F2937"/>
                </a:solidFill>
                <a:latin typeface="Cambria" pitchFamily="34" charset="0"/>
                <a:ea typeface="Cambria" pitchFamily="34" charset="-122"/>
                <a:cs typeface="Cambria" pitchFamily="34" charset="-120"/>
              </a:rPr>
              <a:t>RESEARCH AND REFERENCES</a:t>
            </a:r>
            <a:endParaRPr lang="en-US" sz="4140" dirty="0"/>
          </a:p>
        </p:txBody>
      </p:sp>
      <p:sp>
        <p:nvSpPr>
          <p:cNvPr id="5" name="Shape 1"/>
          <p:cNvSpPr/>
          <p:nvPr/>
        </p:nvSpPr>
        <p:spPr>
          <a:xfrm>
            <a:off x="228600" y="1211580"/>
            <a:ext cx="8686800" cy="4023360"/>
          </a:xfrm>
          <a:prstGeom prst="roundRect">
            <a:avLst>
              <a:gd name="adj" fmla="val 2841"/>
            </a:avLst>
          </a:prstGeom>
          <a:solidFill>
            <a:srgbClr val="FFFFFF"/>
          </a:solidFill>
          <a:ln w="23813">
            <a:solidFill>
              <a:srgbClr val="2B2B2B"/>
            </a:solidFill>
            <a:prstDash val="solid"/>
          </a:ln>
        </p:spPr>
      </p:sp>
      <p:sp>
        <p:nvSpPr>
          <p:cNvPr id="6" name="Text 2"/>
          <p:cNvSpPr txBox="1"/>
          <p:nvPr/>
        </p:nvSpPr>
        <p:spPr>
          <a:xfrm>
            <a:off x="411480" y="1280160"/>
            <a:ext cx="8343900" cy="365760"/>
          </a:xfrm>
          <a:prstGeom prst="rect">
            <a:avLst/>
          </a:prstGeom>
          <a:noFill/>
          <a:ln/>
        </p:spPr>
        <p:txBody>
          <a:bodyPr wrap="square" lIns="0" tIns="0" rIns="0" bIns="0" rtlCol="0" anchor="ctr"/>
          <a:lstStyle/>
          <a:p>
            <a:pPr algn="l" indent="0" marL="0">
              <a:buNone/>
            </a:pPr>
            <a:r>
              <a:rPr lang="en-US" sz="1800" b="1" i="1" u="sng" dirty="0">
                <a:solidFill>
                  <a:srgbClr val="1565C0"/>
                </a:solidFill>
                <a:latin typeface="Cambria" pitchFamily="34" charset="0"/>
                <a:ea typeface="Cambria" pitchFamily="34" charset="-122"/>
                <a:cs typeface="Cambria" pitchFamily="34" charset="-120"/>
              </a:rPr>
              <a:t>Field &amp; Applied Research: how we trained and tested the model</a:t>
            </a:r>
            <a:endParaRPr lang="en-US" sz="1800" dirty="0"/>
          </a:p>
        </p:txBody>
      </p:sp>
      <p:pic>
        <p:nvPicPr>
          <p:cNvPr id="7" name="Image 2" descr="/tmp/claude-0/-home-claude/93d9ffac-b36b-5188-b616-7fa3cd4c3901/scratchpad/diag/d3_ml.png">    </p:cNvPr>
          <p:cNvPicPr>
            <a:picLocks noChangeAspect="1"/>
          </p:cNvPicPr>
          <p:nvPr/>
        </p:nvPicPr>
        <p:blipFill>
          <a:blip r:embed="rId3"/>
          <a:stretch>
            <a:fillRect/>
          </a:stretch>
        </p:blipFill>
        <p:spPr>
          <a:xfrm>
            <a:off x="342900" y="1691640"/>
            <a:ext cx="8458200" cy="3149592"/>
          </a:xfrm>
          <a:prstGeom prst="rect">
            <a:avLst/>
          </a:prstGeom>
        </p:spPr>
      </p:pic>
      <p:sp>
        <p:nvSpPr>
          <p:cNvPr id="8" name="Text 3"/>
          <p:cNvSpPr txBox="1"/>
          <p:nvPr/>
        </p:nvSpPr>
        <p:spPr>
          <a:xfrm>
            <a:off x="411480" y="4823460"/>
            <a:ext cx="8343900" cy="342900"/>
          </a:xfrm>
          <a:prstGeom prst="rect">
            <a:avLst/>
          </a:prstGeom>
          <a:noFill/>
          <a:ln/>
        </p:spPr>
        <p:txBody>
          <a:bodyPr wrap="square" lIns="0" tIns="0" rIns="0" bIns="0" rtlCol="0" anchor="ctr"/>
          <a:lstStyle/>
          <a:p>
            <a:pPr algn="l" indent="0" marL="0">
              <a:buNone/>
            </a:pPr>
            <a:r>
              <a:rPr lang="en-US" sz="1310" dirty="0">
                <a:solidFill>
                  <a:srgbClr val="1F2937"/>
                </a:solidFill>
                <a:latin typeface="Calibri" pitchFamily="34" charset="0"/>
                <a:ea typeface="Calibri" pitchFamily="34" charset="-122"/>
                <a:cs typeface="Calibri" pitchFamily="34" charset="-120"/>
              </a:rPr>
              <a:t>Also checked v1 against </a:t>
            </a:r>
            <a:pPr algn="l" indent="0" marL="0">
              <a:buNone/>
            </a:pPr>
            <a:r>
              <a:rPr lang="en-US" sz="1310" b="1" dirty="0">
                <a:solidFill>
                  <a:srgbClr val="1F2937"/>
                </a:solidFill>
                <a:latin typeface="Calibri" pitchFamily="34" charset="0"/>
                <a:ea typeface="Calibri" pitchFamily="34" charset="-122"/>
                <a:cs typeface="Calibri" pitchFamily="34" charset="-120"/>
              </a:rPr>
              <a:t>RFC 7296</a:t>
            </a:r>
            <a:pPr algn="l" indent="0" marL="0">
              <a:buNone/>
            </a:pPr>
            <a:r>
              <a:rPr lang="en-US" sz="1310" dirty="0">
                <a:solidFill>
                  <a:srgbClr val="1F2937"/>
                </a:solidFill>
                <a:latin typeface="Calibri" pitchFamily="34" charset="0"/>
                <a:ea typeface="Calibri" pitchFamily="34" charset="-122"/>
                <a:cs typeface="Calibri" pitchFamily="34" charset="-120"/>
              </a:rPr>
              <a:t> and fixed </a:t>
            </a:r>
            <a:pPr algn="l" indent="0" marL="0">
              <a:buNone/>
            </a:pPr>
            <a:r>
              <a:rPr lang="en-US" sz="1310" b="1" dirty="0">
                <a:solidFill>
                  <a:srgbClr val="1F2937"/>
                </a:solidFill>
                <a:latin typeface="Calibri" pitchFamily="34" charset="0"/>
                <a:ea typeface="Calibri" pitchFamily="34" charset="-122"/>
                <a:cs typeface="Calibri" pitchFamily="34" charset="-120"/>
              </a:rPr>
              <a:t>11 protocol mistakes</a:t>
            </a:r>
            <a:pPr algn="l" indent="0" marL="0">
              <a:buNone/>
            </a:pPr>
            <a:r>
              <a:rPr lang="en-US" sz="1310" dirty="0">
                <a:solidFill>
                  <a:srgbClr val="1F2937"/>
                </a:solidFill>
                <a:latin typeface="Calibri" pitchFamily="34" charset="0"/>
                <a:ea typeface="Calibri" pitchFamily="34" charset="-122"/>
                <a:cs typeface="Calibri" pitchFamily="34" charset="-120"/>
              </a:rPr>
              <a:t>. Next: </a:t>
            </a:r>
            <a:pPr algn="l" indent="0" marL="0">
              <a:buNone/>
            </a:pPr>
            <a:r>
              <a:rPr lang="en-US" sz="1310" b="1" dirty="0">
                <a:solidFill>
                  <a:srgbClr val="1F2937"/>
                </a:solidFill>
                <a:latin typeface="Calibri" pitchFamily="34" charset="0"/>
                <a:ea typeface="Calibri" pitchFamily="34" charset="-122"/>
                <a:cs typeface="Calibri" pitchFamily="34" charset="-120"/>
              </a:rPr>
              <a:t>tune on real strongSwan gateways</a:t>
            </a:r>
            <a:pPr algn="l" indent="0" marL="0">
              <a:buNone/>
            </a:pPr>
            <a:r>
              <a:rPr lang="en-US" sz="1310" dirty="0">
                <a:solidFill>
                  <a:srgbClr val="1F2937"/>
                </a:solidFill>
                <a:latin typeface="Calibri" pitchFamily="34" charset="0"/>
                <a:ea typeface="Calibri" pitchFamily="34" charset="-122"/>
                <a:cs typeface="Calibri" pitchFamily="34" charset="-120"/>
              </a:rPr>
              <a:t>.</a:t>
            </a:r>
            <a:endParaRPr lang="en-US" sz="1310" dirty="0"/>
          </a:p>
        </p:txBody>
      </p:sp>
      <p:sp>
        <p:nvSpPr>
          <p:cNvPr id="9" name="Shape 4"/>
          <p:cNvSpPr/>
          <p:nvPr/>
        </p:nvSpPr>
        <p:spPr>
          <a:xfrm>
            <a:off x="9098280" y="1211580"/>
            <a:ext cx="8961120" cy="4023360"/>
          </a:xfrm>
          <a:prstGeom prst="roundRect">
            <a:avLst>
              <a:gd name="adj" fmla="val 2841"/>
            </a:avLst>
          </a:prstGeom>
          <a:solidFill>
            <a:srgbClr val="FFFFFF"/>
          </a:solidFill>
          <a:ln w="23813">
            <a:solidFill>
              <a:srgbClr val="2B2B2B"/>
            </a:solidFill>
            <a:prstDash val="solid"/>
          </a:ln>
        </p:spPr>
      </p:sp>
      <p:sp>
        <p:nvSpPr>
          <p:cNvPr id="10" name="Text 5"/>
          <p:cNvSpPr txBox="1"/>
          <p:nvPr/>
        </p:nvSpPr>
        <p:spPr>
          <a:xfrm>
            <a:off x="9326880" y="1303020"/>
            <a:ext cx="8458200" cy="411480"/>
          </a:xfrm>
          <a:prstGeom prst="rect">
            <a:avLst/>
          </a:prstGeom>
          <a:noFill/>
          <a:ln/>
        </p:spPr>
        <p:txBody>
          <a:bodyPr wrap="square" lIns="0" tIns="0" rIns="0" bIns="0" rtlCol="0" anchor="ctr"/>
          <a:lstStyle/>
          <a:p>
            <a:pPr algn="l" indent="0" marL="0">
              <a:buNone/>
            </a:pPr>
            <a:r>
              <a:rPr lang="en-US" sz="1890" b="1" dirty="0">
                <a:solidFill>
                  <a:srgbClr val="1B3A6B"/>
                </a:solidFill>
                <a:latin typeface="Cambria" pitchFamily="34" charset="0"/>
                <a:ea typeface="Cambria" pitchFamily="34" charset="-122"/>
                <a:cs typeface="Cambria" pitchFamily="34" charset="-120"/>
              </a:rPr>
              <a:t>Traffic accuracy: normal model vs ours</a:t>
            </a:r>
            <a:endParaRPr lang="en-US" sz="1890" dirty="0"/>
          </a:p>
        </p:txBody>
      </p:sp>
      <p:graphicFrame>
        <p:nvGraphicFramePr>
          <p:cNvPr id="11" name="Chart 0" descr=""/>
          <p:cNvGraphicFramePr/>
          <p:nvPr/>
        </p:nvGraphicFramePr>
        <p:xfrm>
          <a:off x="9258300" y="1783080"/>
          <a:ext cx="8641080" cy="3360420"/>
        </p:xfrm>
        <a:graphic xmlns:a="http://schemas.openxmlformats.org/drawingml/2006/main">
          <a:graphicData uri="http://schemas.openxmlformats.org/drawingml/2006/chart">
            <c:chart xmlns:c="http://schemas.openxmlformats.org/drawingml/2006/chart" r:id="rId4"/>
          </a:graphicData>
        </a:graphic>
      </p:graphicFrame>
      <p:sp>
        <p:nvSpPr>
          <p:cNvPr id="12" name="Text 6"/>
          <p:cNvSpPr txBox="1"/>
          <p:nvPr/>
        </p:nvSpPr>
        <p:spPr>
          <a:xfrm>
            <a:off x="274320" y="5372100"/>
            <a:ext cx="6858000" cy="411480"/>
          </a:xfrm>
          <a:prstGeom prst="rect">
            <a:avLst/>
          </a:prstGeom>
          <a:noFill/>
          <a:ln/>
        </p:spPr>
        <p:txBody>
          <a:bodyPr wrap="square" lIns="0" tIns="0" rIns="0" bIns="0" rtlCol="0" anchor="ctr"/>
          <a:lstStyle/>
          <a:p>
            <a:pPr algn="l" indent="0" marL="0">
              <a:buNone/>
            </a:pPr>
            <a:r>
              <a:rPr lang="en-US" sz="2070" b="1" i="1" u="sng" dirty="0">
                <a:solidFill>
                  <a:srgbClr val="1565C0"/>
                </a:solidFill>
                <a:latin typeface="Cambria" pitchFamily="34" charset="0"/>
                <a:ea typeface="Cambria" pitchFamily="34" charset="-122"/>
                <a:cs typeface="Cambria" pitchFamily="34" charset="-120"/>
              </a:rPr>
              <a:t>Academic &amp; Industry Sources</a:t>
            </a:r>
            <a:endParaRPr lang="en-US" sz="2070" dirty="0"/>
          </a:p>
        </p:txBody>
      </p:sp>
      <p:sp>
        <p:nvSpPr>
          <p:cNvPr id="13" name="Text 7"/>
          <p:cNvSpPr txBox="1"/>
          <p:nvPr/>
        </p:nvSpPr>
        <p:spPr>
          <a:xfrm>
            <a:off x="14813280" y="5440680"/>
            <a:ext cx="3246120" cy="320040"/>
          </a:xfrm>
          <a:prstGeom prst="rect">
            <a:avLst/>
          </a:prstGeom>
          <a:noFill/>
          <a:ln/>
        </p:spPr>
        <p:txBody>
          <a:bodyPr wrap="square" lIns="0" tIns="0" rIns="0" bIns="0" rtlCol="0" anchor="ctr"/>
          <a:lstStyle/>
          <a:p>
            <a:pPr algn="r" indent="0" marL="0">
              <a:buNone/>
            </a:pPr>
            <a:r>
              <a:rPr lang="en-US" sz="1220" i="1" dirty="0">
                <a:solidFill>
                  <a:srgbClr val="4A5568"/>
                </a:solidFill>
                <a:latin typeface="Calibri" pitchFamily="34" charset="0"/>
                <a:ea typeface="Calibri" pitchFamily="34" charset="-122"/>
                <a:cs typeface="Calibri" pitchFamily="34" charset="-120"/>
              </a:rPr>
              <a:t>links are clickable in the slideshow</a:t>
            </a:r>
            <a:endParaRPr lang="en-US" sz="1220" dirty="0"/>
          </a:p>
        </p:txBody>
      </p:sp>
      <p:sp>
        <p:nvSpPr>
          <p:cNvPr id="14" name="Shape 8"/>
          <p:cNvSpPr/>
          <p:nvPr/>
        </p:nvSpPr>
        <p:spPr>
          <a:xfrm>
            <a:off x="228600" y="5897880"/>
            <a:ext cx="4337685" cy="1805940"/>
          </a:xfrm>
          <a:prstGeom prst="roundRect">
            <a:avLst>
              <a:gd name="adj" fmla="val 5063"/>
            </a:avLst>
          </a:prstGeom>
          <a:solidFill>
            <a:srgbClr val="FFFFFF"/>
          </a:solidFill>
          <a:ln w="19050">
            <a:solidFill>
              <a:srgbClr val="CBD5E1"/>
            </a:solidFill>
            <a:prstDash val="solid"/>
          </a:ln>
        </p:spPr>
      </p:sp>
      <p:sp>
        <p:nvSpPr>
          <p:cNvPr id="15" name="Text 9"/>
          <p:cNvSpPr txBox="1"/>
          <p:nvPr/>
        </p:nvSpPr>
        <p:spPr>
          <a:xfrm>
            <a:off x="388620" y="6035040"/>
            <a:ext cx="2286000" cy="228600"/>
          </a:xfrm>
          <a:prstGeom prst="rect">
            <a:avLst/>
          </a:prstGeom>
          <a:noFill/>
          <a:ln/>
        </p:spPr>
        <p:txBody>
          <a:bodyPr wrap="square" lIns="0" tIns="0" rIns="0" bIns="0" rtlCol="0" anchor="ctr"/>
          <a:lstStyle/>
          <a:p>
            <a:pPr algn="l" indent="0" marL="0">
              <a:buNone/>
            </a:pPr>
            <a:r>
              <a:rPr lang="en-US" sz="1080" b="1" spc="100" kern="0" dirty="0">
                <a:solidFill>
                  <a:srgbClr val="1565C0"/>
                </a:solidFill>
                <a:latin typeface="Calibri" pitchFamily="34" charset="0"/>
                <a:ea typeface="Calibri" pitchFamily="34" charset="-122"/>
                <a:cs typeface="Calibri" pitchFamily="34" charset="-120"/>
              </a:rPr>
              <a:t>IETF RFC</a:t>
            </a:r>
            <a:endParaRPr lang="en-US" sz="1080" dirty="0"/>
          </a:p>
        </p:txBody>
      </p:sp>
      <p:sp>
        <p:nvSpPr>
          <p:cNvPr id="16" name="Text 10"/>
          <p:cNvSpPr txBox="1"/>
          <p:nvPr/>
        </p:nvSpPr>
        <p:spPr>
          <a:xfrm>
            <a:off x="3491865" y="60350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2014</a:t>
            </a:r>
            <a:endParaRPr lang="en-US" sz="1220" dirty="0"/>
          </a:p>
        </p:txBody>
      </p:sp>
      <p:sp>
        <p:nvSpPr>
          <p:cNvPr id="17" name="Text 11"/>
          <p:cNvSpPr txBox="1"/>
          <p:nvPr/>
        </p:nvSpPr>
        <p:spPr>
          <a:xfrm>
            <a:off x="388620" y="63322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RFC 7296: Internet Key Exchange v2 (IKEv2)</a:t>
            </a:r>
            <a:endParaRPr lang="en-US" sz="1440" dirty="0"/>
          </a:p>
        </p:txBody>
      </p:sp>
      <p:sp>
        <p:nvSpPr>
          <p:cNvPr id="18" name="Text 12"/>
          <p:cNvSpPr txBox="1"/>
          <p:nvPr/>
        </p:nvSpPr>
        <p:spPr>
          <a:xfrm>
            <a:off x="388620" y="69723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Kaufman, Hoffman, Nir, Eronen, Kivinen</a:t>
            </a:r>
            <a:endParaRPr lang="en-US" sz="1220" dirty="0"/>
          </a:p>
        </p:txBody>
      </p:sp>
      <p:sp>
        <p:nvSpPr>
          <p:cNvPr id="19" name="Text 13"/>
          <p:cNvSpPr txBox="1"/>
          <p:nvPr/>
        </p:nvSpPr>
        <p:spPr>
          <a:xfrm>
            <a:off x="388620" y="72923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5" invalidUrl="" action="" tgtFrame="" tooltip="Open rfc-editor.org/rfc/rfc7296" history="1" highlightClick="0" endSnd="0">
                  <a:extLst>
                    <a:ext uri="{A12FA001-AC4F-418D-AE19-62706E023703}">
                      <ahyp:hlinkClr xmlns:ahyp="http://schemas.microsoft.com/office/drawing/2018/hyperlinkcolor" val="tx"/>
                    </a:ext>
                  </a:extLst>
                </a:hlinkClick>
              </a:rPr>
              <a:t>rfc-editor.org/rfc/rfc7296</a:t>
            </a:r>
            <a:endParaRPr lang="en-US" sz="1170" dirty="0"/>
          </a:p>
        </p:txBody>
      </p:sp>
      <p:sp>
        <p:nvSpPr>
          <p:cNvPr id="20" name="Shape 14"/>
          <p:cNvSpPr/>
          <p:nvPr/>
        </p:nvSpPr>
        <p:spPr>
          <a:xfrm>
            <a:off x="4726305" y="5897880"/>
            <a:ext cx="4337685" cy="1805940"/>
          </a:xfrm>
          <a:prstGeom prst="roundRect">
            <a:avLst>
              <a:gd name="adj" fmla="val 5063"/>
            </a:avLst>
          </a:prstGeom>
          <a:solidFill>
            <a:srgbClr val="FFFFFF"/>
          </a:solidFill>
          <a:ln w="19050">
            <a:solidFill>
              <a:srgbClr val="CBD5E1"/>
            </a:solidFill>
            <a:prstDash val="solid"/>
          </a:ln>
        </p:spPr>
      </p:sp>
      <p:sp>
        <p:nvSpPr>
          <p:cNvPr id="21" name="Text 15"/>
          <p:cNvSpPr txBox="1"/>
          <p:nvPr/>
        </p:nvSpPr>
        <p:spPr>
          <a:xfrm>
            <a:off x="4886325" y="6035040"/>
            <a:ext cx="2286000" cy="228600"/>
          </a:xfrm>
          <a:prstGeom prst="rect">
            <a:avLst/>
          </a:prstGeom>
          <a:noFill/>
          <a:ln/>
        </p:spPr>
        <p:txBody>
          <a:bodyPr wrap="square" lIns="0" tIns="0" rIns="0" bIns="0" rtlCol="0" anchor="ctr"/>
          <a:lstStyle/>
          <a:p>
            <a:pPr algn="l" indent="0" marL="0">
              <a:buNone/>
            </a:pPr>
            <a:r>
              <a:rPr lang="en-US" sz="1080" b="1" spc="100" kern="0" dirty="0">
                <a:solidFill>
                  <a:srgbClr val="1565C0"/>
                </a:solidFill>
                <a:latin typeface="Calibri" pitchFamily="34" charset="0"/>
                <a:ea typeface="Calibri" pitchFamily="34" charset="-122"/>
                <a:cs typeface="Calibri" pitchFamily="34" charset="-120"/>
              </a:rPr>
              <a:t>IETF RFC</a:t>
            </a:r>
            <a:endParaRPr lang="en-US" sz="1080" dirty="0"/>
          </a:p>
        </p:txBody>
      </p:sp>
      <p:sp>
        <p:nvSpPr>
          <p:cNvPr id="22" name="Text 16"/>
          <p:cNvSpPr txBox="1"/>
          <p:nvPr/>
        </p:nvSpPr>
        <p:spPr>
          <a:xfrm>
            <a:off x="7989570" y="60350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2005</a:t>
            </a:r>
            <a:endParaRPr lang="en-US" sz="1220" dirty="0"/>
          </a:p>
        </p:txBody>
      </p:sp>
      <p:sp>
        <p:nvSpPr>
          <p:cNvPr id="23" name="Text 17"/>
          <p:cNvSpPr txBox="1"/>
          <p:nvPr/>
        </p:nvSpPr>
        <p:spPr>
          <a:xfrm>
            <a:off x="4886325" y="63322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RFC 4303: IP Encapsulating Security Payload (ESP)</a:t>
            </a:r>
            <a:endParaRPr lang="en-US" sz="1440" dirty="0"/>
          </a:p>
        </p:txBody>
      </p:sp>
      <p:sp>
        <p:nvSpPr>
          <p:cNvPr id="24" name="Text 18"/>
          <p:cNvSpPr txBox="1"/>
          <p:nvPr/>
        </p:nvSpPr>
        <p:spPr>
          <a:xfrm>
            <a:off x="4886325" y="69723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S. Kent</a:t>
            </a:r>
            <a:endParaRPr lang="en-US" sz="1220" dirty="0"/>
          </a:p>
        </p:txBody>
      </p:sp>
      <p:sp>
        <p:nvSpPr>
          <p:cNvPr id="25" name="Text 19"/>
          <p:cNvSpPr txBox="1"/>
          <p:nvPr/>
        </p:nvSpPr>
        <p:spPr>
          <a:xfrm>
            <a:off x="4886325" y="72923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6" invalidUrl="" action="" tgtFrame="" tooltip="Open rfc-editor.org/rfc/rfc4303" history="1" highlightClick="0" endSnd="0">
                  <a:extLst>
                    <a:ext uri="{A12FA001-AC4F-418D-AE19-62706E023703}">
                      <ahyp:hlinkClr xmlns:ahyp="http://schemas.microsoft.com/office/drawing/2018/hyperlinkcolor" val="tx"/>
                    </a:ext>
                  </a:extLst>
                </a:hlinkClick>
              </a:rPr>
              <a:t>rfc-editor.org/rfc/rfc4303</a:t>
            </a:r>
            <a:endParaRPr lang="en-US" sz="1170" dirty="0"/>
          </a:p>
        </p:txBody>
      </p:sp>
      <p:sp>
        <p:nvSpPr>
          <p:cNvPr id="26" name="Shape 20"/>
          <p:cNvSpPr/>
          <p:nvPr/>
        </p:nvSpPr>
        <p:spPr>
          <a:xfrm>
            <a:off x="9224010" y="5897880"/>
            <a:ext cx="4337685" cy="1805940"/>
          </a:xfrm>
          <a:prstGeom prst="roundRect">
            <a:avLst>
              <a:gd name="adj" fmla="val 5063"/>
            </a:avLst>
          </a:prstGeom>
          <a:solidFill>
            <a:srgbClr val="FFFFFF"/>
          </a:solidFill>
          <a:ln w="19050">
            <a:solidFill>
              <a:srgbClr val="CBD5E1"/>
            </a:solidFill>
            <a:prstDash val="solid"/>
          </a:ln>
        </p:spPr>
      </p:sp>
      <p:sp>
        <p:nvSpPr>
          <p:cNvPr id="27" name="Text 21"/>
          <p:cNvSpPr txBox="1"/>
          <p:nvPr/>
        </p:nvSpPr>
        <p:spPr>
          <a:xfrm>
            <a:off x="9384030" y="6035040"/>
            <a:ext cx="2286000" cy="228600"/>
          </a:xfrm>
          <a:prstGeom prst="rect">
            <a:avLst/>
          </a:prstGeom>
          <a:noFill/>
          <a:ln/>
        </p:spPr>
        <p:txBody>
          <a:bodyPr wrap="square" lIns="0" tIns="0" rIns="0" bIns="0" rtlCol="0" anchor="ctr"/>
          <a:lstStyle/>
          <a:p>
            <a:pPr algn="l" indent="0" marL="0">
              <a:buNone/>
            </a:pPr>
            <a:r>
              <a:rPr lang="en-US" sz="1080" b="1" spc="100" kern="0" dirty="0">
                <a:solidFill>
                  <a:srgbClr val="1565C0"/>
                </a:solidFill>
                <a:latin typeface="Calibri" pitchFamily="34" charset="0"/>
                <a:ea typeface="Calibri" pitchFamily="34" charset="-122"/>
                <a:cs typeface="Calibri" pitchFamily="34" charset="-120"/>
              </a:rPr>
              <a:t>IETF RFC</a:t>
            </a:r>
            <a:endParaRPr lang="en-US" sz="1080" dirty="0"/>
          </a:p>
        </p:txBody>
      </p:sp>
      <p:sp>
        <p:nvSpPr>
          <p:cNvPr id="28" name="Text 22"/>
          <p:cNvSpPr txBox="1"/>
          <p:nvPr/>
        </p:nvSpPr>
        <p:spPr>
          <a:xfrm>
            <a:off x="12487275" y="60350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2017–23</a:t>
            </a:r>
            <a:endParaRPr lang="en-US" sz="1220" dirty="0"/>
          </a:p>
        </p:txBody>
      </p:sp>
      <p:sp>
        <p:nvSpPr>
          <p:cNvPr id="29" name="Text 23"/>
          <p:cNvSpPr txBox="1"/>
          <p:nvPr/>
        </p:nvSpPr>
        <p:spPr>
          <a:xfrm>
            <a:off x="9384030" y="63322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RFC 8221, 8247, 9395: algorithm rules and IKEv1 deprecation</a:t>
            </a:r>
            <a:endParaRPr lang="en-US" sz="1440" dirty="0"/>
          </a:p>
        </p:txBody>
      </p:sp>
      <p:sp>
        <p:nvSpPr>
          <p:cNvPr id="30" name="Text 24"/>
          <p:cNvSpPr txBox="1"/>
          <p:nvPr/>
        </p:nvSpPr>
        <p:spPr>
          <a:xfrm>
            <a:off x="9384030" y="69723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IETF IPsecME working group</a:t>
            </a:r>
            <a:endParaRPr lang="en-US" sz="1220" dirty="0"/>
          </a:p>
        </p:txBody>
      </p:sp>
      <p:sp>
        <p:nvSpPr>
          <p:cNvPr id="31" name="Text 25"/>
          <p:cNvSpPr txBox="1"/>
          <p:nvPr/>
        </p:nvSpPr>
        <p:spPr>
          <a:xfrm>
            <a:off x="9384030" y="72923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7" invalidUrl="" action="" tgtFrame="" tooltip="Open rfc-editor.org/rfc/rfc9395" history="1" highlightClick="0" endSnd="0">
                  <a:extLst>
                    <a:ext uri="{A12FA001-AC4F-418D-AE19-62706E023703}">
                      <ahyp:hlinkClr xmlns:ahyp="http://schemas.microsoft.com/office/drawing/2018/hyperlinkcolor" val="tx"/>
                    </a:ext>
                  </a:extLst>
                </a:hlinkClick>
              </a:rPr>
              <a:t>rfc-editor.org/rfc/rfc9395</a:t>
            </a:r>
            <a:endParaRPr lang="en-US" sz="1170" dirty="0"/>
          </a:p>
        </p:txBody>
      </p:sp>
      <p:sp>
        <p:nvSpPr>
          <p:cNvPr id="32" name="Shape 26"/>
          <p:cNvSpPr/>
          <p:nvPr/>
        </p:nvSpPr>
        <p:spPr>
          <a:xfrm>
            <a:off x="13721715" y="5897880"/>
            <a:ext cx="4337685" cy="1805940"/>
          </a:xfrm>
          <a:prstGeom prst="roundRect">
            <a:avLst>
              <a:gd name="adj" fmla="val 5063"/>
            </a:avLst>
          </a:prstGeom>
          <a:solidFill>
            <a:srgbClr val="FFFFFF"/>
          </a:solidFill>
          <a:ln w="19050">
            <a:solidFill>
              <a:srgbClr val="CBD5E1"/>
            </a:solidFill>
            <a:prstDash val="solid"/>
          </a:ln>
        </p:spPr>
      </p:sp>
      <p:sp>
        <p:nvSpPr>
          <p:cNvPr id="33" name="Text 27"/>
          <p:cNvSpPr txBox="1"/>
          <p:nvPr/>
        </p:nvSpPr>
        <p:spPr>
          <a:xfrm>
            <a:off x="13881735" y="6035040"/>
            <a:ext cx="2286000" cy="228600"/>
          </a:xfrm>
          <a:prstGeom prst="rect">
            <a:avLst/>
          </a:prstGeom>
          <a:noFill/>
          <a:ln/>
        </p:spPr>
        <p:txBody>
          <a:bodyPr wrap="square" lIns="0" tIns="0" rIns="0" bIns="0" rtlCol="0" anchor="ctr"/>
          <a:lstStyle/>
          <a:p>
            <a:pPr algn="l" indent="0" marL="0">
              <a:buNone/>
            </a:pPr>
            <a:r>
              <a:rPr lang="en-US" sz="1080" b="1" spc="100" kern="0" dirty="0">
                <a:solidFill>
                  <a:srgbClr val="2E7D32"/>
                </a:solidFill>
                <a:latin typeface="Calibri" pitchFamily="34" charset="0"/>
                <a:ea typeface="Calibri" pitchFamily="34" charset="-122"/>
                <a:cs typeface="Calibri" pitchFamily="34" charset="-120"/>
              </a:rPr>
              <a:t>NIST GUIDE</a:t>
            </a:r>
            <a:endParaRPr lang="en-US" sz="1080" dirty="0"/>
          </a:p>
        </p:txBody>
      </p:sp>
      <p:sp>
        <p:nvSpPr>
          <p:cNvPr id="34" name="Text 28"/>
          <p:cNvSpPr txBox="1"/>
          <p:nvPr/>
        </p:nvSpPr>
        <p:spPr>
          <a:xfrm>
            <a:off x="16984980" y="60350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2020</a:t>
            </a:r>
            <a:endParaRPr lang="en-US" sz="1220" dirty="0"/>
          </a:p>
        </p:txBody>
      </p:sp>
      <p:sp>
        <p:nvSpPr>
          <p:cNvPr id="35" name="Text 29"/>
          <p:cNvSpPr txBox="1"/>
          <p:nvPr/>
        </p:nvSpPr>
        <p:spPr>
          <a:xfrm>
            <a:off x="13881735" y="63322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SP 800-77 Rev. 1: Guide to IPsec VPNs</a:t>
            </a:r>
            <a:endParaRPr lang="en-US" sz="1440" dirty="0"/>
          </a:p>
        </p:txBody>
      </p:sp>
      <p:sp>
        <p:nvSpPr>
          <p:cNvPr id="36" name="Text 30"/>
          <p:cNvSpPr txBox="1"/>
          <p:nvPr/>
        </p:nvSpPr>
        <p:spPr>
          <a:xfrm>
            <a:off x="13881735" y="69723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NIST Computer Security Resource Center</a:t>
            </a:r>
            <a:endParaRPr lang="en-US" sz="1220" dirty="0"/>
          </a:p>
        </p:txBody>
      </p:sp>
      <p:sp>
        <p:nvSpPr>
          <p:cNvPr id="37" name="Text 31"/>
          <p:cNvSpPr txBox="1"/>
          <p:nvPr/>
        </p:nvSpPr>
        <p:spPr>
          <a:xfrm>
            <a:off x="13881735" y="72923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8" invalidUrl="" action="" tgtFrame="" tooltip="Open csrc.nist.gov/pubs/sp/800/77/r1/final" history="1" highlightClick="0" endSnd="0">
                  <a:extLst>
                    <a:ext uri="{A12FA001-AC4F-418D-AE19-62706E023703}">
                      <ahyp:hlinkClr xmlns:ahyp="http://schemas.microsoft.com/office/drawing/2018/hyperlinkcolor" val="tx"/>
                    </a:ext>
                  </a:extLst>
                </a:hlinkClick>
              </a:rPr>
              <a:t>csrc.nist.gov/pubs/sp/800/77/r1/final</a:t>
            </a:r>
            <a:endParaRPr lang="en-US" sz="1170" dirty="0"/>
          </a:p>
        </p:txBody>
      </p:sp>
      <p:sp>
        <p:nvSpPr>
          <p:cNvPr id="38" name="Shape 32"/>
          <p:cNvSpPr/>
          <p:nvPr/>
        </p:nvSpPr>
        <p:spPr>
          <a:xfrm>
            <a:off x="228600" y="7840980"/>
            <a:ext cx="4337685" cy="1805940"/>
          </a:xfrm>
          <a:prstGeom prst="roundRect">
            <a:avLst>
              <a:gd name="adj" fmla="val 5063"/>
            </a:avLst>
          </a:prstGeom>
          <a:solidFill>
            <a:srgbClr val="FFFFFF"/>
          </a:solidFill>
          <a:ln w="19050">
            <a:solidFill>
              <a:srgbClr val="CBD5E1"/>
            </a:solidFill>
            <a:prstDash val="solid"/>
          </a:ln>
        </p:spPr>
      </p:sp>
      <p:sp>
        <p:nvSpPr>
          <p:cNvPr id="39" name="Text 33"/>
          <p:cNvSpPr txBox="1"/>
          <p:nvPr/>
        </p:nvSpPr>
        <p:spPr>
          <a:xfrm>
            <a:off x="388620" y="7978140"/>
            <a:ext cx="2286000" cy="228600"/>
          </a:xfrm>
          <a:prstGeom prst="rect">
            <a:avLst/>
          </a:prstGeom>
          <a:noFill/>
          <a:ln/>
        </p:spPr>
        <p:txBody>
          <a:bodyPr wrap="square" lIns="0" tIns="0" rIns="0" bIns="0" rtlCol="0" anchor="ctr"/>
          <a:lstStyle/>
          <a:p>
            <a:pPr algn="l" indent="0" marL="0">
              <a:buNone/>
            </a:pPr>
            <a:r>
              <a:rPr lang="en-US" sz="1080" b="1" spc="100" kern="0" dirty="0">
                <a:solidFill>
                  <a:srgbClr val="B4531A"/>
                </a:solidFill>
                <a:latin typeface="Calibri" pitchFamily="34" charset="0"/>
                <a:ea typeface="Calibri" pitchFamily="34" charset="-122"/>
                <a:cs typeface="Calibri" pitchFamily="34" charset="-120"/>
              </a:rPr>
              <a:t>RESEARCH PAPER</a:t>
            </a:r>
            <a:endParaRPr lang="en-US" sz="1080" dirty="0"/>
          </a:p>
        </p:txBody>
      </p:sp>
      <p:sp>
        <p:nvSpPr>
          <p:cNvPr id="40" name="Text 34"/>
          <p:cNvSpPr txBox="1"/>
          <p:nvPr/>
        </p:nvSpPr>
        <p:spPr>
          <a:xfrm>
            <a:off x="3491865" y="79781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2016</a:t>
            </a:r>
            <a:endParaRPr lang="en-US" sz="1220" dirty="0"/>
          </a:p>
        </p:txBody>
      </p:sp>
      <p:sp>
        <p:nvSpPr>
          <p:cNvPr id="41" name="Text 35"/>
          <p:cNvSpPr txBox="1"/>
          <p:nvPr/>
        </p:nvSpPr>
        <p:spPr>
          <a:xfrm>
            <a:off x="388620" y="82753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Characterization of Encrypted and VPN Traffic using Time-related Features</a:t>
            </a:r>
            <a:endParaRPr lang="en-US" sz="1440" dirty="0"/>
          </a:p>
        </p:txBody>
      </p:sp>
      <p:sp>
        <p:nvSpPr>
          <p:cNvPr id="42" name="Text 36"/>
          <p:cNvSpPr txBox="1"/>
          <p:nvPr/>
        </p:nvSpPr>
        <p:spPr>
          <a:xfrm>
            <a:off x="388620" y="89154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Draper-Gil et al., ICISSP (ISCX VPN dataset)</a:t>
            </a:r>
            <a:endParaRPr lang="en-US" sz="1220" dirty="0"/>
          </a:p>
        </p:txBody>
      </p:sp>
      <p:sp>
        <p:nvSpPr>
          <p:cNvPr id="43" name="Text 37"/>
          <p:cNvSpPr txBox="1"/>
          <p:nvPr/>
        </p:nvSpPr>
        <p:spPr>
          <a:xfrm>
            <a:off x="388620" y="92354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9" invalidUrl="" action="" tgtFrame="" tooltip="Open unb.ca/cic/datasets/vpn.html" history="1" highlightClick="0" endSnd="0">
                  <a:extLst>
                    <a:ext uri="{A12FA001-AC4F-418D-AE19-62706E023703}">
                      <ahyp:hlinkClr xmlns:ahyp="http://schemas.microsoft.com/office/drawing/2018/hyperlinkcolor" val="tx"/>
                    </a:ext>
                  </a:extLst>
                </a:hlinkClick>
              </a:rPr>
              <a:t>unb.ca/cic/datasets/vpn.html</a:t>
            </a:r>
            <a:endParaRPr lang="en-US" sz="1170" dirty="0"/>
          </a:p>
        </p:txBody>
      </p:sp>
      <p:sp>
        <p:nvSpPr>
          <p:cNvPr id="44" name="Shape 38"/>
          <p:cNvSpPr/>
          <p:nvPr/>
        </p:nvSpPr>
        <p:spPr>
          <a:xfrm>
            <a:off x="4726305" y="7840980"/>
            <a:ext cx="4337685" cy="1805940"/>
          </a:xfrm>
          <a:prstGeom prst="roundRect">
            <a:avLst>
              <a:gd name="adj" fmla="val 5063"/>
            </a:avLst>
          </a:prstGeom>
          <a:solidFill>
            <a:srgbClr val="FFFFFF"/>
          </a:solidFill>
          <a:ln w="19050">
            <a:solidFill>
              <a:srgbClr val="CBD5E1"/>
            </a:solidFill>
            <a:prstDash val="solid"/>
          </a:ln>
        </p:spPr>
      </p:sp>
      <p:sp>
        <p:nvSpPr>
          <p:cNvPr id="45" name="Text 39"/>
          <p:cNvSpPr txBox="1"/>
          <p:nvPr/>
        </p:nvSpPr>
        <p:spPr>
          <a:xfrm>
            <a:off x="4886325" y="7978140"/>
            <a:ext cx="2286000" cy="228600"/>
          </a:xfrm>
          <a:prstGeom prst="rect">
            <a:avLst/>
          </a:prstGeom>
          <a:noFill/>
          <a:ln/>
        </p:spPr>
        <p:txBody>
          <a:bodyPr wrap="square" lIns="0" tIns="0" rIns="0" bIns="0" rtlCol="0" anchor="ctr"/>
          <a:lstStyle/>
          <a:p>
            <a:pPr algn="l" indent="0" marL="0">
              <a:buNone/>
            </a:pPr>
            <a:r>
              <a:rPr lang="en-US" sz="1080" b="1" spc="100" kern="0" dirty="0">
                <a:solidFill>
                  <a:srgbClr val="B4531A"/>
                </a:solidFill>
                <a:latin typeface="Calibri" pitchFamily="34" charset="0"/>
                <a:ea typeface="Calibri" pitchFamily="34" charset="-122"/>
                <a:cs typeface="Calibri" pitchFamily="34" charset="-120"/>
              </a:rPr>
              <a:t>RESEARCH PAPER</a:t>
            </a:r>
            <a:endParaRPr lang="en-US" sz="1080" dirty="0"/>
          </a:p>
        </p:txBody>
      </p:sp>
      <p:sp>
        <p:nvSpPr>
          <p:cNvPr id="46" name="Text 40"/>
          <p:cNvSpPr txBox="1"/>
          <p:nvPr/>
        </p:nvSpPr>
        <p:spPr>
          <a:xfrm>
            <a:off x="7989570" y="79781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2006</a:t>
            </a:r>
            <a:endParaRPr lang="en-US" sz="1220" dirty="0"/>
          </a:p>
        </p:txBody>
      </p:sp>
      <p:sp>
        <p:nvSpPr>
          <p:cNvPr id="47" name="Text 41"/>
          <p:cNvSpPr txBox="1"/>
          <p:nvPr/>
        </p:nvSpPr>
        <p:spPr>
          <a:xfrm>
            <a:off x="4886325" y="82753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Extremely Randomized Trees</a:t>
            </a:r>
            <a:endParaRPr lang="en-US" sz="1440" dirty="0"/>
          </a:p>
        </p:txBody>
      </p:sp>
      <p:sp>
        <p:nvSpPr>
          <p:cNvPr id="48" name="Text 42"/>
          <p:cNvSpPr txBox="1"/>
          <p:nvPr/>
        </p:nvSpPr>
        <p:spPr>
          <a:xfrm>
            <a:off x="4886325" y="89154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Geurts, Ernst &amp; Wehenkel, Machine Learning 63(1)</a:t>
            </a:r>
            <a:endParaRPr lang="en-US" sz="1220" dirty="0"/>
          </a:p>
        </p:txBody>
      </p:sp>
      <p:sp>
        <p:nvSpPr>
          <p:cNvPr id="49" name="Text 43"/>
          <p:cNvSpPr txBox="1"/>
          <p:nvPr/>
        </p:nvSpPr>
        <p:spPr>
          <a:xfrm>
            <a:off x="4886325" y="92354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10" invalidUrl="" action="" tgtFrame="" tooltip="Open doi.org/10.1007/s10994-006-6226-1" history="1" highlightClick="0" endSnd="0">
                  <a:extLst>
                    <a:ext uri="{A12FA001-AC4F-418D-AE19-62706E023703}">
                      <ahyp:hlinkClr xmlns:ahyp="http://schemas.microsoft.com/office/drawing/2018/hyperlinkcolor" val="tx"/>
                    </a:ext>
                  </a:extLst>
                </a:hlinkClick>
              </a:rPr>
              <a:t>doi.org/10.1007/s10994-006-6226-1</a:t>
            </a:r>
            <a:endParaRPr lang="en-US" sz="1170" dirty="0"/>
          </a:p>
        </p:txBody>
      </p:sp>
      <p:sp>
        <p:nvSpPr>
          <p:cNvPr id="50" name="Shape 44"/>
          <p:cNvSpPr/>
          <p:nvPr/>
        </p:nvSpPr>
        <p:spPr>
          <a:xfrm>
            <a:off x="9224010" y="7840980"/>
            <a:ext cx="4337685" cy="1805940"/>
          </a:xfrm>
          <a:prstGeom prst="roundRect">
            <a:avLst>
              <a:gd name="adj" fmla="val 5063"/>
            </a:avLst>
          </a:prstGeom>
          <a:solidFill>
            <a:srgbClr val="FFFFFF"/>
          </a:solidFill>
          <a:ln w="19050">
            <a:solidFill>
              <a:srgbClr val="CBD5E1"/>
            </a:solidFill>
            <a:prstDash val="solid"/>
          </a:ln>
        </p:spPr>
      </p:sp>
      <p:sp>
        <p:nvSpPr>
          <p:cNvPr id="51" name="Text 45"/>
          <p:cNvSpPr txBox="1"/>
          <p:nvPr/>
        </p:nvSpPr>
        <p:spPr>
          <a:xfrm>
            <a:off x="9384030" y="7978140"/>
            <a:ext cx="2286000" cy="228600"/>
          </a:xfrm>
          <a:prstGeom prst="rect">
            <a:avLst/>
          </a:prstGeom>
          <a:noFill/>
          <a:ln/>
        </p:spPr>
        <p:txBody>
          <a:bodyPr wrap="square" lIns="0" tIns="0" rIns="0" bIns="0" rtlCol="0" anchor="ctr"/>
          <a:lstStyle/>
          <a:p>
            <a:pPr algn="l" indent="0" marL="0">
              <a:buNone/>
            </a:pPr>
            <a:r>
              <a:rPr lang="en-US" sz="1080" b="1" spc="100" kern="0" dirty="0">
                <a:solidFill>
                  <a:srgbClr val="B4531A"/>
                </a:solidFill>
                <a:latin typeface="Calibri" pitchFamily="34" charset="0"/>
                <a:ea typeface="Calibri" pitchFamily="34" charset="-122"/>
                <a:cs typeface="Calibri" pitchFamily="34" charset="-120"/>
              </a:rPr>
              <a:t>RESEARCH PAPER</a:t>
            </a:r>
            <a:endParaRPr lang="en-US" sz="1080" dirty="0"/>
          </a:p>
        </p:txBody>
      </p:sp>
      <p:sp>
        <p:nvSpPr>
          <p:cNvPr id="52" name="Text 46"/>
          <p:cNvSpPr txBox="1"/>
          <p:nvPr/>
        </p:nvSpPr>
        <p:spPr>
          <a:xfrm>
            <a:off x="12487275" y="79781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2017</a:t>
            </a:r>
            <a:endParaRPr lang="en-US" sz="1220" dirty="0"/>
          </a:p>
        </p:txBody>
      </p:sp>
      <p:sp>
        <p:nvSpPr>
          <p:cNvPr id="53" name="Text 47"/>
          <p:cNvSpPr txBox="1"/>
          <p:nvPr/>
        </p:nvSpPr>
        <p:spPr>
          <a:xfrm>
            <a:off x="9384030" y="82753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On Calibration of Modern Neural Networks</a:t>
            </a:r>
            <a:endParaRPr lang="en-US" sz="1440" dirty="0"/>
          </a:p>
        </p:txBody>
      </p:sp>
      <p:sp>
        <p:nvSpPr>
          <p:cNvPr id="54" name="Text 48"/>
          <p:cNvSpPr txBox="1"/>
          <p:nvPr/>
        </p:nvSpPr>
        <p:spPr>
          <a:xfrm>
            <a:off x="9384030" y="89154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Guo, Pleiss, Sun &amp; Weinberger, ICML</a:t>
            </a:r>
            <a:endParaRPr lang="en-US" sz="1220" dirty="0"/>
          </a:p>
        </p:txBody>
      </p:sp>
      <p:sp>
        <p:nvSpPr>
          <p:cNvPr id="55" name="Text 49"/>
          <p:cNvSpPr txBox="1"/>
          <p:nvPr/>
        </p:nvSpPr>
        <p:spPr>
          <a:xfrm>
            <a:off x="9384030" y="92354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11" invalidUrl="" action="" tgtFrame="" tooltip="Open arxiv.org/abs/1706.04599" history="1" highlightClick="0" endSnd="0">
                  <a:extLst>
                    <a:ext uri="{A12FA001-AC4F-418D-AE19-62706E023703}">
                      <ahyp:hlinkClr xmlns:ahyp="http://schemas.microsoft.com/office/drawing/2018/hyperlinkcolor" val="tx"/>
                    </a:ext>
                  </a:extLst>
                </a:hlinkClick>
              </a:rPr>
              <a:t>arxiv.org/abs/1706.04599</a:t>
            </a:r>
            <a:endParaRPr lang="en-US" sz="1170" dirty="0"/>
          </a:p>
        </p:txBody>
      </p:sp>
      <p:sp>
        <p:nvSpPr>
          <p:cNvPr id="56" name="Shape 50"/>
          <p:cNvSpPr/>
          <p:nvPr/>
        </p:nvSpPr>
        <p:spPr>
          <a:xfrm>
            <a:off x="13721715" y="7840980"/>
            <a:ext cx="4337685" cy="1805940"/>
          </a:xfrm>
          <a:prstGeom prst="roundRect">
            <a:avLst>
              <a:gd name="adj" fmla="val 5063"/>
            </a:avLst>
          </a:prstGeom>
          <a:solidFill>
            <a:srgbClr val="FFFFFF"/>
          </a:solidFill>
          <a:ln w="19050">
            <a:solidFill>
              <a:srgbClr val="CBD5E1"/>
            </a:solidFill>
            <a:prstDash val="solid"/>
          </a:ln>
        </p:spPr>
      </p:sp>
      <p:sp>
        <p:nvSpPr>
          <p:cNvPr id="57" name="Text 51"/>
          <p:cNvSpPr txBox="1"/>
          <p:nvPr/>
        </p:nvSpPr>
        <p:spPr>
          <a:xfrm>
            <a:off x="13881735" y="7978140"/>
            <a:ext cx="2286000" cy="228600"/>
          </a:xfrm>
          <a:prstGeom prst="rect">
            <a:avLst/>
          </a:prstGeom>
          <a:noFill/>
          <a:ln/>
        </p:spPr>
        <p:txBody>
          <a:bodyPr wrap="square" lIns="0" tIns="0" rIns="0" bIns="0" rtlCol="0" anchor="ctr"/>
          <a:lstStyle/>
          <a:p>
            <a:pPr algn="l" indent="0" marL="0">
              <a:buNone/>
            </a:pPr>
            <a:r>
              <a:rPr lang="en-US" sz="1080" b="1" spc="100" kern="0" dirty="0">
                <a:solidFill>
                  <a:srgbClr val="5B6B82"/>
                </a:solidFill>
                <a:latin typeface="Calibri" pitchFamily="34" charset="0"/>
                <a:ea typeface="Calibri" pitchFamily="34" charset="-122"/>
                <a:cs typeface="Calibri" pitchFamily="34" charset="-120"/>
              </a:rPr>
              <a:t>TOOLS</a:t>
            </a:r>
            <a:endParaRPr lang="en-US" sz="1080" dirty="0"/>
          </a:p>
        </p:txBody>
      </p:sp>
      <p:sp>
        <p:nvSpPr>
          <p:cNvPr id="58" name="Text 52"/>
          <p:cNvSpPr txBox="1"/>
          <p:nvPr/>
        </p:nvSpPr>
        <p:spPr>
          <a:xfrm>
            <a:off x="16984980" y="79781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online</a:t>
            </a:r>
            <a:endParaRPr lang="en-US" sz="1220" dirty="0"/>
          </a:p>
        </p:txBody>
      </p:sp>
      <p:sp>
        <p:nvSpPr>
          <p:cNvPr id="59" name="Text 53"/>
          <p:cNvSpPr txBox="1"/>
          <p:nvPr/>
        </p:nvSpPr>
        <p:spPr>
          <a:xfrm>
            <a:off x="13881735" y="82753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MITRE ATT&amp;CK, strongSwan + tools we compared</a:t>
            </a:r>
            <a:endParaRPr lang="en-US" sz="1440" dirty="0"/>
          </a:p>
        </p:txBody>
      </p:sp>
      <p:sp>
        <p:nvSpPr>
          <p:cNvPr id="60" name="Text 54"/>
          <p:cNvSpPr txBox="1"/>
          <p:nvPr/>
        </p:nvSpPr>
        <p:spPr>
          <a:xfrm>
            <a:off x="13881735" y="89154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compared: </a:t>
            </a:r>
            <a:pPr algn="l" indent="0" marL="0">
              <a:buNone/>
            </a:pPr>
            <a:r>
              <a:rPr lang="en-US" sz="1220" u="sng" dirty="0">
                <a:solidFill>
                  <a:srgbClr val="1557B0"/>
                </a:solidFill>
                <a:latin typeface="Calibri" pitchFamily="34" charset="0"/>
                <a:ea typeface="Calibri" pitchFamily="34" charset="-122"/>
                <a:cs typeface="Calibri" pitchFamily="34" charset="-120"/>
                <a:hlinkClick r:id="rId12" invalidUrl="" action="" tgtFrame="" tooltip="Open Wireshark" history="1" highlightClick="0" endSnd="0">
                  <a:extLst>
                    <a:ext uri="{A12FA001-AC4F-418D-AE19-62706E023703}">
                      <ahyp:hlinkClr xmlns:ahyp="http://schemas.microsoft.com/office/drawing/2018/hyperlinkcolor" val="tx"/>
                    </a:ext>
                  </a:extLst>
                </a:hlinkClick>
              </a:rPr>
              <a:t>Wireshark</a:t>
            </a:r>
            <a:pPr algn="l" indent="0" marL="0">
              <a:buNone/>
            </a:pPr>
            <a:r>
              <a:rPr lang="en-US" sz="1220" dirty="0">
                <a:solidFill>
                  <a:srgbClr val="4A5568"/>
                </a:solidFill>
                <a:latin typeface="Calibri" pitchFamily="34" charset="0"/>
                <a:ea typeface="Calibri" pitchFamily="34" charset="-122"/>
                <a:cs typeface="Calibri" pitchFamily="34" charset="-120"/>
              </a:rPr>
              <a:t>  ·  </a:t>
            </a:r>
            <a:pPr algn="l" indent="0" marL="0">
              <a:buNone/>
            </a:pPr>
            <a:r>
              <a:rPr lang="en-US" sz="1220" u="sng" dirty="0">
                <a:solidFill>
                  <a:srgbClr val="1557B0"/>
                </a:solidFill>
                <a:latin typeface="Calibri" pitchFamily="34" charset="0"/>
                <a:ea typeface="Calibri" pitchFamily="34" charset="-122"/>
                <a:cs typeface="Calibri" pitchFamily="34" charset="-120"/>
                <a:hlinkClick r:id="rId13" invalidUrl="" action="" tgtFrame="" tooltip="Open ike-scan" history="1" highlightClick="0" endSnd="0">
                  <a:extLst>
                    <a:ext uri="{A12FA001-AC4F-418D-AE19-62706E023703}">
                      <ahyp:hlinkClr xmlns:ahyp="http://schemas.microsoft.com/office/drawing/2018/hyperlinkcolor" val="tx"/>
                    </a:ext>
                  </a:extLst>
                </a:hlinkClick>
              </a:rPr>
              <a:t>ike-scan</a:t>
            </a:r>
            <a:pPr algn="l" indent="0" marL="0">
              <a:buNone/>
            </a:pPr>
            <a:r>
              <a:rPr lang="en-US" sz="1220" dirty="0">
                <a:solidFill>
                  <a:srgbClr val="4A5568"/>
                </a:solidFill>
                <a:latin typeface="Calibri" pitchFamily="34" charset="0"/>
                <a:ea typeface="Calibri" pitchFamily="34" charset="-122"/>
                <a:cs typeface="Calibri" pitchFamily="34" charset="-120"/>
              </a:rPr>
              <a:t>  ·  </a:t>
            </a:r>
            <a:pPr algn="l" indent="0" marL="0">
              <a:buNone/>
            </a:pPr>
            <a:r>
              <a:rPr lang="en-US" sz="1220" u="sng" dirty="0">
                <a:solidFill>
                  <a:srgbClr val="1557B0"/>
                </a:solidFill>
                <a:latin typeface="Calibri" pitchFamily="34" charset="0"/>
                <a:ea typeface="Calibri" pitchFamily="34" charset="-122"/>
                <a:cs typeface="Calibri" pitchFamily="34" charset="-120"/>
                <a:hlinkClick r:id="rId14" invalidUrl="" action="" tgtFrame="" tooltip="Open nDPI" history="1" highlightClick="0" endSnd="0">
                  <a:extLst>
                    <a:ext uri="{A12FA001-AC4F-418D-AE19-62706E023703}">
                      <ahyp:hlinkClr xmlns:ahyp="http://schemas.microsoft.com/office/drawing/2018/hyperlinkcolor" val="tx"/>
                    </a:ext>
                  </a:extLst>
                </a:hlinkClick>
              </a:rPr>
              <a:t>nDPI</a:t>
            </a:r>
            <a:endParaRPr lang="en-US" sz="1220" dirty="0"/>
          </a:p>
        </p:txBody>
      </p:sp>
      <p:sp>
        <p:nvSpPr>
          <p:cNvPr id="61" name="Text 55"/>
          <p:cNvSpPr txBox="1"/>
          <p:nvPr/>
        </p:nvSpPr>
        <p:spPr>
          <a:xfrm>
            <a:off x="13881735" y="92354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15" invalidUrl="" action="" tgtFrame="" tooltip="Open attack.mitre.org" history="1" highlightClick="0" endSnd="0">
                  <a:extLst>
                    <a:ext uri="{A12FA001-AC4F-418D-AE19-62706E023703}">
                      <ahyp:hlinkClr xmlns:ahyp="http://schemas.microsoft.com/office/drawing/2018/hyperlinkcolor" val="tx"/>
                    </a:ext>
                  </a:extLst>
                </a:hlinkClick>
              </a:rPr>
              <a:t>attack.mitre.org</a:t>
            </a:r>
            <a:pPr algn="l" indent="0" marL="0">
              <a:buNone/>
            </a:pPr>
            <a:r>
              <a:rPr lang="en-US" sz="1170" dirty="0">
                <a:solidFill>
                  <a:srgbClr val="4A5568"/>
                </a:solidFill>
                <a:latin typeface="Calibri" pitchFamily="34" charset="0"/>
                <a:ea typeface="Calibri" pitchFamily="34" charset="-122"/>
                <a:cs typeface="Calibri" pitchFamily="34" charset="-120"/>
              </a:rPr>
              <a:t>  ·  </a:t>
            </a:r>
            <a:pPr algn="l" indent="0" marL="0">
              <a:buNone/>
            </a:pPr>
            <a:r>
              <a:rPr lang="en-US" sz="1170" u="sng" dirty="0">
                <a:solidFill>
                  <a:srgbClr val="1557B0"/>
                </a:solidFill>
                <a:latin typeface="Calibri" pitchFamily="34" charset="0"/>
                <a:ea typeface="Calibri" pitchFamily="34" charset="-122"/>
                <a:cs typeface="Calibri" pitchFamily="34" charset="-120"/>
                <a:hlinkClick r:id="rId16" invalidUrl="" action="" tgtFrame="" tooltip="Open strongswan.org" history="1" highlightClick="0" endSnd="0">
                  <a:extLst>
                    <a:ext uri="{A12FA001-AC4F-418D-AE19-62706E023703}">
                      <ahyp:hlinkClr xmlns:ahyp="http://schemas.microsoft.com/office/drawing/2018/hyperlinkcolor" val="tx"/>
                    </a:ext>
                  </a:extLst>
                </a:hlinkClick>
              </a:rPr>
              <a:t>strongswan.org</a:t>
            </a:r>
            <a:endParaRPr lang="en-US" sz="1170" dirty="0"/>
          </a:p>
        </p:txBody>
      </p:sp>
      <p:sp>
        <p:nvSpPr>
          <p:cNvPr id="62" name="Shape 56"/>
          <p:cNvSpPr/>
          <p:nvPr/>
        </p:nvSpPr>
        <p:spPr>
          <a:xfrm>
            <a:off x="0" y="9852660"/>
            <a:ext cx="18288000" cy="434340"/>
          </a:xfrm>
          <a:prstGeom prst="rect">
            <a:avLst/>
          </a:prstGeom>
          <a:solidFill>
            <a:srgbClr val="1565C0"/>
          </a:solidFill>
          <a:ln/>
        </p:spPr>
      </p:sp>
      <p:sp>
        <p:nvSpPr>
          <p:cNvPr id="63" name="Text 57"/>
          <p:cNvSpPr txBox="1"/>
          <p:nvPr/>
        </p:nvSpPr>
        <p:spPr>
          <a:xfrm>
            <a:off x="4572000" y="9852660"/>
            <a:ext cx="9144000" cy="434340"/>
          </a:xfrm>
          <a:prstGeom prst="rect">
            <a:avLst/>
          </a:prstGeom>
          <a:noFill/>
          <a:ln/>
        </p:spPr>
        <p:txBody>
          <a:bodyPr wrap="square" lIns="0" tIns="0" rIns="0" bIns="0" rtlCol="0" anchor="ctr"/>
          <a:lstStyle/>
          <a:p>
            <a:pPr algn="ctr" indent="0" marL="0">
              <a:buNone/>
            </a:pPr>
            <a:r>
              <a:rPr lang="en-US" sz="1440" b="1" spc="100" kern="0" dirty="0">
                <a:solidFill>
                  <a:srgbClr val="FFFFFF"/>
                </a:solidFill>
                <a:latin typeface="Cambria" pitchFamily="34" charset="0"/>
                <a:ea typeface="Cambria" pitchFamily="34" charset="-122"/>
                <a:cs typeface="Cambria" pitchFamily="34" charset="-120"/>
              </a:rPr>
              <a:t>SMART INDIA HACKATHON 2026</a:t>
            </a:r>
            <a:endParaRPr lang="en-US" sz="1440" dirty="0"/>
          </a:p>
        </p:txBody>
      </p:sp>
      <p:sp>
        <p:nvSpPr>
          <p:cNvPr id="64" name="Text 58"/>
          <p:cNvSpPr txBox="1"/>
          <p:nvPr/>
        </p:nvSpPr>
        <p:spPr>
          <a:xfrm>
            <a:off x="17145000" y="9852660"/>
            <a:ext cx="685800" cy="434340"/>
          </a:xfrm>
          <a:prstGeom prst="rect">
            <a:avLst/>
          </a:prstGeom>
          <a:noFill/>
          <a:ln/>
        </p:spPr>
        <p:txBody>
          <a:bodyPr wrap="square" lIns="0" tIns="0" rIns="0" bIns="0" rtlCol="0" anchor="ctr"/>
          <a:lstStyle/>
          <a:p>
            <a:pPr algn="r" indent="0" marL="0">
              <a:buNone/>
            </a:pPr>
            <a:r>
              <a:rPr lang="en-US" sz="1440" b="1" dirty="0">
                <a:solidFill>
                  <a:srgbClr val="FFFFFF"/>
                </a:solidFill>
                <a:latin typeface="Cambria" pitchFamily="34" charset="0"/>
                <a:ea typeface="Cambria" pitchFamily="34" charset="-122"/>
                <a:cs typeface="Cambria" pitchFamily="34" charset="-120"/>
              </a:rPr>
              <a:t>6</a:t>
            </a:r>
            <a:endParaRPr lang="en-US" sz="14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SecurIQ – SIH 2026 Idea Submission</dc:title>
  <dc:subject>PptxGenJS Presentation</dc:subject>
  <dc:creator>Team Cache me if u can</dc:creator>
  <cp:lastModifiedBy>Team Cache me if u can</cp:lastModifiedBy>
  <cp:revision>1</cp:revision>
  <dcterms:created xsi:type="dcterms:W3CDTF">2026-09-27T05:05:49Z</dcterms:created>
  <dcterms:modified xsi:type="dcterms:W3CDTF">2026-09-27T05:05:49Z</dcterms:modified>
</cp:coreProperties>
</file>